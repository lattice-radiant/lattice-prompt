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The one sentence to leave with: a design starts from what the team already knows and leaves behind what the next design needs. This deck is for engineers who will run the flow and contribute entries. Every claim is backed by something that exists in the repositories today, so any slide can be shown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situation most teams are in. Right: what changes with the flow. The point is not that engineers lack knowledge; it is that the knowledge is not in a place a tool, or a new colleague, can read. The agent in particular answers from its training memory unless it is given evidence, and memory is where wrong register offsets and stale IP parameters come from.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chevrons left to right. Phases A and B are the design-from-intent flow in arch2code: intake, knowledge search, decomposition, YAML, model simulation. Phase C realises the design: the SoC branch through Propel, RTL, constraints. Phase D builds the bitstream, the firmware and brings the board up. Phase E hands off and captures. The three gates are the only places the engineer must approve: the intent, the decomposition, and the implementation review before the Radiant build. After Gate 2 the agent records assumptions instead of asking.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lanes. The engineer's time is spent where judgement matters: the intake answers, the three gates, the governance answers at capture, and the hardware. The agent's time is spent searching, proposing, generating, simulating, building and writing the records. The rule after Gate 2 keeps the engineer out of the loop for routine decisions, every one of which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files live under design/ in the project and are deliverables, not notes. They are written as the flow runs, never reconstructed from memory afterwards. The hand-off record is what the implement-from-handoff skill starts from, in the same session or a later one, on the same machine or another. The gap log is where every fact the knowledge base could not supply is recorded, which is how the knowledge base learns what it is missing.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in Claude Code talks to four MCP servers registered side by side. Three come out of the lattice-prompt bundle and are registered by its installer: arch2code owns generation and simulation of the project; cortex-kb owns evidence, what exists, what was verified, where a value comes from; lattice-cortex owns the Propel SoC session, the IP facts and the firmware, and since release 0.2.0 the replay of an arch2code SoC manifest. The Radiant server ships with its own installer and owns the build, timing closure, programming and Reveal debug. When two servers know the same fact, the precedence rule in the project's AGENTS.md says which one wins and the disagreement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knowledge base is a Git repository of entries plus a session database built from it. Designs are the heavyweight entries; modules and patterns are what gets reused most; IP catalog records are synced from the IP server; boards and device notes hold the facts that are usually in someone's notebook; skills are recorded procedures. A design is linked to its upstream repository, vendored when there is no repository, or knowledge-only when the sources must not enter the knowledge base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entry. The numbers on the right are what the knowledge base returns today for the GSRD: 190 registers from the IP-XACT memory maps of its peripherals, each with file and line; sixteen IP cores with versions; a thirteen-group asynchronous clock plan; the Radiant 2025.1 resource usage as the baseline for any variant. Everything around the centre is a tool call away, and the spokes are where the next design's evidence pointers go.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of every entry. The left half is produced by scanners and refreshed on every rescan; it is never typed by hand and its input hashes make a stale file a validation error. The right half is written by an engineer, through the authoring tools in a session or by hand: it is the part that carries judgement. The split is what lets derived updates merge on their own while authored content goes through review.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worked example of the authoring path that runs entirely inside a Claude Code session. The engineer has a Radiant project for a MIPI camera bridge, cam_bridge, in the team's repository. Six prompts take it from a folder on disk to a pull request. Each prompt maps to one or two authoring tools of the knowledge-base server, and the right column says what each prompt leaves behind. Nothing touches the repository until the export in prompt six; everything before that is staged in the local authoring workspace and can be discarded.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example seen from the repository side after the export. The folder tree on the left is what the pull request adds; the colour says which prompt produced each file. Scanners produced the whole knowledge folder from prompt two alone, and will refresh it on every rescan; the engineer's own words from prompts three to five are the metadata intent fields, the README sections and the skill. The right side shows two concrete fragments so the audience sees that what the engineer said is what the base stores, with evidence pointers rather than paraphrase.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prompt decides how much of the design the base keeps. Three wordings of the same request give three source modes: a linked entry points at the team's repository and a subpath, a vendored entry copies the sources into the base with the files of unwanted licenses left out, and a knowledge-only entry keeps the derived facts and the engineer's words but no sources at all. The same session can go further: a recurring idiom becomes a pattern proposal, an engineer who cannot push packages the entry for a maintainer, and an entry that should not go in is discarded without a trace. Two things no prompt can store: secrets or personal data, which validation refuses, and files of an excluded license, which the audit lists instead.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governance values on every entry, with policy defaults. Three protections run on every validation. And the merge rule: a corpus pull request that changes only derived files of existing entries merges itself once CI passes; a new entry, a metadata or README change, a skill, or any governance value waits for an engineer. Confidential entries never leave the internal repository: the distributed bundle is built through a filter that drops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stage 3 the agent looks for the highest rung first. A verified design that fits becomes the donor; a reusable module is instantiated with attribution; a pattern shapes new logic; an IP core from the catalog is generated with the parameters the knowledge base recorded as known-good; a new block is written only when nothing above applies. Every step down is a rejection with a reason in decisions.md, and every value taken from an entry carries an evidence pointer.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stage 3 record of the pilot design (a custom timer block in the GSRD's custom window), taken from design/decisions.md. In eight calls the agent had the donor's hierarchy, clocks, resource baseline and all 190 registers, and had chosen the catalog gpio and timer records as the register-layout reference. Equally important are the three gaps it found and logged: the clock periods, the timing baseline, and the board's JTAG facts. Those gaps are the knowledge base's to-do list.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design skill is a procedure for changing a captured design: add a peripheral, retarget a board, swap a memory controller. An engineer writes it once, in the session, as a SKILL.md with its steps and the evidence it relies on; after review it is installed into Claude Code by the bundle installer or on request. The next engineer asking the same question gets the procedure, not a fresh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arch2code is the single source of truth of a project. The YAML declares blocks, instances, connections, interfaces, registers and memories; the generator writes the RTL skeletons and packages, the register decode, the SystemC models and stubs, UVM skeletons, firmware headers and documentation, and rewrites only its own regions on every run, so hand-written code inside the files survives. A change to the specification propagates to every view at once.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proves the intent at model level before any RTL exists: IP cores and the SoC subsystem are generated stubs whose header lists what they do not reproduce, so the first simulation runs within hours of the decomposition. Hand-written RTL is then co-simulated against the model, and tandem verification compares both. The register-access test is new: a generated bus-master thread reads every declared register after reset, writes and reads back the writable ones, and reports per register. The example in the repository runs nine words with zero mismatches, and the register declared unverified is reported, not failed.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intent needs a soft core, the Propel-generated SoC becomes an arch2code wrapper block: hasRtl, hasMdl and hasStub. arch2code scaffolds its RTL file and generates its ports; inside, outside the generated regions, the Propel top is instantiated. The stub is the bus-master transactor that drives the custom logic through the window before any RTL exists. The window is one pair of constants declared once in the YAML and once as the single Propel address segment. Since phase P5 the SoC itself is described in the same YAML (socProjects, socInstances, socNets, socAddresses and the other soc sections): make soc-manifest writes a manifest from it, lattice-cortex replays the manifest into a Propel session with propel_replay_manifest, as a plan or for real, and propel_compare_sbx_manifest reports where an existing SoC file deviates from it. The agent no longer builds the SoC by hand; it checks a replay.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gains, each tied to a measure the evaluation harness scores: pass rate with and without the knowledge base, correction iterations before success, context tokens per task, and workflow adherence. The harness runs every task in kb and no_kb modes, three repetitions, two models. The numbers are filled in after the first scored runs; the pilot task is defined and the rubric is in place. Until then the claim is the mechanism, not a figure.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is not a separate project. Capture is stage 13 of every design, run through the authoring tools in your own session, which the bundle installer now enables by default. The tools write only to your checkout until the pull request. The governance questions are asked once, in plain language, at export. After that, the derived half of the entry refreshes itself from the repository, and the authored half is yours to improve whenever a design touches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the bundle: one archive, no administrator rights, the installer registers arch2code, the knowledge base and lattice-cortex with Claude Code and Claude Desktop, authoring tools on; the reviewed skills are served by the knowledge-base server and deployed per project by make agents-setup. The Radiant server comes from its own installer. Open a project folder, or an existing arch2code, Propel or captured design, and tell Claude what you want to build; the design-from-intent skill asks the intake questions. Contacts and documents are on the slide; the bundle ships a project template (bin/new-project) with the record layout.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the engineers who want to see the tool names. The read-only knowledge-base tools, the authoring tools of a personal session, the arch2code server tools with the P5 manifest generator, and the lattice-cortex tools that the flow uses most, among them the two manifest tools of release 0.2.0.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programme stands today. P0 to P5 are implemented on the toolchain side and shipped in lattice-prompt 0.2.0: the manifest generator is merged in cortex-a2c, the replay and comparison tools are on the cortex-mcp flow_integration branch, which the bundle pins until the branch merges. The pilot design is drafted to Gate 1 and waits for the review; a live replay against Propel runs after Gate 2. P6 generalises to a design without a SoC on a second family.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3F"/>
        </a:solidFill>
        <a:effectLst/>
      </p:bgPr>
    </p:bg>
    <p:spTree>
      <p:nvGrpSpPr>
        <p:cNvPr id="1" name=""/>
        <p:cNvGrpSpPr/>
        <p:nvPr/>
      </p:nvGrpSpPr>
      <p:grpSpPr/>
      <p:sp>
        <p:nvSpPr>
          <p:cNvPr id="2" name="TextBox 1"/>
          <p:cNvSpPr txBox="1"/>
          <p:nvPr/>
        </p:nvSpPr>
        <p:spPr>
          <a:xfrm>
            <a:off x="640080" y="2011680"/>
            <a:ext cx="10881360" cy="1280160"/>
          </a:xfrm>
          <a:prstGeom prst="rect">
            <a:avLst/>
          </a:prstGeom>
          <a:noFill/>
        </p:spPr>
        <p:txBody>
          <a:bodyPr wrap="square" lIns="0" rIns="0" tIns="0" bIns="0" anchor="ctr">
            <a:spAutoFit/>
          </a:bodyPr>
          <a:lstStyle/>
          <a:p>
            <a:pPr algn="l"/>
            <a:r>
              <a:rPr sz="4000" b="1" i="0">
                <a:solidFill>
                  <a:srgbClr val="FFFFFF"/>
                </a:solidFill>
                <a:latin typeface="Cambria"/>
              </a:rPr>
              <a:t>Design with the knowledge base and arch2code</a:t>
            </a:r>
          </a:p>
        </p:txBody>
      </p:sp>
      <p:sp>
        <p:nvSpPr>
          <p:cNvPr id="3" name="TextBox 2"/>
          <p:cNvSpPr txBox="1"/>
          <p:nvPr/>
        </p:nvSpPr>
        <p:spPr>
          <a:xfrm>
            <a:off x="640080" y="3383280"/>
            <a:ext cx="10058400" cy="1463040"/>
          </a:xfrm>
          <a:prstGeom prst="rect">
            <a:avLst/>
          </a:prstGeom>
          <a:noFill/>
        </p:spPr>
        <p:txBody>
          <a:bodyPr wrap="square" lIns="0" rIns="0" tIns="0" bIns="0" anchor="t">
            <a:spAutoFit/>
          </a:bodyPr>
          <a:lstStyle/>
          <a:p>
            <a:pPr algn="l"/>
            <a:r>
              <a:rPr sz="2000" b="0" i="0">
                <a:solidFill>
                  <a:srgbClr val="9BD3C4"/>
                </a:solidFill>
                <a:latin typeface="Calibri"/>
              </a:rPr>
              <a:t>The integrated flow for Lattice FPGA system design: start from what the team knows, leave behind what the next design needs</a:t>
            </a:r>
          </a:p>
        </p:txBody>
      </p:sp>
      <p:sp>
        <p:nvSpPr>
          <p:cNvPr id="4" name="icon"/>
          <p:cNvSpPr/>
          <p:nvPr/>
        </p:nvSpPr>
        <p:spPr>
          <a:xfrm>
            <a:off x="640080" y="822960"/>
            <a:ext cx="822960" cy="8229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400" b="1" i="0">
                <a:solidFill>
                  <a:srgbClr val="FFFFFF"/>
                </a:solidFill>
                <a:latin typeface="Cambria"/>
              </a:rPr>
              <a:t>flow</a:t>
            </a:r>
          </a:p>
        </p:txBody>
      </p:sp>
      <p:sp>
        <p:nvSpPr>
          <p:cNvPr id="5" name="TextBox 4"/>
          <p:cNvSpPr txBox="1"/>
          <p:nvPr/>
        </p:nvSpPr>
        <p:spPr>
          <a:xfrm>
            <a:off x="640080" y="5120640"/>
            <a:ext cx="10058400" cy="365760"/>
          </a:xfrm>
          <a:prstGeom prst="rect">
            <a:avLst/>
          </a:prstGeom>
          <a:noFill/>
        </p:spPr>
        <p:txBody>
          <a:bodyPr wrap="square" lIns="0" rIns="0" tIns="0" bIns="0" anchor="t">
            <a:spAutoFit/>
          </a:bodyPr>
          <a:lstStyle/>
          <a:p>
            <a:pPr algn="l"/>
            <a:r>
              <a:rPr sz="1400" b="0" i="0">
                <a:solidFill>
                  <a:srgbClr val="9BD3C4"/>
                </a:solidFill>
                <a:latin typeface="Calibri"/>
              </a:rPr>
              <a:t>For design and verification engineers  |  FPGA design tools,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Today, every design re-derives what the last one already knew</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2</a:t>
            </a:r>
          </a:p>
        </p:txBody>
      </p:sp>
      <p:sp>
        <p:nvSpPr>
          <p:cNvPr id="5" name="TextBox 4"/>
          <p:cNvSpPr txBox="1"/>
          <p:nvPr/>
        </p:nvSpPr>
        <p:spPr>
          <a:xfrm>
            <a:off x="548640" y="1280160"/>
            <a:ext cx="5303520" cy="365760"/>
          </a:xfrm>
          <a:prstGeom prst="rect">
            <a:avLst/>
          </a:prstGeom>
          <a:noFill/>
        </p:spPr>
        <p:txBody>
          <a:bodyPr wrap="square" lIns="0" rIns="0" tIns="0" bIns="0" anchor="t">
            <a:spAutoFit/>
          </a:bodyPr>
          <a:lstStyle/>
          <a:p>
            <a:pPr algn="l"/>
            <a:r>
              <a:rPr sz="1800" b="1" i="0">
                <a:solidFill>
                  <a:srgbClr val="D9534F"/>
                </a:solidFill>
                <a:latin typeface="Calibri"/>
              </a:rPr>
              <a:t>Where knowledge lives today</a:t>
            </a:r>
          </a:p>
        </p:txBody>
      </p:sp>
      <p:sp>
        <p:nvSpPr>
          <p:cNvPr id="6" name="TextBox 5"/>
          <p:cNvSpPr txBox="1"/>
          <p:nvPr/>
        </p:nvSpPr>
        <p:spPr>
          <a:xfrm>
            <a:off x="6309360" y="1280160"/>
            <a:ext cx="5303520" cy="365760"/>
          </a:xfrm>
          <a:prstGeom prst="rect">
            <a:avLst/>
          </a:prstGeom>
          <a:noFill/>
        </p:spPr>
        <p:txBody>
          <a:bodyPr wrap="square" lIns="0" rIns="0" tIns="0" bIns="0" anchor="t">
            <a:spAutoFit/>
          </a:bodyPr>
          <a:lstStyle/>
          <a:p>
            <a:pPr algn="l"/>
            <a:r>
              <a:rPr sz="1800" b="1" i="0">
                <a:solidFill>
                  <a:srgbClr val="02C39A"/>
                </a:solidFill>
                <a:latin typeface="Calibri"/>
              </a:rPr>
              <a:t>What the flow changes</a:t>
            </a:r>
          </a:p>
        </p:txBody>
      </p:sp>
      <p:sp>
        <p:nvSpPr>
          <p:cNvPr id="7" name="icon"/>
          <p:cNvSpPr/>
          <p:nvPr/>
        </p:nvSpPr>
        <p:spPr>
          <a:xfrm>
            <a:off x="548640" y="1828800"/>
            <a:ext cx="502920" cy="502920"/>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1</a:t>
            </a:r>
          </a:p>
        </p:txBody>
      </p:sp>
      <p:sp>
        <p:nvSpPr>
          <p:cNvPr id="8" name="TextBox 7"/>
          <p:cNvSpPr txBox="1"/>
          <p:nvPr/>
        </p:nvSpPr>
        <p:spPr>
          <a:xfrm>
            <a:off x="1234440" y="1810512"/>
            <a:ext cx="4617720" cy="274320"/>
          </a:xfrm>
          <a:prstGeom prst="rect">
            <a:avLst/>
          </a:prstGeom>
          <a:noFill/>
        </p:spPr>
        <p:txBody>
          <a:bodyPr wrap="square" lIns="0" rIns="0" tIns="0" bIns="0" anchor="t">
            <a:spAutoFit/>
          </a:bodyPr>
          <a:lstStyle/>
          <a:p>
            <a:pPr algn="l"/>
            <a:r>
              <a:rPr sz="1500" b="1" i="0">
                <a:solidFill>
                  <a:srgbClr val="1B2430"/>
                </a:solidFill>
                <a:latin typeface="Calibri"/>
              </a:rPr>
              <a:t>In people's heads</a:t>
            </a:r>
          </a:p>
        </p:txBody>
      </p:sp>
      <p:sp>
        <p:nvSpPr>
          <p:cNvPr id="9" name="TextBox 8"/>
          <p:cNvSpPr txBox="1"/>
          <p:nvPr/>
        </p:nvSpPr>
        <p:spPr>
          <a:xfrm>
            <a:off x="1234440" y="2084832"/>
            <a:ext cx="4617720" cy="502920"/>
          </a:xfrm>
          <a:prstGeom prst="rect">
            <a:avLst/>
          </a:prstGeom>
          <a:noFill/>
        </p:spPr>
        <p:txBody>
          <a:bodyPr wrap="square" lIns="0" rIns="0" tIns="0" bIns="0" anchor="t">
            <a:spAutoFit/>
          </a:bodyPr>
          <a:lstStyle/>
          <a:p>
            <a:pPr algn="l"/>
            <a:r>
              <a:rPr sz="1200" b="0" i="0">
                <a:solidFill>
                  <a:srgbClr val="1B2430"/>
                </a:solidFill>
                <a:latin typeface="Calibri"/>
              </a:rPr>
              <a:t>The register map of the last SoC, the PLL settings that worked, the pin that was swapped on the board: known by one engineer.</a:t>
            </a:r>
          </a:p>
        </p:txBody>
      </p:sp>
      <p:sp>
        <p:nvSpPr>
          <p:cNvPr id="10" name="icon"/>
          <p:cNvSpPr/>
          <p:nvPr/>
        </p:nvSpPr>
        <p:spPr>
          <a:xfrm>
            <a:off x="548640" y="2926080"/>
            <a:ext cx="502920" cy="502920"/>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2</a:t>
            </a:r>
          </a:p>
        </p:txBody>
      </p:sp>
      <p:sp>
        <p:nvSpPr>
          <p:cNvPr id="11" name="TextBox 10"/>
          <p:cNvSpPr txBox="1"/>
          <p:nvPr/>
        </p:nvSpPr>
        <p:spPr>
          <a:xfrm>
            <a:off x="1234440" y="2907792"/>
            <a:ext cx="4617720" cy="274320"/>
          </a:xfrm>
          <a:prstGeom prst="rect">
            <a:avLst/>
          </a:prstGeom>
          <a:noFill/>
        </p:spPr>
        <p:txBody>
          <a:bodyPr wrap="square" lIns="0" rIns="0" tIns="0" bIns="0" anchor="t">
            <a:spAutoFit/>
          </a:bodyPr>
          <a:lstStyle/>
          <a:p>
            <a:pPr algn="l"/>
            <a:r>
              <a:rPr sz="1500" b="1" i="0">
                <a:solidFill>
                  <a:srgbClr val="1B2430"/>
                </a:solidFill>
                <a:latin typeface="Calibri"/>
              </a:rPr>
              <a:t>In old projects nobody reopens</a:t>
            </a:r>
          </a:p>
        </p:txBody>
      </p:sp>
      <p:sp>
        <p:nvSpPr>
          <p:cNvPr id="12" name="TextBox 11"/>
          <p:cNvSpPr txBox="1"/>
          <p:nvPr/>
        </p:nvSpPr>
        <p:spPr>
          <a:xfrm>
            <a:off x="1234440" y="3182112"/>
            <a:ext cx="4617720" cy="502920"/>
          </a:xfrm>
          <a:prstGeom prst="rect">
            <a:avLst/>
          </a:prstGeom>
          <a:noFill/>
        </p:spPr>
        <p:txBody>
          <a:bodyPr wrap="square" lIns="0" rIns="0" tIns="0" bIns="0" anchor="t">
            <a:spAutoFit/>
          </a:bodyPr>
          <a:lstStyle/>
          <a:p>
            <a:pPr algn="l"/>
            <a:r>
              <a:rPr sz="1200" b="0" i="0">
                <a:solidFill>
                  <a:srgbClr val="1B2430"/>
                </a:solidFill>
                <a:latin typeface="Calibri"/>
              </a:rPr>
              <a:t>Constraints, IP configurations and flow results sit in archived Radiant projects without a summary.</a:t>
            </a:r>
          </a:p>
        </p:txBody>
      </p:sp>
      <p:sp>
        <p:nvSpPr>
          <p:cNvPr id="13" name="icon"/>
          <p:cNvSpPr/>
          <p:nvPr/>
        </p:nvSpPr>
        <p:spPr>
          <a:xfrm>
            <a:off x="548640" y="4023360"/>
            <a:ext cx="502920" cy="502920"/>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3</a:t>
            </a:r>
          </a:p>
        </p:txBody>
      </p:sp>
      <p:sp>
        <p:nvSpPr>
          <p:cNvPr id="14" name="TextBox 13"/>
          <p:cNvSpPr txBox="1"/>
          <p:nvPr/>
        </p:nvSpPr>
        <p:spPr>
          <a:xfrm>
            <a:off x="1234440" y="4005072"/>
            <a:ext cx="4617720" cy="274320"/>
          </a:xfrm>
          <a:prstGeom prst="rect">
            <a:avLst/>
          </a:prstGeom>
          <a:noFill/>
        </p:spPr>
        <p:txBody>
          <a:bodyPr wrap="square" lIns="0" rIns="0" tIns="0" bIns="0" anchor="t">
            <a:spAutoFit/>
          </a:bodyPr>
          <a:lstStyle/>
          <a:p>
            <a:pPr algn="l"/>
            <a:r>
              <a:rPr sz="1500" b="1" i="0">
                <a:solidFill>
                  <a:srgbClr val="1B2430"/>
                </a:solidFill>
                <a:latin typeface="Calibri"/>
              </a:rPr>
              <a:t>Re-derived every time</a:t>
            </a:r>
          </a:p>
        </p:txBody>
      </p:sp>
      <p:sp>
        <p:nvSpPr>
          <p:cNvPr id="15" name="TextBox 14"/>
          <p:cNvSpPr txBox="1"/>
          <p:nvPr/>
        </p:nvSpPr>
        <p:spPr>
          <a:xfrm>
            <a:off x="1234440" y="4279392"/>
            <a:ext cx="4617720" cy="502920"/>
          </a:xfrm>
          <a:prstGeom prst="rect">
            <a:avLst/>
          </a:prstGeom>
          <a:noFill/>
        </p:spPr>
        <p:txBody>
          <a:bodyPr wrap="square" lIns="0" rIns="0" tIns="0" bIns="0" anchor="t">
            <a:spAutoFit/>
          </a:bodyPr>
          <a:lstStyle/>
          <a:p>
            <a:pPr algn="l"/>
            <a:r>
              <a:rPr sz="1200" b="0" i="0">
                <a:solidFill>
                  <a:srgbClr val="1B2430"/>
                </a:solidFill>
                <a:latin typeface="Calibri"/>
              </a:rPr>
              <a:t>A new design repeats the same investigation of IP catalog records, board facts and address maps.</a:t>
            </a:r>
          </a:p>
        </p:txBody>
      </p:sp>
      <p:sp>
        <p:nvSpPr>
          <p:cNvPr id="16" name="icon"/>
          <p:cNvSpPr/>
          <p:nvPr/>
        </p:nvSpPr>
        <p:spPr>
          <a:xfrm>
            <a:off x="548640" y="5120640"/>
            <a:ext cx="502920" cy="502920"/>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4</a:t>
            </a:r>
          </a:p>
        </p:txBody>
      </p:sp>
      <p:sp>
        <p:nvSpPr>
          <p:cNvPr id="17" name="TextBox 16"/>
          <p:cNvSpPr txBox="1"/>
          <p:nvPr/>
        </p:nvSpPr>
        <p:spPr>
          <a:xfrm>
            <a:off x="1234440" y="5102352"/>
            <a:ext cx="4617720" cy="274320"/>
          </a:xfrm>
          <a:prstGeom prst="rect">
            <a:avLst/>
          </a:prstGeom>
          <a:noFill/>
        </p:spPr>
        <p:txBody>
          <a:bodyPr wrap="square" lIns="0" rIns="0" tIns="0" bIns="0" anchor="t">
            <a:spAutoFit/>
          </a:bodyPr>
          <a:lstStyle/>
          <a:p>
            <a:pPr algn="l"/>
            <a:r>
              <a:rPr sz="1500" b="1" i="0">
                <a:solidFill>
                  <a:srgbClr val="1B2430"/>
                </a:solidFill>
                <a:latin typeface="Calibri"/>
              </a:rPr>
              <a:t>The AI agent answers from memory</a:t>
            </a:r>
          </a:p>
        </p:txBody>
      </p:sp>
      <p:sp>
        <p:nvSpPr>
          <p:cNvPr id="18" name="TextBox 17"/>
          <p:cNvSpPr txBox="1"/>
          <p:nvPr/>
        </p:nvSpPr>
        <p:spPr>
          <a:xfrm>
            <a:off x="1234440" y="5376672"/>
            <a:ext cx="4617720" cy="502920"/>
          </a:xfrm>
          <a:prstGeom prst="rect">
            <a:avLst/>
          </a:prstGeom>
          <a:noFill/>
        </p:spPr>
        <p:txBody>
          <a:bodyPr wrap="square" lIns="0" rIns="0" tIns="0" bIns="0" anchor="t">
            <a:spAutoFit/>
          </a:bodyPr>
          <a:lstStyle/>
          <a:p>
            <a:pPr algn="l"/>
            <a:r>
              <a:rPr sz="1200" b="0" i="0">
                <a:solidFill>
                  <a:srgbClr val="1B2430"/>
                </a:solidFill>
                <a:latin typeface="Calibri"/>
              </a:rPr>
              <a:t>Without evidence the agent guesses offsets, versions and parameters, and the guess looks confident.</a:t>
            </a:r>
          </a:p>
        </p:txBody>
      </p:sp>
      <p:sp>
        <p:nvSpPr>
          <p:cNvPr id="19" name="icon"/>
          <p:cNvSpPr/>
          <p:nvPr/>
        </p:nvSpPr>
        <p:spPr>
          <a:xfrm>
            <a:off x="6309360" y="1828800"/>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1</a:t>
            </a:r>
          </a:p>
        </p:txBody>
      </p:sp>
      <p:sp>
        <p:nvSpPr>
          <p:cNvPr id="20" name="TextBox 19"/>
          <p:cNvSpPr txBox="1"/>
          <p:nvPr/>
        </p:nvSpPr>
        <p:spPr>
          <a:xfrm>
            <a:off x="6995160" y="1810512"/>
            <a:ext cx="4617720" cy="274320"/>
          </a:xfrm>
          <a:prstGeom prst="rect">
            <a:avLst/>
          </a:prstGeom>
          <a:noFill/>
        </p:spPr>
        <p:txBody>
          <a:bodyPr wrap="square" lIns="0" rIns="0" tIns="0" bIns="0" anchor="t">
            <a:spAutoFit/>
          </a:bodyPr>
          <a:lstStyle/>
          <a:p>
            <a:pPr algn="l"/>
            <a:r>
              <a:rPr sz="1500" b="1" i="0">
                <a:solidFill>
                  <a:srgbClr val="1B2430"/>
                </a:solidFill>
                <a:latin typeface="Calibri"/>
              </a:rPr>
              <a:t>Captured once, cited every time</a:t>
            </a:r>
          </a:p>
        </p:txBody>
      </p:sp>
      <p:sp>
        <p:nvSpPr>
          <p:cNvPr id="21" name="TextBox 20"/>
          <p:cNvSpPr txBox="1"/>
          <p:nvPr/>
        </p:nvSpPr>
        <p:spPr>
          <a:xfrm>
            <a:off x="6995160" y="2084832"/>
            <a:ext cx="4617720" cy="502920"/>
          </a:xfrm>
          <a:prstGeom prst="rect">
            <a:avLst/>
          </a:prstGeom>
          <a:noFill/>
        </p:spPr>
        <p:txBody>
          <a:bodyPr wrap="square" lIns="0" rIns="0" tIns="0" bIns="0" anchor="t">
            <a:spAutoFit/>
          </a:bodyPr>
          <a:lstStyle/>
          <a:p>
            <a:pPr algn="l"/>
            <a:r>
              <a:rPr sz="1200" b="0" i="0">
                <a:solidFill>
                  <a:srgbClr val="1B2430"/>
                </a:solidFill>
                <a:latin typeface="Calibri"/>
              </a:rPr>
              <a:t>Hierarchy, constraints, IP usage, flow results and registers of every captured design, each value with its file and line.</a:t>
            </a:r>
          </a:p>
        </p:txBody>
      </p:sp>
      <p:sp>
        <p:nvSpPr>
          <p:cNvPr id="22" name="icon"/>
          <p:cNvSpPr/>
          <p:nvPr/>
        </p:nvSpPr>
        <p:spPr>
          <a:xfrm>
            <a:off x="6309360" y="2926080"/>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2</a:t>
            </a:r>
          </a:p>
        </p:txBody>
      </p:sp>
      <p:sp>
        <p:nvSpPr>
          <p:cNvPr id="23" name="TextBox 22"/>
          <p:cNvSpPr txBox="1"/>
          <p:nvPr/>
        </p:nvSpPr>
        <p:spPr>
          <a:xfrm>
            <a:off x="6995160" y="2907792"/>
            <a:ext cx="4617720" cy="274320"/>
          </a:xfrm>
          <a:prstGeom prst="rect">
            <a:avLst/>
          </a:prstGeom>
          <a:noFill/>
        </p:spPr>
        <p:txBody>
          <a:bodyPr wrap="square" lIns="0" rIns="0" tIns="0" bIns="0" anchor="t">
            <a:spAutoFit/>
          </a:bodyPr>
          <a:lstStyle/>
          <a:p>
            <a:pPr algn="l"/>
            <a:r>
              <a:rPr sz="1500" b="1" i="0">
                <a:solidFill>
                  <a:srgbClr val="1B2430"/>
                </a:solidFill>
                <a:latin typeface="Calibri"/>
              </a:rPr>
              <a:t>Searched before anything is built</a:t>
            </a:r>
          </a:p>
        </p:txBody>
      </p:sp>
      <p:sp>
        <p:nvSpPr>
          <p:cNvPr id="24" name="TextBox 23"/>
          <p:cNvSpPr txBox="1"/>
          <p:nvPr/>
        </p:nvSpPr>
        <p:spPr>
          <a:xfrm>
            <a:off x="6995160" y="3182112"/>
            <a:ext cx="4617720" cy="502920"/>
          </a:xfrm>
          <a:prstGeom prst="rect">
            <a:avLst/>
          </a:prstGeom>
          <a:noFill/>
        </p:spPr>
        <p:txBody>
          <a:bodyPr wrap="square" lIns="0" rIns="0" tIns="0" bIns="0" anchor="t">
            <a:spAutoFit/>
          </a:bodyPr>
          <a:lstStyle/>
          <a:p>
            <a:pPr algn="l"/>
            <a:r>
              <a:rPr sz="1200" b="0" i="0">
                <a:solidFill>
                  <a:srgbClr val="1B2430"/>
                </a:solidFill>
                <a:latin typeface="Calibri"/>
              </a:rPr>
              <a:t>The flow starts with a knowledge search; reuse is proposed with evidence, rejections are recorded with reasons.</a:t>
            </a:r>
          </a:p>
        </p:txBody>
      </p:sp>
      <p:sp>
        <p:nvSpPr>
          <p:cNvPr id="25" name="icon"/>
          <p:cNvSpPr/>
          <p:nvPr/>
        </p:nvSpPr>
        <p:spPr>
          <a:xfrm>
            <a:off x="6309360" y="4023360"/>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3</a:t>
            </a:r>
          </a:p>
        </p:txBody>
      </p:sp>
      <p:sp>
        <p:nvSpPr>
          <p:cNvPr id="26" name="TextBox 25"/>
          <p:cNvSpPr txBox="1"/>
          <p:nvPr/>
        </p:nvSpPr>
        <p:spPr>
          <a:xfrm>
            <a:off x="6995160" y="4005072"/>
            <a:ext cx="4617720" cy="274320"/>
          </a:xfrm>
          <a:prstGeom prst="rect">
            <a:avLst/>
          </a:prstGeom>
          <a:noFill/>
        </p:spPr>
        <p:txBody>
          <a:bodyPr wrap="square" lIns="0" rIns="0" tIns="0" bIns="0" anchor="t">
            <a:spAutoFit/>
          </a:bodyPr>
          <a:lstStyle/>
          <a:p>
            <a:pPr algn="l"/>
            <a:r>
              <a:rPr sz="1500" b="1" i="0">
                <a:solidFill>
                  <a:srgbClr val="1B2430"/>
                </a:solidFill>
                <a:latin typeface="Calibri"/>
              </a:rPr>
              <a:t>Recorded as it runs</a:t>
            </a:r>
          </a:p>
        </p:txBody>
      </p:sp>
      <p:sp>
        <p:nvSpPr>
          <p:cNvPr id="27" name="TextBox 26"/>
          <p:cNvSpPr txBox="1"/>
          <p:nvPr/>
        </p:nvSpPr>
        <p:spPr>
          <a:xfrm>
            <a:off x="6995160" y="4279392"/>
            <a:ext cx="4617720" cy="502920"/>
          </a:xfrm>
          <a:prstGeom prst="rect">
            <a:avLst/>
          </a:prstGeom>
          <a:noFill/>
        </p:spPr>
        <p:txBody>
          <a:bodyPr wrap="square" lIns="0" rIns="0" tIns="0" bIns="0" anchor="t">
            <a:spAutoFit/>
          </a:bodyPr>
          <a:lstStyle/>
          <a:p>
            <a:pPr algn="l"/>
            <a:r>
              <a:rPr sz="1200" b="0" i="0">
                <a:solidFill>
                  <a:srgbClr val="1B2430"/>
                </a:solidFill>
                <a:latin typeface="Calibri"/>
              </a:rPr>
              <a:t>Intent, decomposition, decisions and hand-off are files, so a session or a colleague can continue from them.</a:t>
            </a:r>
          </a:p>
        </p:txBody>
      </p:sp>
      <p:sp>
        <p:nvSpPr>
          <p:cNvPr id="28" name="icon"/>
          <p:cNvSpPr/>
          <p:nvPr/>
        </p:nvSpPr>
        <p:spPr>
          <a:xfrm>
            <a:off x="6309360" y="5120640"/>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4</a:t>
            </a:r>
          </a:p>
        </p:txBody>
      </p:sp>
      <p:sp>
        <p:nvSpPr>
          <p:cNvPr id="29" name="TextBox 28"/>
          <p:cNvSpPr txBox="1"/>
          <p:nvPr/>
        </p:nvSpPr>
        <p:spPr>
          <a:xfrm>
            <a:off x="6995160" y="5102352"/>
            <a:ext cx="4617720" cy="274320"/>
          </a:xfrm>
          <a:prstGeom prst="rect">
            <a:avLst/>
          </a:prstGeom>
          <a:noFill/>
        </p:spPr>
        <p:txBody>
          <a:bodyPr wrap="square" lIns="0" rIns="0" tIns="0" bIns="0" anchor="t">
            <a:spAutoFit/>
          </a:bodyPr>
          <a:lstStyle/>
          <a:p>
            <a:pPr algn="l"/>
            <a:r>
              <a:rPr sz="1500" b="1" i="0">
                <a:solidFill>
                  <a:srgbClr val="1B2430"/>
                </a:solidFill>
                <a:latin typeface="Calibri"/>
              </a:rPr>
              <a:t>Enriched by using it</a:t>
            </a:r>
          </a:p>
        </p:txBody>
      </p:sp>
      <p:sp>
        <p:nvSpPr>
          <p:cNvPr id="30" name="TextBox 29"/>
          <p:cNvSpPr txBox="1"/>
          <p:nvPr/>
        </p:nvSpPr>
        <p:spPr>
          <a:xfrm>
            <a:off x="6995160" y="5376672"/>
            <a:ext cx="4617720" cy="502920"/>
          </a:xfrm>
          <a:prstGeom prst="rect">
            <a:avLst/>
          </a:prstGeom>
          <a:noFill/>
        </p:spPr>
        <p:txBody>
          <a:bodyPr wrap="square" lIns="0" rIns="0" tIns="0" bIns="0" anchor="t">
            <a:spAutoFit/>
          </a:bodyPr>
          <a:lstStyle/>
          <a:p>
            <a:pPr algn="l"/>
            <a:r>
              <a:rPr sz="1200" b="0" i="0">
                <a:solidFill>
                  <a:srgbClr val="1B2430"/>
                </a:solidFill>
                <a:latin typeface="Calibri"/>
              </a:rPr>
              <a:t>Capture is the last stage of every design; derived knowledge refreshes itself from the repositories.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Five phases, thirteen stages, three human gates</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3</a:t>
            </a:r>
          </a:p>
        </p:txBody>
      </p:sp>
      <p:sp>
        <p:nvSpPr>
          <p:cNvPr id="5" name="phase"/>
          <p:cNvSpPr/>
          <p:nvPr/>
        </p:nvSpPr>
        <p:spPr>
          <a:xfrm>
            <a:off x="548640" y="1828800"/>
            <a:ext cx="2240280" cy="822960"/>
          </a:xfrm>
          <a:prstGeom prst="chevron">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7280" y="2057400"/>
            <a:ext cx="1417320" cy="365760"/>
          </a:xfrm>
          <a:prstGeom prst="rect">
            <a:avLst/>
          </a:prstGeom>
          <a:noFill/>
        </p:spPr>
        <p:txBody>
          <a:bodyPr wrap="square" lIns="0" rIns="0" tIns="0" bIns="0" anchor="t">
            <a:spAutoFit/>
          </a:bodyPr>
          <a:lstStyle/>
          <a:p>
            <a:pPr algn="l"/>
            <a:r>
              <a:rPr sz="1500" b="1" i="0">
                <a:solidFill>
                  <a:srgbClr val="FFFFFF"/>
                </a:solidFill>
                <a:latin typeface="Calibri"/>
              </a:rPr>
              <a:t>A  Intake</a:t>
            </a:r>
          </a:p>
        </p:txBody>
      </p:sp>
      <p:sp>
        <p:nvSpPr>
          <p:cNvPr id="7" name="TextBox 6"/>
          <p:cNvSpPr txBox="1"/>
          <p:nvPr/>
        </p:nvSpPr>
        <p:spPr>
          <a:xfrm>
            <a:off x="640080" y="2834640"/>
            <a:ext cx="2057400" cy="1005840"/>
          </a:xfrm>
          <a:prstGeom prst="rect">
            <a:avLst/>
          </a:prstGeom>
          <a:noFill/>
        </p:spPr>
        <p:txBody>
          <a:bodyPr wrap="square" lIns="0" rIns="0" tIns="0" bIns="0" anchor="t">
            <a:spAutoFit/>
          </a:bodyPr>
          <a:lstStyle/>
          <a:p>
            <a:pPr algn="l"/>
            <a:r>
              <a:rPr sz="1200" b="0" i="0">
                <a:solidFill>
                  <a:srgbClr val="1B2430"/>
                </a:solidFill>
                <a:latin typeface="Calibri"/>
              </a:rPr>
              <a:t>1 intake</a:t>
            </a:r>
          </a:p>
          <a:p>
            <a:pPr algn="l"/>
            <a:r>
              <a:rPr sz="1200" b="0" i="0">
                <a:solidFill>
                  <a:srgbClr val="1B2430"/>
                </a:solidFill>
                <a:latin typeface="Calibri"/>
              </a:rPr>
              <a:t>2 intent record</a:t>
            </a:r>
          </a:p>
          <a:p>
            <a:pPr algn="l"/>
            <a:r>
              <a:rPr sz="1200" b="0" i="0">
                <a:solidFill>
                  <a:srgbClr val="1B2430"/>
                </a:solidFill>
                <a:latin typeface="Calibri"/>
              </a:rPr>
              <a:t>3 knowledge search</a:t>
            </a:r>
          </a:p>
        </p:txBody>
      </p:sp>
      <p:sp>
        <p:nvSpPr>
          <p:cNvPr id="8" name="phase"/>
          <p:cNvSpPr/>
          <p:nvPr/>
        </p:nvSpPr>
        <p:spPr>
          <a:xfrm>
            <a:off x="2880360" y="1828800"/>
            <a:ext cx="2240280" cy="822960"/>
          </a:xfrm>
          <a:prstGeom prst="chevron">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429000" y="2057400"/>
            <a:ext cx="1417320" cy="365760"/>
          </a:xfrm>
          <a:prstGeom prst="rect">
            <a:avLst/>
          </a:prstGeom>
          <a:noFill/>
        </p:spPr>
        <p:txBody>
          <a:bodyPr wrap="square" lIns="0" rIns="0" tIns="0" bIns="0" anchor="t">
            <a:spAutoFit/>
          </a:bodyPr>
          <a:lstStyle/>
          <a:p>
            <a:pPr algn="l"/>
            <a:r>
              <a:rPr sz="1500" b="1" i="0">
                <a:solidFill>
                  <a:srgbClr val="FFFFFF"/>
                </a:solidFill>
                <a:latin typeface="Calibri"/>
              </a:rPr>
              <a:t>B  Architecture</a:t>
            </a:r>
          </a:p>
        </p:txBody>
      </p:sp>
      <p:sp>
        <p:nvSpPr>
          <p:cNvPr id="10" name="TextBox 9"/>
          <p:cNvSpPr txBox="1"/>
          <p:nvPr/>
        </p:nvSpPr>
        <p:spPr>
          <a:xfrm>
            <a:off x="2971800" y="2834640"/>
            <a:ext cx="2057400" cy="1005840"/>
          </a:xfrm>
          <a:prstGeom prst="rect">
            <a:avLst/>
          </a:prstGeom>
          <a:noFill/>
        </p:spPr>
        <p:txBody>
          <a:bodyPr wrap="square" lIns="0" rIns="0" tIns="0" bIns="0" anchor="t">
            <a:spAutoFit/>
          </a:bodyPr>
          <a:lstStyle/>
          <a:p>
            <a:pPr algn="l"/>
            <a:r>
              <a:rPr sz="1200" b="0" i="0">
                <a:solidFill>
                  <a:srgbClr val="1B2430"/>
                </a:solidFill>
                <a:latin typeface="Calibri"/>
              </a:rPr>
              <a:t>4 decomposition</a:t>
            </a:r>
          </a:p>
          <a:p>
            <a:pPr algn="l"/>
            <a:r>
              <a:rPr sz="1200" b="0" i="0">
                <a:solidFill>
                  <a:srgbClr val="1B2430"/>
                </a:solidFill>
                <a:latin typeface="Calibri"/>
              </a:rPr>
              <a:t>5 YAML and skeleton</a:t>
            </a:r>
          </a:p>
          <a:p>
            <a:pPr algn="l"/>
            <a:r>
              <a:rPr sz="1200" b="0" i="0">
                <a:solidFill>
                  <a:srgbClr val="1B2430"/>
                </a:solidFill>
                <a:latin typeface="Calibri"/>
              </a:rPr>
              <a:t>6 model simulation</a:t>
            </a:r>
          </a:p>
        </p:txBody>
      </p:sp>
      <p:sp>
        <p:nvSpPr>
          <p:cNvPr id="11" name="phase"/>
          <p:cNvSpPr/>
          <p:nvPr/>
        </p:nvSpPr>
        <p:spPr>
          <a:xfrm>
            <a:off x="5212080" y="1828800"/>
            <a:ext cx="2240280" cy="822960"/>
          </a:xfrm>
          <a:prstGeom prst="chevron">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760720" y="2057400"/>
            <a:ext cx="1417320" cy="365760"/>
          </a:xfrm>
          <a:prstGeom prst="rect">
            <a:avLst/>
          </a:prstGeom>
          <a:noFill/>
        </p:spPr>
        <p:txBody>
          <a:bodyPr wrap="square" lIns="0" rIns="0" tIns="0" bIns="0" anchor="t">
            <a:spAutoFit/>
          </a:bodyPr>
          <a:lstStyle/>
          <a:p>
            <a:pPr algn="l"/>
            <a:r>
              <a:rPr sz="1500" b="1" i="0">
                <a:solidFill>
                  <a:srgbClr val="FFFFFF"/>
                </a:solidFill>
                <a:latin typeface="Calibri"/>
              </a:rPr>
              <a:t>C  Realisation</a:t>
            </a:r>
          </a:p>
        </p:txBody>
      </p:sp>
      <p:sp>
        <p:nvSpPr>
          <p:cNvPr id="13" name="TextBox 12"/>
          <p:cNvSpPr txBox="1"/>
          <p:nvPr/>
        </p:nvSpPr>
        <p:spPr>
          <a:xfrm>
            <a:off x="5303520" y="2834640"/>
            <a:ext cx="2057400" cy="1005840"/>
          </a:xfrm>
          <a:prstGeom prst="rect">
            <a:avLst/>
          </a:prstGeom>
          <a:noFill/>
        </p:spPr>
        <p:txBody>
          <a:bodyPr wrap="square" lIns="0" rIns="0" tIns="0" bIns="0" anchor="t">
            <a:spAutoFit/>
          </a:bodyPr>
          <a:lstStyle/>
          <a:p>
            <a:pPr algn="l"/>
            <a:r>
              <a:rPr sz="1200" b="0" i="0">
                <a:solidFill>
                  <a:srgbClr val="1B2430"/>
                </a:solidFill>
                <a:latin typeface="Calibri"/>
              </a:rPr>
              <a:t>7 SoC session</a:t>
            </a:r>
          </a:p>
          <a:p>
            <a:pPr algn="l"/>
            <a:r>
              <a:rPr sz="1200" b="0" i="0">
                <a:solidFill>
                  <a:srgbClr val="1B2430"/>
                </a:solidFill>
                <a:latin typeface="Calibri"/>
              </a:rPr>
              <a:t>8 RTL and register test</a:t>
            </a:r>
          </a:p>
          <a:p>
            <a:pPr algn="l"/>
            <a:r>
              <a:rPr sz="1200" b="0" i="0">
                <a:solidFill>
                  <a:srgbClr val="1B2430"/>
                </a:solidFill>
                <a:latin typeface="Calibri"/>
              </a:rPr>
              <a:t>9 constraints</a:t>
            </a:r>
          </a:p>
        </p:txBody>
      </p:sp>
      <p:sp>
        <p:nvSpPr>
          <p:cNvPr id="14" name="phase"/>
          <p:cNvSpPr/>
          <p:nvPr/>
        </p:nvSpPr>
        <p:spPr>
          <a:xfrm>
            <a:off x="7543800" y="1828800"/>
            <a:ext cx="2240280" cy="822960"/>
          </a:xfrm>
          <a:prstGeom prst="chevron">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92440" y="2057400"/>
            <a:ext cx="1417320" cy="365760"/>
          </a:xfrm>
          <a:prstGeom prst="rect">
            <a:avLst/>
          </a:prstGeom>
          <a:noFill/>
        </p:spPr>
        <p:txBody>
          <a:bodyPr wrap="square" lIns="0" rIns="0" tIns="0" bIns="0" anchor="t">
            <a:spAutoFit/>
          </a:bodyPr>
          <a:lstStyle/>
          <a:p>
            <a:pPr algn="l"/>
            <a:r>
              <a:rPr sz="1500" b="1" i="0">
                <a:solidFill>
                  <a:srgbClr val="FFFFFF"/>
                </a:solidFill>
                <a:latin typeface="Calibri"/>
              </a:rPr>
              <a:t>D  Build, bring-up</a:t>
            </a:r>
          </a:p>
        </p:txBody>
      </p:sp>
      <p:sp>
        <p:nvSpPr>
          <p:cNvPr id="16" name="TextBox 15"/>
          <p:cNvSpPr txBox="1"/>
          <p:nvPr/>
        </p:nvSpPr>
        <p:spPr>
          <a:xfrm>
            <a:off x="7635240" y="2834640"/>
            <a:ext cx="2057400" cy="1005840"/>
          </a:xfrm>
          <a:prstGeom prst="rect">
            <a:avLst/>
          </a:prstGeom>
          <a:noFill/>
        </p:spPr>
        <p:txBody>
          <a:bodyPr wrap="square" lIns="0" rIns="0" tIns="0" bIns="0" anchor="t">
            <a:spAutoFit/>
          </a:bodyPr>
          <a:lstStyle/>
          <a:p>
            <a:pPr algn="l"/>
            <a:r>
              <a:rPr sz="1200" b="0" i="0">
                <a:solidFill>
                  <a:srgbClr val="1B2430"/>
                </a:solidFill>
                <a:latin typeface="Calibri"/>
              </a:rPr>
              <a:t>10 Radiant build</a:t>
            </a:r>
          </a:p>
          <a:p>
            <a:pPr algn="l"/>
            <a:r>
              <a:rPr sz="1200" b="0" i="0">
                <a:solidFill>
                  <a:srgbClr val="1B2430"/>
                </a:solidFill>
                <a:latin typeface="Calibri"/>
              </a:rPr>
              <a:t>11 firmware</a:t>
            </a:r>
          </a:p>
          <a:p>
            <a:pPr algn="l"/>
            <a:r>
              <a:rPr sz="1200" b="0" i="0">
                <a:solidFill>
                  <a:srgbClr val="1B2430"/>
                </a:solidFill>
                <a:latin typeface="Calibri"/>
              </a:rPr>
              <a:t>12 programming, smoke test</a:t>
            </a:r>
          </a:p>
        </p:txBody>
      </p:sp>
      <p:sp>
        <p:nvSpPr>
          <p:cNvPr id="17" name="phase"/>
          <p:cNvSpPr/>
          <p:nvPr/>
        </p:nvSpPr>
        <p:spPr>
          <a:xfrm>
            <a:off x="9875520" y="1828800"/>
            <a:ext cx="2240280" cy="822960"/>
          </a:xfrm>
          <a:prstGeom prst="chevron">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424160" y="2057400"/>
            <a:ext cx="1417320" cy="365760"/>
          </a:xfrm>
          <a:prstGeom prst="rect">
            <a:avLst/>
          </a:prstGeom>
          <a:noFill/>
        </p:spPr>
        <p:txBody>
          <a:bodyPr wrap="square" lIns="0" rIns="0" tIns="0" bIns="0" anchor="t">
            <a:spAutoFit/>
          </a:bodyPr>
          <a:lstStyle/>
          <a:p>
            <a:pPr algn="l"/>
            <a:r>
              <a:rPr sz="1500" b="1" i="0">
                <a:solidFill>
                  <a:srgbClr val="FFFFFF"/>
                </a:solidFill>
                <a:latin typeface="Calibri"/>
              </a:rPr>
              <a:t>E  Hand-off</a:t>
            </a:r>
          </a:p>
        </p:txBody>
      </p:sp>
      <p:sp>
        <p:nvSpPr>
          <p:cNvPr id="19" name="TextBox 18"/>
          <p:cNvSpPr txBox="1"/>
          <p:nvPr/>
        </p:nvSpPr>
        <p:spPr>
          <a:xfrm>
            <a:off x="9966960" y="2834640"/>
            <a:ext cx="2057400" cy="1005840"/>
          </a:xfrm>
          <a:prstGeom prst="rect">
            <a:avLst/>
          </a:prstGeom>
          <a:noFill/>
        </p:spPr>
        <p:txBody>
          <a:bodyPr wrap="square" lIns="0" rIns="0" tIns="0" bIns="0" anchor="t">
            <a:spAutoFit/>
          </a:bodyPr>
          <a:lstStyle/>
          <a:p>
            <a:pPr algn="l"/>
            <a:r>
              <a:rPr sz="1200" b="0" i="0">
                <a:solidFill>
                  <a:srgbClr val="1B2430"/>
                </a:solidFill>
                <a:latin typeface="Calibri"/>
              </a:rPr>
              <a:t>13 hand-off and capture</a:t>
            </a:r>
          </a:p>
        </p:txBody>
      </p:sp>
      <p:sp>
        <p:nvSpPr>
          <p:cNvPr id="20" name="gate"/>
          <p:cNvSpPr/>
          <p:nvPr/>
        </p:nvSpPr>
        <p:spPr>
          <a:xfrm>
            <a:off x="2697480" y="3657600"/>
            <a:ext cx="457200" cy="457200"/>
          </a:xfrm>
          <a:prstGeom prst="diamond">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828800" y="4206240"/>
            <a:ext cx="2194560" cy="365760"/>
          </a:xfrm>
          <a:prstGeom prst="rect">
            <a:avLst/>
          </a:prstGeom>
          <a:noFill/>
        </p:spPr>
        <p:txBody>
          <a:bodyPr wrap="square" lIns="0" rIns="0" tIns="0" bIns="0" anchor="t">
            <a:spAutoFit/>
          </a:bodyPr>
          <a:lstStyle/>
          <a:p>
            <a:pPr algn="ctr"/>
            <a:r>
              <a:rPr sz="1200" b="1" i="0">
                <a:solidFill>
                  <a:srgbClr val="D9534F"/>
                </a:solidFill>
                <a:latin typeface="Calibri"/>
              </a:rPr>
              <a:t>Gate 1  intent</a:t>
            </a:r>
          </a:p>
        </p:txBody>
      </p:sp>
      <p:sp>
        <p:nvSpPr>
          <p:cNvPr id="22" name="gate"/>
          <p:cNvSpPr/>
          <p:nvPr/>
        </p:nvSpPr>
        <p:spPr>
          <a:xfrm>
            <a:off x="5029200" y="3657600"/>
            <a:ext cx="457200" cy="457200"/>
          </a:xfrm>
          <a:prstGeom prst="diamond">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160520" y="4206240"/>
            <a:ext cx="2194560" cy="365760"/>
          </a:xfrm>
          <a:prstGeom prst="rect">
            <a:avLst/>
          </a:prstGeom>
          <a:noFill/>
        </p:spPr>
        <p:txBody>
          <a:bodyPr wrap="square" lIns="0" rIns="0" tIns="0" bIns="0" anchor="t">
            <a:spAutoFit/>
          </a:bodyPr>
          <a:lstStyle/>
          <a:p>
            <a:pPr algn="ctr"/>
            <a:r>
              <a:rPr sz="1200" b="1" i="0">
                <a:solidFill>
                  <a:srgbClr val="D9534F"/>
                </a:solidFill>
                <a:latin typeface="Calibri"/>
              </a:rPr>
              <a:t>Gate 2  decomposition</a:t>
            </a:r>
          </a:p>
        </p:txBody>
      </p:sp>
      <p:sp>
        <p:nvSpPr>
          <p:cNvPr id="24" name="gate"/>
          <p:cNvSpPr/>
          <p:nvPr/>
        </p:nvSpPr>
        <p:spPr>
          <a:xfrm>
            <a:off x="9692640" y="3657600"/>
            <a:ext cx="457200" cy="457200"/>
          </a:xfrm>
          <a:prstGeom prst="diamond">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23960" y="4206240"/>
            <a:ext cx="2194560" cy="365760"/>
          </a:xfrm>
          <a:prstGeom prst="rect">
            <a:avLst/>
          </a:prstGeom>
          <a:noFill/>
        </p:spPr>
        <p:txBody>
          <a:bodyPr wrap="square" lIns="0" rIns="0" tIns="0" bIns="0" anchor="t">
            <a:spAutoFit/>
          </a:bodyPr>
          <a:lstStyle/>
          <a:p>
            <a:pPr algn="ctr"/>
            <a:r>
              <a:rPr sz="1200" b="1" i="0">
                <a:solidFill>
                  <a:srgbClr val="D9534F"/>
                </a:solidFill>
                <a:latin typeface="Calibri"/>
              </a:rPr>
              <a:t>Gate 3  implementation review</a:t>
            </a:r>
          </a:p>
        </p:txBody>
      </p:sp>
      <p:sp>
        <p:nvSpPr>
          <p:cNvPr id="26" name="card"/>
          <p:cNvSpPr/>
          <p:nvPr/>
        </p:nvSpPr>
        <p:spPr>
          <a:xfrm>
            <a:off x="548640" y="4892040"/>
            <a:ext cx="11064240" cy="11887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5029200"/>
            <a:ext cx="10607040" cy="914400"/>
          </a:xfrm>
          <a:prstGeom prst="rect">
            <a:avLst/>
          </a:prstGeom>
          <a:noFill/>
        </p:spPr>
        <p:txBody>
          <a:bodyPr wrap="square" lIns="0" rIns="0" tIns="0" bIns="0" anchor="t">
            <a:spAutoFit/>
          </a:bodyPr>
          <a:lstStyle/>
          <a:p>
            <a:pPr algn="l"/>
            <a:r>
              <a:rPr sz="1300" b="0" i="0">
                <a:solidFill>
                  <a:srgbClr val="1B2430"/>
                </a:solidFill>
                <a:latin typeface="Calibri"/>
              </a:rPr>
              <a:t>After Gate 2 the agent does not stop for a question until Gate 3: it records every assumption and every fix in design/decisions.md and reports them. A design that already exists enters at the stage its mode gives (extend an arch2code project, vary a captured design, extend a Propel SoC, debug) with a delta intent record instead of a new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What the engineer does, what the agent does</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4</a:t>
            </a:r>
          </a:p>
        </p:txBody>
      </p:sp>
      <p:sp>
        <p:nvSpPr>
          <p:cNvPr id="5" name="lane"/>
          <p:cNvSpPr/>
          <p:nvPr/>
        </p:nvSpPr>
        <p:spPr>
          <a:xfrm>
            <a:off x="548640" y="1325880"/>
            <a:ext cx="1463040" cy="1737360"/>
          </a:xfrm>
          <a:prstGeom prst="roundRect">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965960"/>
            <a:ext cx="1463040" cy="457200"/>
          </a:xfrm>
          <a:prstGeom prst="rect">
            <a:avLst/>
          </a:prstGeom>
          <a:noFill/>
        </p:spPr>
        <p:txBody>
          <a:bodyPr wrap="square" lIns="0" rIns="0" tIns="0" bIns="0" anchor="t">
            <a:spAutoFit/>
          </a:bodyPr>
          <a:lstStyle/>
          <a:p>
            <a:pPr algn="ctr"/>
            <a:r>
              <a:rPr sz="1800" b="1" i="0">
                <a:solidFill>
                  <a:srgbClr val="FFFFFF"/>
                </a:solidFill>
                <a:latin typeface="Calibri"/>
              </a:rPr>
              <a:t>Engineer</a:t>
            </a:r>
          </a:p>
        </p:txBody>
      </p:sp>
      <p:sp>
        <p:nvSpPr>
          <p:cNvPr id="7" name="lane"/>
          <p:cNvSpPr/>
          <p:nvPr/>
        </p:nvSpPr>
        <p:spPr>
          <a:xfrm>
            <a:off x="548640" y="3977639"/>
            <a:ext cx="1463040" cy="17373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4617720"/>
            <a:ext cx="1463040" cy="457200"/>
          </a:xfrm>
          <a:prstGeom prst="rect">
            <a:avLst/>
          </a:prstGeom>
          <a:noFill/>
        </p:spPr>
        <p:txBody>
          <a:bodyPr wrap="square" lIns="0" rIns="0" tIns="0" bIns="0" anchor="t">
            <a:spAutoFit/>
          </a:bodyPr>
          <a:lstStyle/>
          <a:p>
            <a:pPr algn="ctr"/>
            <a:r>
              <a:rPr sz="1800" b="1" i="0">
                <a:solidFill>
                  <a:srgbClr val="FFFFFF"/>
                </a:solidFill>
                <a:latin typeface="Calibri"/>
              </a:rPr>
              <a:t>Agent</a:t>
            </a:r>
          </a:p>
        </p:txBody>
      </p:sp>
      <p:sp>
        <p:nvSpPr>
          <p:cNvPr id="9" name="icon"/>
          <p:cNvSpPr/>
          <p:nvPr/>
        </p:nvSpPr>
        <p:spPr>
          <a:xfrm>
            <a:off x="2377440" y="141732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1</a:t>
            </a:r>
          </a:p>
        </p:txBody>
      </p:sp>
      <p:sp>
        <p:nvSpPr>
          <p:cNvPr id="10" name="TextBox 9"/>
          <p:cNvSpPr txBox="1"/>
          <p:nvPr/>
        </p:nvSpPr>
        <p:spPr>
          <a:xfrm>
            <a:off x="3063240" y="1399032"/>
            <a:ext cx="1600200" cy="274320"/>
          </a:xfrm>
          <a:prstGeom prst="rect">
            <a:avLst/>
          </a:prstGeom>
          <a:noFill/>
        </p:spPr>
        <p:txBody>
          <a:bodyPr wrap="square" lIns="0" rIns="0" tIns="0" bIns="0" anchor="t">
            <a:spAutoFit/>
          </a:bodyPr>
          <a:lstStyle/>
          <a:p>
            <a:pPr algn="l"/>
            <a:r>
              <a:rPr sz="1300" b="1" i="0">
                <a:solidFill>
                  <a:srgbClr val="1B2430"/>
                </a:solidFill>
                <a:latin typeface="Calibri"/>
              </a:rPr>
              <a:t>Answers the intake</a:t>
            </a:r>
          </a:p>
        </p:txBody>
      </p:sp>
      <p:sp>
        <p:nvSpPr>
          <p:cNvPr id="11" name="TextBox 10"/>
          <p:cNvSpPr txBox="1"/>
          <p:nvPr/>
        </p:nvSpPr>
        <p:spPr>
          <a:xfrm>
            <a:off x="3063240" y="1673352"/>
            <a:ext cx="1600200" cy="1188720"/>
          </a:xfrm>
          <a:prstGeom prst="rect">
            <a:avLst/>
          </a:prstGeom>
          <a:noFill/>
        </p:spPr>
        <p:txBody>
          <a:bodyPr wrap="square" lIns="0" rIns="0" tIns="0" bIns="0" anchor="t">
            <a:spAutoFit/>
          </a:bodyPr>
          <a:lstStyle/>
          <a:p>
            <a:pPr algn="l"/>
            <a:r>
              <a:rPr sz="1100" b="0" i="0">
                <a:solidFill>
                  <a:srgbClr val="1B2430"/>
                </a:solidFill>
                <a:latin typeface="Calibri"/>
              </a:rPr>
              <a:t>function, interfaces, performance, software view, reuse, device, verification, end point, environment</a:t>
            </a:r>
          </a:p>
        </p:txBody>
      </p:sp>
      <p:sp>
        <p:nvSpPr>
          <p:cNvPr id="12" name="icon"/>
          <p:cNvSpPr/>
          <p:nvPr/>
        </p:nvSpPr>
        <p:spPr>
          <a:xfrm>
            <a:off x="4754880" y="141732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2</a:t>
            </a:r>
          </a:p>
        </p:txBody>
      </p:sp>
      <p:sp>
        <p:nvSpPr>
          <p:cNvPr id="13" name="TextBox 12"/>
          <p:cNvSpPr txBox="1"/>
          <p:nvPr/>
        </p:nvSpPr>
        <p:spPr>
          <a:xfrm>
            <a:off x="5440680" y="1399032"/>
            <a:ext cx="1600200" cy="274320"/>
          </a:xfrm>
          <a:prstGeom prst="rect">
            <a:avLst/>
          </a:prstGeom>
          <a:noFill/>
        </p:spPr>
        <p:txBody>
          <a:bodyPr wrap="square" lIns="0" rIns="0" tIns="0" bIns="0" anchor="t">
            <a:spAutoFit/>
          </a:bodyPr>
          <a:lstStyle/>
          <a:p>
            <a:pPr algn="l"/>
            <a:r>
              <a:rPr sz="1300" b="1" i="0">
                <a:solidFill>
                  <a:srgbClr val="1B2430"/>
                </a:solidFill>
                <a:latin typeface="Calibri"/>
              </a:rPr>
              <a:t>Approves the gates</a:t>
            </a:r>
          </a:p>
        </p:txBody>
      </p:sp>
      <p:sp>
        <p:nvSpPr>
          <p:cNvPr id="14" name="TextBox 13"/>
          <p:cNvSpPr txBox="1"/>
          <p:nvPr/>
        </p:nvSpPr>
        <p:spPr>
          <a:xfrm>
            <a:off x="5440680" y="1673352"/>
            <a:ext cx="1600200" cy="1188720"/>
          </a:xfrm>
          <a:prstGeom prst="rect">
            <a:avLst/>
          </a:prstGeom>
          <a:noFill/>
        </p:spPr>
        <p:txBody>
          <a:bodyPr wrap="square" lIns="0" rIns="0" tIns="0" bIns="0" anchor="t">
            <a:spAutoFit/>
          </a:bodyPr>
          <a:lstStyle/>
          <a:p>
            <a:pPr algn="l"/>
            <a:r>
              <a:rPr sz="1100" b="0" i="0">
                <a:solidFill>
                  <a:srgbClr val="1B2430"/>
                </a:solidFill>
                <a:latin typeface="Calibri"/>
              </a:rPr>
              <a:t>intent, decomposition with the SoC and implementation tables, implementation review</a:t>
            </a:r>
          </a:p>
        </p:txBody>
      </p:sp>
      <p:sp>
        <p:nvSpPr>
          <p:cNvPr id="15" name="icon"/>
          <p:cNvSpPr/>
          <p:nvPr/>
        </p:nvSpPr>
        <p:spPr>
          <a:xfrm>
            <a:off x="7132320" y="141732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3</a:t>
            </a:r>
          </a:p>
        </p:txBody>
      </p:sp>
      <p:sp>
        <p:nvSpPr>
          <p:cNvPr id="16" name="TextBox 15"/>
          <p:cNvSpPr txBox="1"/>
          <p:nvPr/>
        </p:nvSpPr>
        <p:spPr>
          <a:xfrm>
            <a:off x="7818120" y="1399032"/>
            <a:ext cx="1600200" cy="274320"/>
          </a:xfrm>
          <a:prstGeom prst="rect">
            <a:avLst/>
          </a:prstGeom>
          <a:noFill/>
        </p:spPr>
        <p:txBody>
          <a:bodyPr wrap="square" lIns="0" rIns="0" tIns="0" bIns="0" anchor="t">
            <a:spAutoFit/>
          </a:bodyPr>
          <a:lstStyle/>
          <a:p>
            <a:pPr algn="l"/>
            <a:r>
              <a:rPr sz="1300" b="1" i="0">
                <a:solidFill>
                  <a:srgbClr val="1B2430"/>
                </a:solidFill>
                <a:latin typeface="Calibri"/>
              </a:rPr>
              <a:t>Answers governance</a:t>
            </a:r>
          </a:p>
        </p:txBody>
      </p:sp>
      <p:sp>
        <p:nvSpPr>
          <p:cNvPr id="17" name="TextBox 16"/>
          <p:cNvSpPr txBox="1"/>
          <p:nvPr/>
        </p:nvSpPr>
        <p:spPr>
          <a:xfrm>
            <a:off x="7818120" y="1673352"/>
            <a:ext cx="1600200" cy="1188720"/>
          </a:xfrm>
          <a:prstGeom prst="rect">
            <a:avLst/>
          </a:prstGeom>
          <a:noFill/>
        </p:spPr>
        <p:txBody>
          <a:bodyPr wrap="square" lIns="0" rIns="0" tIns="0" bIns="0" anchor="t">
            <a:spAutoFit/>
          </a:bodyPr>
          <a:lstStyle/>
          <a:p>
            <a:pPr algn="l"/>
            <a:r>
              <a:rPr sz="1100" b="0" i="0">
                <a:solidFill>
                  <a:srgbClr val="1B2430"/>
                </a:solidFill>
                <a:latin typeface="Calibri"/>
              </a:rPr>
              <a:t>maturity, license, provenance, export control, classification, once, at capture</a:t>
            </a:r>
          </a:p>
        </p:txBody>
      </p:sp>
      <p:sp>
        <p:nvSpPr>
          <p:cNvPr id="18" name="icon"/>
          <p:cNvSpPr/>
          <p:nvPr/>
        </p:nvSpPr>
        <p:spPr>
          <a:xfrm>
            <a:off x="9509760" y="141732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4</a:t>
            </a:r>
          </a:p>
        </p:txBody>
      </p:sp>
      <p:sp>
        <p:nvSpPr>
          <p:cNvPr id="19" name="TextBox 18"/>
          <p:cNvSpPr txBox="1"/>
          <p:nvPr/>
        </p:nvSpPr>
        <p:spPr>
          <a:xfrm>
            <a:off x="10195560" y="1399032"/>
            <a:ext cx="1600200" cy="274320"/>
          </a:xfrm>
          <a:prstGeom prst="rect">
            <a:avLst/>
          </a:prstGeom>
          <a:noFill/>
        </p:spPr>
        <p:txBody>
          <a:bodyPr wrap="square" lIns="0" rIns="0" tIns="0" bIns="0" anchor="t">
            <a:spAutoFit/>
          </a:bodyPr>
          <a:lstStyle/>
          <a:p>
            <a:pPr algn="l"/>
            <a:r>
              <a:rPr sz="1300" b="1" i="0">
                <a:solidFill>
                  <a:srgbClr val="1B2430"/>
                </a:solidFill>
                <a:latin typeface="Calibri"/>
              </a:rPr>
              <a:t>Holds the hardware</a:t>
            </a:r>
          </a:p>
        </p:txBody>
      </p:sp>
      <p:sp>
        <p:nvSpPr>
          <p:cNvPr id="20" name="TextBox 19"/>
          <p:cNvSpPr txBox="1"/>
          <p:nvPr/>
        </p:nvSpPr>
        <p:spPr>
          <a:xfrm>
            <a:off x="10195560" y="1673352"/>
            <a:ext cx="1600200" cy="1188720"/>
          </a:xfrm>
          <a:prstGeom prst="rect">
            <a:avLst/>
          </a:prstGeom>
          <a:noFill/>
        </p:spPr>
        <p:txBody>
          <a:bodyPr wrap="square" lIns="0" rIns="0" tIns="0" bIns="0" anchor="t">
            <a:spAutoFit/>
          </a:bodyPr>
          <a:lstStyle/>
          <a:p>
            <a:pPr algn="l"/>
            <a:r>
              <a:rPr sz="1100" b="0" i="0">
                <a:solidFill>
                  <a:srgbClr val="1B2430"/>
                </a:solidFill>
                <a:latin typeface="Calibri"/>
              </a:rPr>
              <a:t>board, cable, smoke test observation</a:t>
            </a:r>
          </a:p>
        </p:txBody>
      </p:sp>
      <p:sp>
        <p:nvSpPr>
          <p:cNvPr id="21" name="icon"/>
          <p:cNvSpPr/>
          <p:nvPr/>
        </p:nvSpPr>
        <p:spPr>
          <a:xfrm>
            <a:off x="2377440" y="4069080"/>
            <a:ext cx="502920" cy="5029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1</a:t>
            </a:r>
          </a:p>
        </p:txBody>
      </p:sp>
      <p:sp>
        <p:nvSpPr>
          <p:cNvPr id="22" name="TextBox 21"/>
          <p:cNvSpPr txBox="1"/>
          <p:nvPr/>
        </p:nvSpPr>
        <p:spPr>
          <a:xfrm>
            <a:off x="3063240" y="4050792"/>
            <a:ext cx="1600200" cy="274320"/>
          </a:xfrm>
          <a:prstGeom prst="rect">
            <a:avLst/>
          </a:prstGeom>
          <a:noFill/>
        </p:spPr>
        <p:txBody>
          <a:bodyPr wrap="square" lIns="0" rIns="0" tIns="0" bIns="0" anchor="t">
            <a:spAutoFit/>
          </a:bodyPr>
          <a:lstStyle/>
          <a:p>
            <a:pPr algn="l"/>
            <a:r>
              <a:rPr sz="1300" b="1" i="0">
                <a:solidFill>
                  <a:srgbClr val="1B2430"/>
                </a:solidFill>
                <a:latin typeface="Calibri"/>
              </a:rPr>
              <a:t>Searches</a:t>
            </a:r>
          </a:p>
        </p:txBody>
      </p:sp>
      <p:sp>
        <p:nvSpPr>
          <p:cNvPr id="23" name="TextBox 22"/>
          <p:cNvSpPr txBox="1"/>
          <p:nvPr/>
        </p:nvSpPr>
        <p:spPr>
          <a:xfrm>
            <a:off x="3063240" y="4325112"/>
            <a:ext cx="1600200" cy="1188720"/>
          </a:xfrm>
          <a:prstGeom prst="rect">
            <a:avLst/>
          </a:prstGeom>
          <a:noFill/>
        </p:spPr>
        <p:txBody>
          <a:bodyPr wrap="square" lIns="0" rIns="0" tIns="0" bIns="0" anchor="t">
            <a:spAutoFit/>
          </a:bodyPr>
          <a:lstStyle/>
          <a:p>
            <a:pPr algn="l"/>
            <a:r>
              <a:rPr sz="1100" b="0" i="0">
                <a:solidFill>
                  <a:srgbClr val="1B2430"/>
                </a:solidFill>
                <a:latin typeface="Calibri"/>
              </a:rPr>
              <a:t>designs, modules, patterns, IP, boards, skills; rejections recorded</a:t>
            </a:r>
          </a:p>
        </p:txBody>
      </p:sp>
      <p:sp>
        <p:nvSpPr>
          <p:cNvPr id="24" name="icon"/>
          <p:cNvSpPr/>
          <p:nvPr/>
        </p:nvSpPr>
        <p:spPr>
          <a:xfrm>
            <a:off x="4754880" y="4069080"/>
            <a:ext cx="502920" cy="5029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2</a:t>
            </a:r>
          </a:p>
        </p:txBody>
      </p:sp>
      <p:sp>
        <p:nvSpPr>
          <p:cNvPr id="25" name="TextBox 24"/>
          <p:cNvSpPr txBox="1"/>
          <p:nvPr/>
        </p:nvSpPr>
        <p:spPr>
          <a:xfrm>
            <a:off x="5440680" y="4050792"/>
            <a:ext cx="1600200" cy="274320"/>
          </a:xfrm>
          <a:prstGeom prst="rect">
            <a:avLst/>
          </a:prstGeom>
          <a:noFill/>
        </p:spPr>
        <p:txBody>
          <a:bodyPr wrap="square" lIns="0" rIns="0" tIns="0" bIns="0" anchor="t">
            <a:spAutoFit/>
          </a:bodyPr>
          <a:lstStyle/>
          <a:p>
            <a:pPr algn="l"/>
            <a:r>
              <a:rPr sz="1300" b="1" i="0">
                <a:solidFill>
                  <a:srgbClr val="1B2430"/>
                </a:solidFill>
                <a:latin typeface="Calibri"/>
              </a:rPr>
              <a:t>Generates</a:t>
            </a:r>
          </a:p>
        </p:txBody>
      </p:sp>
      <p:sp>
        <p:nvSpPr>
          <p:cNvPr id="26" name="TextBox 25"/>
          <p:cNvSpPr txBox="1"/>
          <p:nvPr/>
        </p:nvSpPr>
        <p:spPr>
          <a:xfrm>
            <a:off x="5440680" y="4325112"/>
            <a:ext cx="1600200" cy="1188720"/>
          </a:xfrm>
          <a:prstGeom prst="rect">
            <a:avLst/>
          </a:prstGeom>
          <a:noFill/>
        </p:spPr>
        <p:txBody>
          <a:bodyPr wrap="square" lIns="0" rIns="0" tIns="0" bIns="0" anchor="t">
            <a:spAutoFit/>
          </a:bodyPr>
          <a:lstStyle/>
          <a:p>
            <a:pPr algn="l"/>
            <a:r>
              <a:rPr sz="1100" b="0" i="0">
                <a:solidFill>
                  <a:srgbClr val="1B2430"/>
                </a:solidFill>
                <a:latin typeface="Calibri"/>
              </a:rPr>
              <a:t>decomposition, YAML, skeletons, stubs, models, headers, documentation</a:t>
            </a:r>
          </a:p>
        </p:txBody>
      </p:sp>
      <p:sp>
        <p:nvSpPr>
          <p:cNvPr id="27" name="icon"/>
          <p:cNvSpPr/>
          <p:nvPr/>
        </p:nvSpPr>
        <p:spPr>
          <a:xfrm>
            <a:off x="7132320" y="4069080"/>
            <a:ext cx="502920" cy="5029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3</a:t>
            </a:r>
          </a:p>
        </p:txBody>
      </p:sp>
      <p:sp>
        <p:nvSpPr>
          <p:cNvPr id="28" name="TextBox 27"/>
          <p:cNvSpPr txBox="1"/>
          <p:nvPr/>
        </p:nvSpPr>
        <p:spPr>
          <a:xfrm>
            <a:off x="7818120" y="4050792"/>
            <a:ext cx="1600200" cy="274320"/>
          </a:xfrm>
          <a:prstGeom prst="rect">
            <a:avLst/>
          </a:prstGeom>
          <a:noFill/>
        </p:spPr>
        <p:txBody>
          <a:bodyPr wrap="square" lIns="0" rIns="0" tIns="0" bIns="0" anchor="t">
            <a:spAutoFit/>
          </a:bodyPr>
          <a:lstStyle/>
          <a:p>
            <a:pPr algn="l"/>
            <a:r>
              <a:rPr sz="1300" b="1" i="0">
                <a:solidFill>
                  <a:srgbClr val="1B2430"/>
                </a:solidFill>
                <a:latin typeface="Calibri"/>
              </a:rPr>
              <a:t>Simulates, builds</a:t>
            </a:r>
          </a:p>
        </p:txBody>
      </p:sp>
      <p:sp>
        <p:nvSpPr>
          <p:cNvPr id="29" name="TextBox 28"/>
          <p:cNvSpPr txBox="1"/>
          <p:nvPr/>
        </p:nvSpPr>
        <p:spPr>
          <a:xfrm>
            <a:off x="7818120" y="4325112"/>
            <a:ext cx="1600200" cy="1188720"/>
          </a:xfrm>
          <a:prstGeom prst="rect">
            <a:avLst/>
          </a:prstGeom>
          <a:noFill/>
        </p:spPr>
        <p:txBody>
          <a:bodyPr wrap="square" lIns="0" rIns="0" tIns="0" bIns="0" anchor="t">
            <a:spAutoFit/>
          </a:bodyPr>
          <a:lstStyle/>
          <a:p>
            <a:pPr algn="l"/>
            <a:r>
              <a:rPr sz="1100" b="0" i="0">
                <a:solidFill>
                  <a:srgbClr val="1B2430"/>
                </a:solidFill>
                <a:latin typeface="Calibri"/>
              </a:rPr>
              <a:t>model, co-simulation, register-access test, Propel session, Radiant, firmware</a:t>
            </a:r>
          </a:p>
        </p:txBody>
      </p:sp>
      <p:sp>
        <p:nvSpPr>
          <p:cNvPr id="30" name="icon"/>
          <p:cNvSpPr/>
          <p:nvPr/>
        </p:nvSpPr>
        <p:spPr>
          <a:xfrm>
            <a:off x="9509760" y="4069080"/>
            <a:ext cx="502920" cy="5029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4</a:t>
            </a:r>
          </a:p>
        </p:txBody>
      </p:sp>
      <p:sp>
        <p:nvSpPr>
          <p:cNvPr id="31" name="TextBox 30"/>
          <p:cNvSpPr txBox="1"/>
          <p:nvPr/>
        </p:nvSpPr>
        <p:spPr>
          <a:xfrm>
            <a:off x="10195560" y="4050792"/>
            <a:ext cx="1600200" cy="274320"/>
          </a:xfrm>
          <a:prstGeom prst="rect">
            <a:avLst/>
          </a:prstGeom>
          <a:noFill/>
        </p:spPr>
        <p:txBody>
          <a:bodyPr wrap="square" lIns="0" rIns="0" tIns="0" bIns="0" anchor="t">
            <a:spAutoFit/>
          </a:bodyPr>
          <a:lstStyle/>
          <a:p>
            <a:pPr algn="l"/>
            <a:r>
              <a:rPr sz="1300" b="1" i="0">
                <a:solidFill>
                  <a:srgbClr val="1B2430"/>
                </a:solidFill>
                <a:latin typeface="Calibri"/>
              </a:rPr>
              <a:t>Records</a:t>
            </a:r>
          </a:p>
        </p:txBody>
      </p:sp>
      <p:sp>
        <p:nvSpPr>
          <p:cNvPr id="32" name="TextBox 31"/>
          <p:cNvSpPr txBox="1"/>
          <p:nvPr/>
        </p:nvSpPr>
        <p:spPr>
          <a:xfrm>
            <a:off x="10195560" y="4325112"/>
            <a:ext cx="1600200" cy="1188720"/>
          </a:xfrm>
          <a:prstGeom prst="rect">
            <a:avLst/>
          </a:prstGeom>
          <a:noFill/>
        </p:spPr>
        <p:txBody>
          <a:bodyPr wrap="square" lIns="0" rIns="0" tIns="0" bIns="0" anchor="t">
            <a:spAutoFit/>
          </a:bodyPr>
          <a:lstStyle/>
          <a:p>
            <a:pPr algn="l"/>
            <a:r>
              <a:rPr sz="1100" b="0" i="0">
                <a:solidFill>
                  <a:srgbClr val="1B2430"/>
                </a:solidFill>
                <a:latin typeface="Calibri"/>
              </a:rPr>
              <a:t>assumptions, fixes, derivations, open items, hand-off, capture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Six records make the flow restartable</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5</a:t>
            </a:r>
          </a:p>
        </p:txBody>
      </p:sp>
      <p:sp>
        <p:nvSpPr>
          <p:cNvPr id="5" name="card"/>
          <p:cNvSpPr/>
          <p:nvPr/>
        </p:nvSpPr>
        <p:spPr>
          <a:xfrm>
            <a:off x="548640" y="1371600"/>
            <a:ext cx="3566160" cy="19202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p:cNvSpPr/>
          <p:nvPr/>
        </p:nvSpPr>
        <p:spPr>
          <a:xfrm>
            <a:off x="731520" y="155448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1</a:t>
            </a:r>
          </a:p>
        </p:txBody>
      </p:sp>
      <p:sp>
        <p:nvSpPr>
          <p:cNvPr id="7" name="TextBox 6"/>
          <p:cNvSpPr txBox="1"/>
          <p:nvPr/>
        </p:nvSpPr>
        <p:spPr>
          <a:xfrm>
            <a:off x="1325880" y="1618488"/>
            <a:ext cx="2651760" cy="365760"/>
          </a:xfrm>
          <a:prstGeom prst="rect">
            <a:avLst/>
          </a:prstGeom>
          <a:noFill/>
        </p:spPr>
        <p:txBody>
          <a:bodyPr wrap="square" lIns="0" rIns="0" tIns="0" bIns="0" anchor="t">
            <a:spAutoFit/>
          </a:bodyPr>
          <a:lstStyle/>
          <a:p>
            <a:pPr algn="l"/>
            <a:r>
              <a:rPr sz="1500" b="1" i="0">
                <a:solidFill>
                  <a:srgbClr val="1C7293"/>
                </a:solidFill>
                <a:latin typeface="Calibri"/>
              </a:rPr>
              <a:t>intent.yaml</a:t>
            </a:r>
          </a:p>
        </p:txBody>
      </p:sp>
      <p:sp>
        <p:nvSpPr>
          <p:cNvPr id="8" name="TextBox 7"/>
          <p:cNvSpPr txBox="1"/>
          <p:nvPr/>
        </p:nvSpPr>
        <p:spPr>
          <a:xfrm>
            <a:off x="731520" y="2148840"/>
            <a:ext cx="3200400" cy="1097280"/>
          </a:xfrm>
          <a:prstGeom prst="rect">
            <a:avLst/>
          </a:prstGeom>
          <a:noFill/>
        </p:spPr>
        <p:txBody>
          <a:bodyPr wrap="square" lIns="0" rIns="0" tIns="0" bIns="0" anchor="t">
            <a:spAutoFit/>
          </a:bodyPr>
          <a:lstStyle/>
          <a:p>
            <a:pPr algn="l"/>
            <a:r>
              <a:rPr sz="1200" b="0" i="0">
                <a:solidFill>
                  <a:srgbClr val="1B2430"/>
                </a:solidFill>
                <a:latin typeface="Calibri"/>
              </a:rPr>
              <a:t>The intake answers, assumptions and open questions; frozen at Gate 1. A delta record for an existing design.</a:t>
            </a:r>
          </a:p>
        </p:txBody>
      </p:sp>
      <p:sp>
        <p:nvSpPr>
          <p:cNvPr id="9" name="card"/>
          <p:cNvSpPr/>
          <p:nvPr/>
        </p:nvSpPr>
        <p:spPr>
          <a:xfrm>
            <a:off x="4297679" y="1371600"/>
            <a:ext cx="3566160" cy="19202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con"/>
          <p:cNvSpPr/>
          <p:nvPr/>
        </p:nvSpPr>
        <p:spPr>
          <a:xfrm>
            <a:off x="4480559" y="155448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2</a:t>
            </a:r>
          </a:p>
        </p:txBody>
      </p:sp>
      <p:sp>
        <p:nvSpPr>
          <p:cNvPr id="11" name="TextBox 10"/>
          <p:cNvSpPr txBox="1"/>
          <p:nvPr/>
        </p:nvSpPr>
        <p:spPr>
          <a:xfrm>
            <a:off x="5074919" y="1618488"/>
            <a:ext cx="2651760" cy="365760"/>
          </a:xfrm>
          <a:prstGeom prst="rect">
            <a:avLst/>
          </a:prstGeom>
          <a:noFill/>
        </p:spPr>
        <p:txBody>
          <a:bodyPr wrap="square" lIns="0" rIns="0" tIns="0" bIns="0" anchor="t">
            <a:spAutoFit/>
          </a:bodyPr>
          <a:lstStyle/>
          <a:p>
            <a:pPr algn="l"/>
            <a:r>
              <a:rPr sz="1500" b="1" i="0">
                <a:solidFill>
                  <a:srgbClr val="1C7293"/>
                </a:solidFill>
                <a:latin typeface="Calibri"/>
              </a:rPr>
              <a:t>decomposition.md</a:t>
            </a:r>
          </a:p>
        </p:txBody>
      </p:sp>
      <p:sp>
        <p:nvSpPr>
          <p:cNvPr id="12" name="TextBox 11"/>
          <p:cNvSpPr txBox="1"/>
          <p:nvPr/>
        </p:nvSpPr>
        <p:spPr>
          <a:xfrm>
            <a:off x="4480559" y="2148840"/>
            <a:ext cx="3200400" cy="1097280"/>
          </a:xfrm>
          <a:prstGeom prst="rect">
            <a:avLst/>
          </a:prstGeom>
          <a:noFill/>
        </p:spPr>
        <p:txBody>
          <a:bodyPr wrap="square" lIns="0" rIns="0" tIns="0" bIns="0" anchor="t">
            <a:spAutoFit/>
          </a:bodyPr>
          <a:lstStyle/>
          <a:p>
            <a:pPr algn="l"/>
            <a:r>
              <a:rPr sz="1200" b="0" i="0">
                <a:solidFill>
                  <a:srgbClr val="1B2430"/>
                </a:solidFill>
                <a:latin typeface="Calibri"/>
              </a:rPr>
              <a:t>Blocks, origins, interfaces, the implementation plan table and, on the SoC branch, the SoC table.</a:t>
            </a:r>
          </a:p>
        </p:txBody>
      </p:sp>
      <p:sp>
        <p:nvSpPr>
          <p:cNvPr id="13" name="card"/>
          <p:cNvSpPr/>
          <p:nvPr/>
        </p:nvSpPr>
        <p:spPr>
          <a:xfrm>
            <a:off x="8046719" y="1371600"/>
            <a:ext cx="3566160" cy="19202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
          <p:cNvSpPr/>
          <p:nvPr/>
        </p:nvSpPr>
        <p:spPr>
          <a:xfrm>
            <a:off x="8229599" y="155448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3</a:t>
            </a:r>
          </a:p>
        </p:txBody>
      </p:sp>
      <p:sp>
        <p:nvSpPr>
          <p:cNvPr id="15" name="TextBox 14"/>
          <p:cNvSpPr txBox="1"/>
          <p:nvPr/>
        </p:nvSpPr>
        <p:spPr>
          <a:xfrm>
            <a:off x="8823959" y="1618488"/>
            <a:ext cx="2651760" cy="365760"/>
          </a:xfrm>
          <a:prstGeom prst="rect">
            <a:avLst/>
          </a:prstGeom>
          <a:noFill/>
        </p:spPr>
        <p:txBody>
          <a:bodyPr wrap="square" lIns="0" rIns="0" tIns="0" bIns="0" anchor="t">
            <a:spAutoFit/>
          </a:bodyPr>
          <a:lstStyle/>
          <a:p>
            <a:pPr algn="l"/>
            <a:r>
              <a:rPr sz="1500" b="1" i="0">
                <a:solidFill>
                  <a:srgbClr val="1C7293"/>
                </a:solidFill>
                <a:latin typeface="Calibri"/>
              </a:rPr>
              <a:t>decisions.md</a:t>
            </a:r>
          </a:p>
        </p:txBody>
      </p:sp>
      <p:sp>
        <p:nvSpPr>
          <p:cNvPr id="16" name="TextBox 15"/>
          <p:cNvSpPr txBox="1"/>
          <p:nvPr/>
        </p:nvSpPr>
        <p:spPr>
          <a:xfrm>
            <a:off x="8229599" y="2148840"/>
            <a:ext cx="3200400" cy="1097280"/>
          </a:xfrm>
          <a:prstGeom prst="rect">
            <a:avLst/>
          </a:prstGeom>
          <a:noFill/>
        </p:spPr>
        <p:txBody>
          <a:bodyPr wrap="square" lIns="0" rIns="0" tIns="0" bIns="0" anchor="t">
            <a:spAutoFit/>
          </a:bodyPr>
          <a:lstStyle/>
          <a:p>
            <a:pPr algn="l"/>
            <a:r>
              <a:rPr sz="1200" b="0" i="0">
                <a:solidFill>
                  <a:srgbClr val="1B2430"/>
                </a:solidFill>
                <a:latin typeface="Calibri"/>
              </a:rPr>
              <a:t>Append-only log: every candidate selected or rejected with its reason, every gate, assumption, fix, derivation and open item.</a:t>
            </a:r>
          </a:p>
        </p:txBody>
      </p:sp>
      <p:sp>
        <p:nvSpPr>
          <p:cNvPr id="17" name="card"/>
          <p:cNvSpPr/>
          <p:nvPr/>
        </p:nvSpPr>
        <p:spPr>
          <a:xfrm>
            <a:off x="548640" y="3520440"/>
            <a:ext cx="3566160" cy="19202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con"/>
          <p:cNvSpPr/>
          <p:nvPr/>
        </p:nvSpPr>
        <p:spPr>
          <a:xfrm>
            <a:off x="731520" y="370332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4</a:t>
            </a:r>
          </a:p>
        </p:txBody>
      </p:sp>
      <p:sp>
        <p:nvSpPr>
          <p:cNvPr id="19" name="TextBox 18"/>
          <p:cNvSpPr txBox="1"/>
          <p:nvPr/>
        </p:nvSpPr>
        <p:spPr>
          <a:xfrm>
            <a:off x="1325880" y="3767328"/>
            <a:ext cx="2651760" cy="365760"/>
          </a:xfrm>
          <a:prstGeom prst="rect">
            <a:avLst/>
          </a:prstGeom>
          <a:noFill/>
        </p:spPr>
        <p:txBody>
          <a:bodyPr wrap="square" lIns="0" rIns="0" tIns="0" bIns="0" anchor="t">
            <a:spAutoFit/>
          </a:bodyPr>
          <a:lstStyle/>
          <a:p>
            <a:pPr algn="l"/>
            <a:r>
              <a:rPr sz="1500" b="1" i="0">
                <a:solidFill>
                  <a:srgbClr val="1C7293"/>
                </a:solidFill>
                <a:latin typeface="Calibri"/>
              </a:rPr>
              <a:t>ip-bindings.yaml</a:t>
            </a:r>
          </a:p>
        </p:txBody>
      </p:sp>
      <p:sp>
        <p:nvSpPr>
          <p:cNvPr id="20" name="TextBox 19"/>
          <p:cNvSpPr txBox="1"/>
          <p:nvPr/>
        </p:nvSpPr>
        <p:spPr>
          <a:xfrm>
            <a:off x="731520" y="4297680"/>
            <a:ext cx="3200400" cy="1097280"/>
          </a:xfrm>
          <a:prstGeom prst="rect">
            <a:avLst/>
          </a:prstGeom>
          <a:noFill/>
        </p:spPr>
        <p:txBody>
          <a:bodyPr wrap="square" lIns="0" rIns="0" tIns="0" bIns="0" anchor="t">
            <a:spAutoFit/>
          </a:bodyPr>
          <a:lstStyle/>
          <a:p>
            <a:pPr algn="l"/>
            <a:r>
              <a:rPr sz="1200" b="0" i="0">
                <a:solidFill>
                  <a:srgbClr val="1B2430"/>
                </a:solidFill>
                <a:latin typeface="Calibri"/>
              </a:rPr>
              <a:t>The IP cores and versions bound to the design, the donor design and its capture commit.</a:t>
            </a:r>
          </a:p>
        </p:txBody>
      </p:sp>
      <p:sp>
        <p:nvSpPr>
          <p:cNvPr id="21" name="card"/>
          <p:cNvSpPr/>
          <p:nvPr/>
        </p:nvSpPr>
        <p:spPr>
          <a:xfrm>
            <a:off x="4297679" y="3520440"/>
            <a:ext cx="3566160" cy="19202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con"/>
          <p:cNvSpPr/>
          <p:nvPr/>
        </p:nvSpPr>
        <p:spPr>
          <a:xfrm>
            <a:off x="4480559" y="370332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5</a:t>
            </a:r>
          </a:p>
        </p:txBody>
      </p:sp>
      <p:sp>
        <p:nvSpPr>
          <p:cNvPr id="23" name="TextBox 22"/>
          <p:cNvSpPr txBox="1"/>
          <p:nvPr/>
        </p:nvSpPr>
        <p:spPr>
          <a:xfrm>
            <a:off x="5074919" y="3767328"/>
            <a:ext cx="2651760" cy="365760"/>
          </a:xfrm>
          <a:prstGeom prst="rect">
            <a:avLst/>
          </a:prstGeom>
          <a:noFill/>
        </p:spPr>
        <p:txBody>
          <a:bodyPr wrap="square" lIns="0" rIns="0" tIns="0" bIns="0" anchor="t">
            <a:spAutoFit/>
          </a:bodyPr>
          <a:lstStyle/>
          <a:p>
            <a:pPr algn="l"/>
            <a:r>
              <a:rPr sz="1500" b="1" i="0">
                <a:solidFill>
                  <a:srgbClr val="1C7293"/>
                </a:solidFill>
                <a:latin typeface="Calibri"/>
              </a:rPr>
              <a:t>gaps.yaml</a:t>
            </a:r>
          </a:p>
        </p:txBody>
      </p:sp>
      <p:sp>
        <p:nvSpPr>
          <p:cNvPr id="24" name="TextBox 23"/>
          <p:cNvSpPr txBox="1"/>
          <p:nvPr/>
        </p:nvSpPr>
        <p:spPr>
          <a:xfrm>
            <a:off x="4480559" y="4297680"/>
            <a:ext cx="3200400" cy="1097280"/>
          </a:xfrm>
          <a:prstGeom prst="rect">
            <a:avLst/>
          </a:prstGeom>
          <a:noFill/>
        </p:spPr>
        <p:txBody>
          <a:bodyPr wrap="square" lIns="0" rIns="0" tIns="0" bIns="0" anchor="t">
            <a:spAutoFit/>
          </a:bodyPr>
          <a:lstStyle/>
          <a:p>
            <a:pPr algn="l"/>
            <a:r>
              <a:rPr sz="1200" b="0" i="0">
                <a:solidFill>
                  <a:srgbClr val="1B2430"/>
                </a:solidFill>
                <a:latin typeface="Calibri"/>
              </a:rPr>
              <a:t>Facts the knowledge base and the servers could not supply, with the source the engineer used instead.</a:t>
            </a:r>
          </a:p>
        </p:txBody>
      </p:sp>
      <p:sp>
        <p:nvSpPr>
          <p:cNvPr id="25" name="card"/>
          <p:cNvSpPr/>
          <p:nvPr/>
        </p:nvSpPr>
        <p:spPr>
          <a:xfrm>
            <a:off x="8046719" y="3520440"/>
            <a:ext cx="3566160" cy="19202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con"/>
          <p:cNvSpPr/>
          <p:nvPr/>
        </p:nvSpPr>
        <p:spPr>
          <a:xfrm>
            <a:off x="8229599" y="370332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6</a:t>
            </a:r>
          </a:p>
        </p:txBody>
      </p:sp>
      <p:sp>
        <p:nvSpPr>
          <p:cNvPr id="27" name="TextBox 26"/>
          <p:cNvSpPr txBox="1"/>
          <p:nvPr/>
        </p:nvSpPr>
        <p:spPr>
          <a:xfrm>
            <a:off x="8823959" y="3767328"/>
            <a:ext cx="2651760" cy="365760"/>
          </a:xfrm>
          <a:prstGeom prst="rect">
            <a:avLst/>
          </a:prstGeom>
          <a:noFill/>
        </p:spPr>
        <p:txBody>
          <a:bodyPr wrap="square" lIns="0" rIns="0" tIns="0" bIns="0" anchor="t">
            <a:spAutoFit/>
          </a:bodyPr>
          <a:lstStyle/>
          <a:p>
            <a:pPr algn="l"/>
            <a:r>
              <a:rPr sz="1500" b="1" i="0">
                <a:solidFill>
                  <a:srgbClr val="1C7293"/>
                </a:solidFill>
                <a:latin typeface="Calibri"/>
              </a:rPr>
              <a:t>handoff.md</a:t>
            </a:r>
          </a:p>
        </p:txBody>
      </p:sp>
      <p:sp>
        <p:nvSpPr>
          <p:cNvPr id="28" name="TextBox 27"/>
          <p:cNvSpPr txBox="1"/>
          <p:nvPr/>
        </p:nvSpPr>
        <p:spPr>
          <a:xfrm>
            <a:off x="8229599" y="4297680"/>
            <a:ext cx="3200400" cy="1097280"/>
          </a:xfrm>
          <a:prstGeom prst="rect">
            <a:avLst/>
          </a:prstGeom>
          <a:noFill/>
        </p:spPr>
        <p:txBody>
          <a:bodyPr wrap="square" lIns="0" rIns="0" tIns="0" bIns="0" anchor="t">
            <a:spAutoFit/>
          </a:bodyPr>
          <a:lstStyle/>
          <a:p>
            <a:pPr algn="l"/>
            <a:r>
              <a:rPr sz="1200" b="0" i="0">
                <a:solidFill>
                  <a:srgbClr val="1B2430"/>
                </a:solidFill>
                <a:latin typeface="Calibri"/>
              </a:rPr>
              <a:t>Entry mode, approvals, block table, bindings, what simulation proved, derived registers, stages not yet run, risks.</a:t>
            </a:r>
          </a:p>
        </p:txBody>
      </p:sp>
      <p:sp>
        <p:nvSpPr>
          <p:cNvPr id="29" name="pill"/>
          <p:cNvSpPr/>
          <p:nvPr/>
        </p:nvSpPr>
        <p:spPr>
          <a:xfrm>
            <a:off x="3291840" y="5806440"/>
            <a:ext cx="5577840" cy="411480"/>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Calibri"/>
              </a:rPr>
              <a:t>A new session starts from these files, not from memory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Four servers behind one agent, and who answers what</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6</a:t>
            </a:r>
          </a:p>
        </p:txBody>
      </p:sp>
      <p:sp>
        <p:nvSpPr>
          <p:cNvPr id="5" name="hub"/>
          <p:cNvSpPr/>
          <p:nvPr/>
        </p:nvSpPr>
        <p:spPr>
          <a:xfrm>
            <a:off x="4937760" y="2743200"/>
            <a:ext cx="2286000" cy="1371600"/>
          </a:xfrm>
          <a:prstGeom prst="ellipse">
            <a:avLst/>
          </a:prstGeom>
          <a:solidFill>
            <a:srgbClr val="0F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937760" y="3108960"/>
            <a:ext cx="2286000" cy="640080"/>
          </a:xfrm>
          <a:prstGeom prst="rect">
            <a:avLst/>
          </a:prstGeom>
          <a:noFill/>
        </p:spPr>
        <p:txBody>
          <a:bodyPr wrap="square" lIns="0" rIns="0" tIns="0" bIns="0" anchor="t">
            <a:spAutoFit/>
          </a:bodyPr>
          <a:lstStyle/>
          <a:p>
            <a:pPr algn="ctr"/>
            <a:r>
              <a:rPr sz="1500" b="1" i="0">
                <a:solidFill>
                  <a:srgbClr val="FFFFFF"/>
                </a:solidFill>
                <a:latin typeface="Calibri"/>
              </a:rPr>
              <a:t>Claude Code</a:t>
            </a:r>
          </a:p>
          <a:p>
            <a:pPr algn="ctr"/>
            <a:r>
              <a:rPr sz="1500" b="1" i="0">
                <a:solidFill>
                  <a:srgbClr val="FFFFFF"/>
                </a:solidFill>
                <a:latin typeface="Calibri"/>
              </a:rPr>
              <a:t>with the skills</a:t>
            </a:r>
          </a:p>
        </p:txBody>
      </p:sp>
      <p:sp>
        <p:nvSpPr>
          <p:cNvPr id="7" name="card"/>
          <p:cNvSpPr/>
          <p:nvPr/>
        </p:nvSpPr>
        <p:spPr>
          <a:xfrm>
            <a:off x="548640" y="1325880"/>
            <a:ext cx="3383280" cy="17373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con"/>
          <p:cNvSpPr/>
          <p:nvPr/>
        </p:nvSpPr>
        <p:spPr>
          <a:xfrm>
            <a:off x="731520" y="1508760"/>
            <a:ext cx="457200" cy="45720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a:solidFill>
                  <a:srgbClr val="FFFFFF"/>
                </a:solidFill>
                <a:latin typeface="Cambria"/>
              </a:rPr>
              <a:t>a2c</a:t>
            </a:r>
          </a:p>
        </p:txBody>
      </p:sp>
      <p:sp>
        <p:nvSpPr>
          <p:cNvPr id="9" name="TextBox 8"/>
          <p:cNvSpPr txBox="1"/>
          <p:nvPr/>
        </p:nvSpPr>
        <p:spPr>
          <a:xfrm>
            <a:off x="1325880" y="1572768"/>
            <a:ext cx="2468880" cy="365760"/>
          </a:xfrm>
          <a:prstGeom prst="rect">
            <a:avLst/>
          </a:prstGeom>
          <a:noFill/>
        </p:spPr>
        <p:txBody>
          <a:bodyPr wrap="square" lIns="0" rIns="0" tIns="0" bIns="0" anchor="t">
            <a:spAutoFit/>
          </a:bodyPr>
          <a:lstStyle/>
          <a:p>
            <a:pPr algn="l"/>
            <a:r>
              <a:rPr sz="1500" b="1" i="0">
                <a:solidFill>
                  <a:srgbClr val="1B2430"/>
                </a:solidFill>
                <a:latin typeface="Calibri"/>
              </a:rPr>
              <a:t>arch2code</a:t>
            </a:r>
          </a:p>
        </p:txBody>
      </p:sp>
      <p:sp>
        <p:nvSpPr>
          <p:cNvPr id="10" name="TextBox 9"/>
          <p:cNvSpPr txBox="1"/>
          <p:nvPr/>
        </p:nvSpPr>
        <p:spPr>
          <a:xfrm>
            <a:off x="731520" y="2103120"/>
            <a:ext cx="3017520" cy="914400"/>
          </a:xfrm>
          <a:prstGeom prst="rect">
            <a:avLst/>
          </a:prstGeom>
          <a:noFill/>
        </p:spPr>
        <p:txBody>
          <a:bodyPr wrap="square" lIns="0" rIns="0" tIns="0" bIns="0" anchor="t">
            <a:spAutoFit/>
          </a:bodyPr>
          <a:lstStyle/>
          <a:p>
            <a:pPr algn="l"/>
            <a:r>
              <a:rPr sz="1100" b="0" i="0">
                <a:solidFill>
                  <a:srgbClr val="1B2430"/>
                </a:solidFill>
                <a:latin typeface="Calibri"/>
              </a:rPr>
              <a:t>Database, scaffold, generate, model build and run, co-simulation, regression, register-access test, Questa lint.</a:t>
            </a:r>
          </a:p>
        </p:txBody>
      </p:sp>
      <p:sp>
        <p:nvSpPr>
          <p:cNvPr id="11" name="card"/>
          <p:cNvSpPr/>
          <p:nvPr/>
        </p:nvSpPr>
        <p:spPr>
          <a:xfrm>
            <a:off x="8229600" y="1325880"/>
            <a:ext cx="3383280" cy="17373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con"/>
          <p:cNvSpPr/>
          <p:nvPr/>
        </p:nvSpPr>
        <p:spPr>
          <a:xfrm>
            <a:off x="8412480" y="15087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a:solidFill>
                  <a:srgbClr val="FFFFFF"/>
                </a:solidFill>
                <a:latin typeface="Cambria"/>
              </a:rPr>
              <a:t>kb</a:t>
            </a:r>
          </a:p>
        </p:txBody>
      </p:sp>
      <p:sp>
        <p:nvSpPr>
          <p:cNvPr id="13" name="TextBox 12"/>
          <p:cNvSpPr txBox="1"/>
          <p:nvPr/>
        </p:nvSpPr>
        <p:spPr>
          <a:xfrm>
            <a:off x="9006840" y="1572768"/>
            <a:ext cx="2468880" cy="365760"/>
          </a:xfrm>
          <a:prstGeom prst="rect">
            <a:avLst/>
          </a:prstGeom>
          <a:noFill/>
        </p:spPr>
        <p:txBody>
          <a:bodyPr wrap="square" lIns="0" rIns="0" tIns="0" bIns="0" anchor="t">
            <a:spAutoFit/>
          </a:bodyPr>
          <a:lstStyle/>
          <a:p>
            <a:pPr algn="l"/>
            <a:r>
              <a:rPr sz="1500" b="1" i="0">
                <a:solidFill>
                  <a:srgbClr val="1B2430"/>
                </a:solidFill>
                <a:latin typeface="Calibri"/>
              </a:rPr>
              <a:t>cortex-kb</a:t>
            </a:r>
          </a:p>
        </p:txBody>
      </p:sp>
      <p:sp>
        <p:nvSpPr>
          <p:cNvPr id="14" name="TextBox 13"/>
          <p:cNvSpPr txBox="1"/>
          <p:nvPr/>
        </p:nvSpPr>
        <p:spPr>
          <a:xfrm>
            <a:off x="8412480" y="2103120"/>
            <a:ext cx="3017520" cy="914400"/>
          </a:xfrm>
          <a:prstGeom prst="rect">
            <a:avLst/>
          </a:prstGeom>
          <a:noFill/>
        </p:spPr>
        <p:txBody>
          <a:bodyPr wrap="square" lIns="0" rIns="0" tIns="0" bIns="0" anchor="t">
            <a:spAutoFit/>
          </a:bodyPr>
          <a:lstStyle/>
          <a:p>
            <a:pPr algn="l"/>
            <a:r>
              <a:rPr sz="1100" b="0" i="0">
                <a:solidFill>
                  <a:srgbClr val="1B2430"/>
                </a:solidFill>
                <a:latin typeface="Calibri"/>
              </a:rPr>
              <a:t>Designs, modules, patterns, IP catalog, boards, device notes, skills, registers; authoring tools in your own session.</a:t>
            </a:r>
          </a:p>
        </p:txBody>
      </p:sp>
      <p:sp>
        <p:nvSpPr>
          <p:cNvPr id="15" name="card"/>
          <p:cNvSpPr/>
          <p:nvPr/>
        </p:nvSpPr>
        <p:spPr>
          <a:xfrm>
            <a:off x="548640" y="4297680"/>
            <a:ext cx="3383280" cy="17373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
          <p:cNvSpPr/>
          <p:nvPr/>
        </p:nvSpPr>
        <p:spPr>
          <a:xfrm>
            <a:off x="731520" y="4480560"/>
            <a:ext cx="457200" cy="45720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a:solidFill>
                  <a:srgbClr val="FFFFFF"/>
                </a:solidFill>
                <a:latin typeface="Cambria"/>
              </a:rPr>
              <a:t>soc</a:t>
            </a:r>
          </a:p>
        </p:txBody>
      </p:sp>
      <p:sp>
        <p:nvSpPr>
          <p:cNvPr id="17" name="TextBox 16"/>
          <p:cNvSpPr txBox="1"/>
          <p:nvPr/>
        </p:nvSpPr>
        <p:spPr>
          <a:xfrm>
            <a:off x="1325880" y="4544568"/>
            <a:ext cx="2468880" cy="365760"/>
          </a:xfrm>
          <a:prstGeom prst="rect">
            <a:avLst/>
          </a:prstGeom>
          <a:noFill/>
        </p:spPr>
        <p:txBody>
          <a:bodyPr wrap="square" lIns="0" rIns="0" tIns="0" bIns="0" anchor="t">
            <a:spAutoFit/>
          </a:bodyPr>
          <a:lstStyle/>
          <a:p>
            <a:pPr algn="l"/>
            <a:r>
              <a:rPr sz="1500" b="1" i="0">
                <a:solidFill>
                  <a:srgbClr val="1B2430"/>
                </a:solidFill>
                <a:latin typeface="Calibri"/>
              </a:rPr>
              <a:t>lattice-cortex</a:t>
            </a:r>
          </a:p>
        </p:txBody>
      </p:sp>
      <p:sp>
        <p:nvSpPr>
          <p:cNvPr id="18" name="TextBox 17"/>
          <p:cNvSpPr txBox="1"/>
          <p:nvPr/>
        </p:nvSpPr>
        <p:spPr>
          <a:xfrm>
            <a:off x="731520" y="5074920"/>
            <a:ext cx="3017520" cy="914400"/>
          </a:xfrm>
          <a:prstGeom prst="rect">
            <a:avLst/>
          </a:prstGeom>
          <a:noFill/>
        </p:spPr>
        <p:txBody>
          <a:bodyPr wrap="square" lIns="0" rIns="0" tIns="0" bIns="0" anchor="t">
            <a:spAutoFit/>
          </a:bodyPr>
          <a:lstStyle/>
          <a:p>
            <a:pPr algn="l"/>
            <a:r>
              <a:rPr sz="1100" b="0" i="0">
                <a:solidFill>
                  <a:srgbClr val="1B2430"/>
                </a:solidFill>
                <a:latin typeface="Calibri"/>
              </a:rPr>
              <a:t>Propel IP facts and compatibility, the SoC session and its equivalence checks, replay and comparison of the arch2code SoC manifest, DGE and SGE, firmware plan and tests.</a:t>
            </a:r>
          </a:p>
        </p:txBody>
      </p:sp>
      <p:sp>
        <p:nvSpPr>
          <p:cNvPr id="19" name="card"/>
          <p:cNvSpPr/>
          <p:nvPr/>
        </p:nvSpPr>
        <p:spPr>
          <a:xfrm>
            <a:off x="8229600" y="4297680"/>
            <a:ext cx="3383280" cy="17373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con"/>
          <p:cNvSpPr/>
          <p:nvPr/>
        </p:nvSpPr>
        <p:spPr>
          <a:xfrm>
            <a:off x="8412480" y="4480560"/>
            <a:ext cx="457200" cy="457200"/>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a:solidFill>
                  <a:srgbClr val="FFFFFF"/>
                </a:solidFill>
                <a:latin typeface="Cambria"/>
              </a:rPr>
              <a:t>rad</a:t>
            </a:r>
          </a:p>
        </p:txBody>
      </p:sp>
      <p:sp>
        <p:nvSpPr>
          <p:cNvPr id="21" name="TextBox 20"/>
          <p:cNvSpPr txBox="1"/>
          <p:nvPr/>
        </p:nvSpPr>
        <p:spPr>
          <a:xfrm>
            <a:off x="9006840" y="4544568"/>
            <a:ext cx="2468880" cy="365760"/>
          </a:xfrm>
          <a:prstGeom prst="rect">
            <a:avLst/>
          </a:prstGeom>
          <a:noFill/>
        </p:spPr>
        <p:txBody>
          <a:bodyPr wrap="square" lIns="0" rIns="0" tIns="0" bIns="0" anchor="t">
            <a:spAutoFit/>
          </a:bodyPr>
          <a:lstStyle/>
          <a:p>
            <a:pPr algn="l"/>
            <a:r>
              <a:rPr sz="1500" b="1" i="0">
                <a:solidFill>
                  <a:srgbClr val="1B2430"/>
                </a:solidFill>
                <a:latin typeface="Calibri"/>
              </a:rPr>
              <a:t>lattice-radiant-mcp</a:t>
            </a:r>
          </a:p>
        </p:txBody>
      </p:sp>
      <p:sp>
        <p:nvSpPr>
          <p:cNvPr id="22" name="TextBox 21"/>
          <p:cNvSpPr txBox="1"/>
          <p:nvPr/>
        </p:nvSpPr>
        <p:spPr>
          <a:xfrm>
            <a:off x="8412480" y="5074920"/>
            <a:ext cx="3017520" cy="914400"/>
          </a:xfrm>
          <a:prstGeom prst="rect">
            <a:avLst/>
          </a:prstGeom>
          <a:noFill/>
        </p:spPr>
        <p:txBody>
          <a:bodyPr wrap="square" lIns="0" rIns="0" tIns="0" bIns="0" anchor="t">
            <a:spAutoFit/>
          </a:bodyPr>
          <a:lstStyle/>
          <a:p>
            <a:pPr algn="l"/>
            <a:r>
              <a:rPr sz="1100" b="0" i="0">
                <a:solidFill>
                  <a:srgbClr val="1B2430"/>
                </a:solidFill>
                <a:latin typeface="Calibri"/>
              </a:rPr>
              <a:t>Radiant project, synthesis to bitstream, timing closure levers, constraints lint, programming, Reveal debug. Own installer, registered beside the bundle.</a:t>
            </a:r>
          </a:p>
        </p:txBody>
      </p:sp>
      <p:sp>
        <p:nvSpPr>
          <p:cNvPr id="23" name="pill"/>
          <p:cNvSpPr/>
          <p:nvPr/>
        </p:nvSpPr>
        <p:spPr>
          <a:xfrm>
            <a:off x="3246120" y="1508760"/>
            <a:ext cx="548640" cy="237744"/>
          </a:xfrm>
          <a:prstGeom prst="roundRect">
            <a:avLst>
              <a:gd name="adj" fmla="val 50000"/>
            </a:avLst>
          </a:prstGeom>
          <a:solidFill>
            <a:srgbClr val="9BD3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850" b="1" i="0">
                <a:solidFill>
                  <a:srgbClr val="0F2A3F"/>
                </a:solidFill>
                <a:latin typeface="Calibri"/>
              </a:rPr>
              <a:t>bundle</a:t>
            </a:r>
          </a:p>
        </p:txBody>
      </p:sp>
      <p:sp>
        <p:nvSpPr>
          <p:cNvPr id="24" name="pill"/>
          <p:cNvSpPr/>
          <p:nvPr/>
        </p:nvSpPr>
        <p:spPr>
          <a:xfrm>
            <a:off x="10927080" y="1508760"/>
            <a:ext cx="548640" cy="237744"/>
          </a:xfrm>
          <a:prstGeom prst="roundRect">
            <a:avLst>
              <a:gd name="adj" fmla="val 50000"/>
            </a:avLst>
          </a:prstGeom>
          <a:solidFill>
            <a:srgbClr val="9BD3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850" b="1" i="0">
                <a:solidFill>
                  <a:srgbClr val="0F2A3F"/>
                </a:solidFill>
                <a:latin typeface="Calibri"/>
              </a:rPr>
              <a:t>bundle</a:t>
            </a:r>
          </a:p>
        </p:txBody>
      </p:sp>
      <p:sp>
        <p:nvSpPr>
          <p:cNvPr id="25" name="pill"/>
          <p:cNvSpPr/>
          <p:nvPr/>
        </p:nvSpPr>
        <p:spPr>
          <a:xfrm>
            <a:off x="3246120" y="4480560"/>
            <a:ext cx="548640" cy="237744"/>
          </a:xfrm>
          <a:prstGeom prst="roundRect">
            <a:avLst>
              <a:gd name="adj" fmla="val 50000"/>
            </a:avLst>
          </a:prstGeom>
          <a:solidFill>
            <a:srgbClr val="9BD3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850" b="1" i="0">
                <a:solidFill>
                  <a:srgbClr val="0F2A3F"/>
                </a:solidFill>
                <a:latin typeface="Calibri"/>
              </a:rPr>
              <a:t>bundle</a:t>
            </a:r>
          </a:p>
        </p:txBody>
      </p:sp>
      <p:cxnSp>
        <p:nvCxnSpPr>
          <p:cNvPr id="26" name="Connector 25"/>
          <p:cNvCxnSpPr/>
          <p:nvPr/>
        </p:nvCxnSpPr>
        <p:spPr>
          <a:xfrm>
            <a:off x="3931920" y="2194560"/>
            <a:ext cx="1188720" cy="73152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7040880" y="2194560"/>
            <a:ext cx="1188720" cy="73152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931920" y="3931920"/>
            <a:ext cx="1188720" cy="73152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7040880" y="3931920"/>
            <a:ext cx="1188720" cy="73152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card"/>
          <p:cNvSpPr/>
          <p:nvPr/>
        </p:nvSpPr>
        <p:spPr>
          <a:xfrm>
            <a:off x="4114800" y="5394960"/>
            <a:ext cx="3931920" cy="8686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251960" y="5468112"/>
            <a:ext cx="3657600" cy="777240"/>
          </a:xfrm>
          <a:prstGeom prst="rect">
            <a:avLst/>
          </a:prstGeom>
          <a:noFill/>
        </p:spPr>
        <p:txBody>
          <a:bodyPr wrap="square" lIns="0" rIns="0" tIns="0" bIns="0" anchor="t">
            <a:spAutoFit/>
          </a:bodyPr>
          <a:lstStyle/>
          <a:p>
            <a:pPr algn="l"/>
            <a:r>
              <a:rPr sz="1050" b="0" i="0">
                <a:solidFill>
                  <a:srgbClr val="1B2430"/>
                </a:solidFill>
                <a:latin typeface="Calibri"/>
              </a:rPr>
              <a:t>Precedence: a fact is taken from the server that owns it (IP facts from lattice-cortex, device facts from the Radiant server, verified designs from cortex-kb, the project's own YAML from arch2code); a conflict is recorded, never averaged.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Eight kinds of entry, three ways a design gets in</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7</a:t>
            </a:r>
          </a:p>
        </p:txBody>
      </p:sp>
      <p:sp>
        <p:nvSpPr>
          <p:cNvPr id="5" name="card"/>
          <p:cNvSpPr/>
          <p:nvPr/>
        </p:nvSpPr>
        <p:spPr>
          <a:xfrm>
            <a:off x="548640" y="1325880"/>
            <a:ext cx="2651760" cy="16459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p:cNvSpPr/>
          <p:nvPr/>
        </p:nvSpPr>
        <p:spPr>
          <a:xfrm>
            <a:off x="731520" y="15087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D</a:t>
            </a:r>
          </a:p>
        </p:txBody>
      </p:sp>
      <p:sp>
        <p:nvSpPr>
          <p:cNvPr id="7" name="TextBox 6"/>
          <p:cNvSpPr txBox="1"/>
          <p:nvPr/>
        </p:nvSpPr>
        <p:spPr>
          <a:xfrm>
            <a:off x="1325880" y="1572768"/>
            <a:ext cx="1828800" cy="365760"/>
          </a:xfrm>
          <a:prstGeom prst="rect">
            <a:avLst/>
          </a:prstGeom>
          <a:noFill/>
        </p:spPr>
        <p:txBody>
          <a:bodyPr wrap="square" lIns="0" rIns="0" tIns="0" bIns="0" anchor="t">
            <a:spAutoFit/>
          </a:bodyPr>
          <a:lstStyle/>
          <a:p>
            <a:pPr algn="l"/>
            <a:r>
              <a:rPr sz="1400" b="1" i="0">
                <a:solidFill>
                  <a:srgbClr val="1B2430"/>
                </a:solidFill>
                <a:latin typeface="Calibri"/>
              </a:rPr>
              <a:t>Designs</a:t>
            </a:r>
          </a:p>
        </p:txBody>
      </p:sp>
      <p:sp>
        <p:nvSpPr>
          <p:cNvPr id="8" name="TextBox 7"/>
          <p:cNvSpPr txBox="1"/>
          <p:nvPr/>
        </p:nvSpPr>
        <p:spPr>
          <a:xfrm>
            <a:off x="731520" y="2103120"/>
            <a:ext cx="2286000" cy="822960"/>
          </a:xfrm>
          <a:prstGeom prst="rect">
            <a:avLst/>
          </a:prstGeom>
          <a:noFill/>
        </p:spPr>
        <p:txBody>
          <a:bodyPr wrap="square" lIns="0" rIns="0" tIns="0" bIns="0" anchor="t">
            <a:spAutoFit/>
          </a:bodyPr>
          <a:lstStyle/>
          <a:p>
            <a:pPr algn="l"/>
            <a:r>
              <a:rPr sz="1050" b="0" i="0">
                <a:solidFill>
                  <a:srgbClr val="1B2430"/>
                </a:solidFill>
                <a:latin typeface="Calibri"/>
              </a:rPr>
              <a:t>Whole verified designs with hierarchy, flow results, constraints, IP usage, registers and history</a:t>
            </a:r>
          </a:p>
        </p:txBody>
      </p:sp>
      <p:sp>
        <p:nvSpPr>
          <p:cNvPr id="9" name="card"/>
          <p:cNvSpPr/>
          <p:nvPr/>
        </p:nvSpPr>
        <p:spPr>
          <a:xfrm>
            <a:off x="3383280" y="1325880"/>
            <a:ext cx="2651760" cy="16459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con"/>
          <p:cNvSpPr/>
          <p:nvPr/>
        </p:nvSpPr>
        <p:spPr>
          <a:xfrm>
            <a:off x="3566160" y="15087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M</a:t>
            </a:r>
          </a:p>
        </p:txBody>
      </p:sp>
      <p:sp>
        <p:nvSpPr>
          <p:cNvPr id="11" name="TextBox 10"/>
          <p:cNvSpPr txBox="1"/>
          <p:nvPr/>
        </p:nvSpPr>
        <p:spPr>
          <a:xfrm>
            <a:off x="4160520" y="1572768"/>
            <a:ext cx="1828800" cy="365760"/>
          </a:xfrm>
          <a:prstGeom prst="rect">
            <a:avLst/>
          </a:prstGeom>
          <a:noFill/>
        </p:spPr>
        <p:txBody>
          <a:bodyPr wrap="square" lIns="0" rIns="0" tIns="0" bIns="0" anchor="t">
            <a:spAutoFit/>
          </a:bodyPr>
          <a:lstStyle/>
          <a:p>
            <a:pPr algn="l"/>
            <a:r>
              <a:rPr sz="1400" b="1" i="0">
                <a:solidFill>
                  <a:srgbClr val="1B2430"/>
                </a:solidFill>
                <a:latin typeface="Calibri"/>
              </a:rPr>
              <a:t>Reusable modules</a:t>
            </a:r>
          </a:p>
        </p:txBody>
      </p:sp>
      <p:sp>
        <p:nvSpPr>
          <p:cNvPr id="12" name="TextBox 11"/>
          <p:cNvSpPr txBox="1"/>
          <p:nvPr/>
        </p:nvSpPr>
        <p:spPr>
          <a:xfrm>
            <a:off x="3566160" y="2103120"/>
            <a:ext cx="2286000" cy="822960"/>
          </a:xfrm>
          <a:prstGeom prst="rect">
            <a:avLst/>
          </a:prstGeom>
          <a:noFill/>
        </p:spPr>
        <p:txBody>
          <a:bodyPr wrap="square" lIns="0" rIns="0" tIns="0" bIns="0" anchor="t">
            <a:spAutoFit/>
          </a:bodyPr>
          <a:lstStyle/>
          <a:p>
            <a:pPr algn="l"/>
            <a:r>
              <a:rPr sz="1050" b="0" i="0">
                <a:solidFill>
                  <a:srgbClr val="1B2430"/>
                </a:solidFill>
                <a:latin typeface="Calibri"/>
              </a:rPr>
              <a:t>Modules marked reusable, with ports, parameters and the designs that instantiate them</a:t>
            </a:r>
          </a:p>
        </p:txBody>
      </p:sp>
      <p:sp>
        <p:nvSpPr>
          <p:cNvPr id="13" name="card"/>
          <p:cNvSpPr/>
          <p:nvPr/>
        </p:nvSpPr>
        <p:spPr>
          <a:xfrm>
            <a:off x="6217920" y="1325880"/>
            <a:ext cx="2651760" cy="16459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
          <p:cNvSpPr/>
          <p:nvPr/>
        </p:nvSpPr>
        <p:spPr>
          <a:xfrm>
            <a:off x="6400800" y="15087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P</a:t>
            </a:r>
          </a:p>
        </p:txBody>
      </p:sp>
      <p:sp>
        <p:nvSpPr>
          <p:cNvPr id="15" name="TextBox 14"/>
          <p:cNvSpPr txBox="1"/>
          <p:nvPr/>
        </p:nvSpPr>
        <p:spPr>
          <a:xfrm>
            <a:off x="6995159" y="1572768"/>
            <a:ext cx="1828800" cy="365760"/>
          </a:xfrm>
          <a:prstGeom prst="rect">
            <a:avLst/>
          </a:prstGeom>
          <a:noFill/>
        </p:spPr>
        <p:txBody>
          <a:bodyPr wrap="square" lIns="0" rIns="0" tIns="0" bIns="0" anchor="t">
            <a:spAutoFit/>
          </a:bodyPr>
          <a:lstStyle/>
          <a:p>
            <a:pPr algn="l"/>
            <a:r>
              <a:rPr sz="1400" b="1" i="0">
                <a:solidFill>
                  <a:srgbClr val="1B2430"/>
                </a:solidFill>
                <a:latin typeface="Calibri"/>
              </a:rPr>
              <a:t>Patterns</a:t>
            </a:r>
          </a:p>
        </p:txBody>
      </p:sp>
      <p:sp>
        <p:nvSpPr>
          <p:cNvPr id="16" name="TextBox 15"/>
          <p:cNvSpPr txBox="1"/>
          <p:nvPr/>
        </p:nvSpPr>
        <p:spPr>
          <a:xfrm>
            <a:off x="6400800" y="2103120"/>
            <a:ext cx="2286000" cy="822960"/>
          </a:xfrm>
          <a:prstGeom prst="rect">
            <a:avLst/>
          </a:prstGeom>
          <a:noFill/>
        </p:spPr>
        <p:txBody>
          <a:bodyPr wrap="square" lIns="0" rIns="0" tIns="0" bIns="0" anchor="t">
            <a:spAutoFit/>
          </a:bodyPr>
          <a:lstStyle/>
          <a:p>
            <a:pPr algn="l"/>
            <a:r>
              <a:rPr sz="1050" b="0" i="0">
                <a:solidFill>
                  <a:srgbClr val="1B2430"/>
                </a:solidFill>
                <a:latin typeface="Calibri"/>
              </a:rPr>
              <a:t>Idioms that worked (CDC, reset, handshake) and anti-patterns to check against</a:t>
            </a:r>
          </a:p>
        </p:txBody>
      </p:sp>
      <p:sp>
        <p:nvSpPr>
          <p:cNvPr id="17" name="card"/>
          <p:cNvSpPr/>
          <p:nvPr/>
        </p:nvSpPr>
        <p:spPr>
          <a:xfrm>
            <a:off x="9052560" y="1325880"/>
            <a:ext cx="2651760" cy="16459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con"/>
          <p:cNvSpPr/>
          <p:nvPr/>
        </p:nvSpPr>
        <p:spPr>
          <a:xfrm>
            <a:off x="9235440" y="15087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I</a:t>
            </a:r>
          </a:p>
        </p:txBody>
      </p:sp>
      <p:sp>
        <p:nvSpPr>
          <p:cNvPr id="19" name="TextBox 18"/>
          <p:cNvSpPr txBox="1"/>
          <p:nvPr/>
        </p:nvSpPr>
        <p:spPr>
          <a:xfrm>
            <a:off x="9829800" y="1572768"/>
            <a:ext cx="1828800" cy="365760"/>
          </a:xfrm>
          <a:prstGeom prst="rect">
            <a:avLst/>
          </a:prstGeom>
          <a:noFill/>
        </p:spPr>
        <p:txBody>
          <a:bodyPr wrap="square" lIns="0" rIns="0" tIns="0" bIns="0" anchor="t">
            <a:spAutoFit/>
          </a:bodyPr>
          <a:lstStyle/>
          <a:p>
            <a:pPr algn="l"/>
            <a:r>
              <a:rPr sz="1400" b="1" i="0">
                <a:solidFill>
                  <a:srgbClr val="1B2430"/>
                </a:solidFill>
                <a:latin typeface="Calibri"/>
              </a:rPr>
              <a:t>Interfaces</a:t>
            </a:r>
          </a:p>
        </p:txBody>
      </p:sp>
      <p:sp>
        <p:nvSpPr>
          <p:cNvPr id="20" name="TextBox 19"/>
          <p:cNvSpPr txBox="1"/>
          <p:nvPr/>
        </p:nvSpPr>
        <p:spPr>
          <a:xfrm>
            <a:off x="9235440" y="2103120"/>
            <a:ext cx="2286000" cy="822960"/>
          </a:xfrm>
          <a:prstGeom prst="rect">
            <a:avLst/>
          </a:prstGeom>
          <a:noFill/>
        </p:spPr>
        <p:txBody>
          <a:bodyPr wrap="square" lIns="0" rIns="0" tIns="0" bIns="0" anchor="t">
            <a:spAutoFit/>
          </a:bodyPr>
          <a:lstStyle/>
          <a:p>
            <a:pPr algn="l"/>
            <a:r>
              <a:rPr sz="1050" b="0" i="0">
                <a:solidFill>
                  <a:srgbClr val="1B2430"/>
                </a:solidFill>
                <a:latin typeface="Calibri"/>
              </a:rPr>
              <a:t>Bus and stream protocol definitions shared across entries</a:t>
            </a:r>
          </a:p>
        </p:txBody>
      </p:sp>
      <p:sp>
        <p:nvSpPr>
          <p:cNvPr id="21" name="card"/>
          <p:cNvSpPr/>
          <p:nvPr/>
        </p:nvSpPr>
        <p:spPr>
          <a:xfrm>
            <a:off x="548640" y="3154680"/>
            <a:ext cx="2651760" cy="16459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con"/>
          <p:cNvSpPr/>
          <p:nvPr/>
        </p:nvSpPr>
        <p:spPr>
          <a:xfrm>
            <a:off x="731520" y="33375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IP</a:t>
            </a:r>
          </a:p>
        </p:txBody>
      </p:sp>
      <p:sp>
        <p:nvSpPr>
          <p:cNvPr id="23" name="TextBox 22"/>
          <p:cNvSpPr txBox="1"/>
          <p:nvPr/>
        </p:nvSpPr>
        <p:spPr>
          <a:xfrm>
            <a:off x="1325880" y="3401568"/>
            <a:ext cx="1828800" cy="365760"/>
          </a:xfrm>
          <a:prstGeom prst="rect">
            <a:avLst/>
          </a:prstGeom>
          <a:noFill/>
        </p:spPr>
        <p:txBody>
          <a:bodyPr wrap="square" lIns="0" rIns="0" tIns="0" bIns="0" anchor="t">
            <a:spAutoFit/>
          </a:bodyPr>
          <a:lstStyle/>
          <a:p>
            <a:pPr algn="l"/>
            <a:r>
              <a:rPr sz="1400" b="1" i="0">
                <a:solidFill>
                  <a:srgbClr val="1B2430"/>
                </a:solidFill>
                <a:latin typeface="Calibri"/>
              </a:rPr>
              <a:t>IP catalog</a:t>
            </a:r>
          </a:p>
        </p:txBody>
      </p:sp>
      <p:sp>
        <p:nvSpPr>
          <p:cNvPr id="24" name="TextBox 23"/>
          <p:cNvSpPr txBox="1"/>
          <p:nvPr/>
        </p:nvSpPr>
        <p:spPr>
          <a:xfrm>
            <a:off x="731520" y="3931920"/>
            <a:ext cx="2286000" cy="822960"/>
          </a:xfrm>
          <a:prstGeom prst="rect">
            <a:avLst/>
          </a:prstGeom>
          <a:noFill/>
        </p:spPr>
        <p:txBody>
          <a:bodyPr wrap="square" lIns="0" rIns="0" tIns="0" bIns="0" anchor="t">
            <a:spAutoFit/>
          </a:bodyPr>
          <a:lstStyle/>
          <a:p>
            <a:pPr algn="l"/>
            <a:r>
              <a:rPr sz="1050" b="0" i="0">
                <a:solidFill>
                  <a:srgbClr val="1B2430"/>
                </a:solidFill>
                <a:latin typeface="Calibri"/>
              </a:rPr>
              <a:t>Core records with versions, parameters, ports, bus interfaces, register maps and family support</a:t>
            </a:r>
          </a:p>
        </p:txBody>
      </p:sp>
      <p:sp>
        <p:nvSpPr>
          <p:cNvPr id="25" name="card"/>
          <p:cNvSpPr/>
          <p:nvPr/>
        </p:nvSpPr>
        <p:spPr>
          <a:xfrm>
            <a:off x="3383280" y="3154680"/>
            <a:ext cx="2651760" cy="16459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con"/>
          <p:cNvSpPr/>
          <p:nvPr/>
        </p:nvSpPr>
        <p:spPr>
          <a:xfrm>
            <a:off x="3566160" y="33375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B</a:t>
            </a:r>
          </a:p>
        </p:txBody>
      </p:sp>
      <p:sp>
        <p:nvSpPr>
          <p:cNvPr id="27" name="TextBox 26"/>
          <p:cNvSpPr txBox="1"/>
          <p:nvPr/>
        </p:nvSpPr>
        <p:spPr>
          <a:xfrm>
            <a:off x="4160520" y="3401568"/>
            <a:ext cx="1828800" cy="365760"/>
          </a:xfrm>
          <a:prstGeom prst="rect">
            <a:avLst/>
          </a:prstGeom>
          <a:noFill/>
        </p:spPr>
        <p:txBody>
          <a:bodyPr wrap="square" lIns="0" rIns="0" tIns="0" bIns="0" anchor="t">
            <a:spAutoFit/>
          </a:bodyPr>
          <a:lstStyle/>
          <a:p>
            <a:pPr algn="l"/>
            <a:r>
              <a:rPr sz="1400" b="1" i="0">
                <a:solidFill>
                  <a:srgbClr val="1B2430"/>
                </a:solidFill>
                <a:latin typeface="Calibri"/>
              </a:rPr>
              <a:t>Boards</a:t>
            </a:r>
          </a:p>
        </p:txBody>
      </p:sp>
      <p:sp>
        <p:nvSpPr>
          <p:cNvPr id="28" name="TextBox 27"/>
          <p:cNvSpPr txBox="1"/>
          <p:nvPr/>
        </p:nvSpPr>
        <p:spPr>
          <a:xfrm>
            <a:off x="3566160" y="3931920"/>
            <a:ext cx="2286000" cy="822960"/>
          </a:xfrm>
          <a:prstGeom prst="rect">
            <a:avLst/>
          </a:prstGeom>
          <a:noFill/>
        </p:spPr>
        <p:txBody>
          <a:bodyPr wrap="square" lIns="0" rIns="0" tIns="0" bIns="0" anchor="t">
            <a:spAutoFit/>
          </a:bodyPr>
          <a:lstStyle/>
          <a:p>
            <a:pPr algn="l"/>
            <a:r>
              <a:rPr sz="1050" b="0" i="0">
                <a:solidFill>
                  <a:srgbClr val="1B2430"/>
                </a:solidFill>
                <a:latin typeface="Calibri"/>
              </a:rPr>
              <a:t>Pin sites, reference clocks, bank voltages; JTAG and programming facts as they are added</a:t>
            </a:r>
          </a:p>
        </p:txBody>
      </p:sp>
      <p:sp>
        <p:nvSpPr>
          <p:cNvPr id="29" name="card"/>
          <p:cNvSpPr/>
          <p:nvPr/>
        </p:nvSpPr>
        <p:spPr>
          <a:xfrm>
            <a:off x="6217920" y="3154680"/>
            <a:ext cx="2651760" cy="16459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con"/>
          <p:cNvSpPr/>
          <p:nvPr/>
        </p:nvSpPr>
        <p:spPr>
          <a:xfrm>
            <a:off x="6400800" y="33375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N</a:t>
            </a:r>
          </a:p>
        </p:txBody>
      </p:sp>
      <p:sp>
        <p:nvSpPr>
          <p:cNvPr id="31" name="TextBox 30"/>
          <p:cNvSpPr txBox="1"/>
          <p:nvPr/>
        </p:nvSpPr>
        <p:spPr>
          <a:xfrm>
            <a:off x="6995159" y="3401568"/>
            <a:ext cx="1828800" cy="365760"/>
          </a:xfrm>
          <a:prstGeom prst="rect">
            <a:avLst/>
          </a:prstGeom>
          <a:noFill/>
        </p:spPr>
        <p:txBody>
          <a:bodyPr wrap="square" lIns="0" rIns="0" tIns="0" bIns="0" anchor="t">
            <a:spAutoFit/>
          </a:bodyPr>
          <a:lstStyle/>
          <a:p>
            <a:pPr algn="l"/>
            <a:r>
              <a:rPr sz="1400" b="1" i="0">
                <a:solidFill>
                  <a:srgbClr val="1B2430"/>
                </a:solidFill>
                <a:latin typeface="Calibri"/>
              </a:rPr>
              <a:t>Device notes</a:t>
            </a:r>
          </a:p>
        </p:txBody>
      </p:sp>
      <p:sp>
        <p:nvSpPr>
          <p:cNvPr id="32" name="TextBox 31"/>
          <p:cNvSpPr txBox="1"/>
          <p:nvPr/>
        </p:nvSpPr>
        <p:spPr>
          <a:xfrm>
            <a:off x="6400800" y="3931920"/>
            <a:ext cx="2286000" cy="822960"/>
          </a:xfrm>
          <a:prstGeom prst="rect">
            <a:avLst/>
          </a:prstGeom>
          <a:noFill/>
        </p:spPr>
        <p:txBody>
          <a:bodyPr wrap="square" lIns="0" rIns="0" tIns="0" bIns="0" anchor="t">
            <a:spAutoFit/>
          </a:bodyPr>
          <a:lstStyle/>
          <a:p>
            <a:pPr algn="l"/>
            <a:r>
              <a:rPr sz="1050" b="0" i="0">
                <a:solidFill>
                  <a:srgbClr val="1B2430"/>
                </a:solidFill>
                <a:latin typeface="Calibri"/>
              </a:rPr>
              <a:t>Family-specific facts and the style guide the agent must follow</a:t>
            </a:r>
          </a:p>
        </p:txBody>
      </p:sp>
      <p:sp>
        <p:nvSpPr>
          <p:cNvPr id="33" name="card"/>
          <p:cNvSpPr/>
          <p:nvPr/>
        </p:nvSpPr>
        <p:spPr>
          <a:xfrm>
            <a:off x="9052560" y="3154680"/>
            <a:ext cx="2651760" cy="164592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con"/>
          <p:cNvSpPr/>
          <p:nvPr/>
        </p:nvSpPr>
        <p:spPr>
          <a:xfrm>
            <a:off x="9235440" y="33375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S</a:t>
            </a:r>
          </a:p>
        </p:txBody>
      </p:sp>
      <p:sp>
        <p:nvSpPr>
          <p:cNvPr id="35" name="TextBox 34"/>
          <p:cNvSpPr txBox="1"/>
          <p:nvPr/>
        </p:nvSpPr>
        <p:spPr>
          <a:xfrm>
            <a:off x="9829800" y="3401568"/>
            <a:ext cx="1828800" cy="365760"/>
          </a:xfrm>
          <a:prstGeom prst="rect">
            <a:avLst/>
          </a:prstGeom>
          <a:noFill/>
        </p:spPr>
        <p:txBody>
          <a:bodyPr wrap="square" lIns="0" rIns="0" tIns="0" bIns="0" anchor="t">
            <a:spAutoFit/>
          </a:bodyPr>
          <a:lstStyle/>
          <a:p>
            <a:pPr algn="l"/>
            <a:r>
              <a:rPr sz="1400" b="1" i="0">
                <a:solidFill>
                  <a:srgbClr val="1B2430"/>
                </a:solidFill>
                <a:latin typeface="Calibri"/>
              </a:rPr>
              <a:t>Design skills</a:t>
            </a:r>
          </a:p>
        </p:txBody>
      </p:sp>
      <p:sp>
        <p:nvSpPr>
          <p:cNvPr id="36" name="TextBox 35"/>
          <p:cNvSpPr txBox="1"/>
          <p:nvPr/>
        </p:nvSpPr>
        <p:spPr>
          <a:xfrm>
            <a:off x="9235440" y="3931920"/>
            <a:ext cx="2286000" cy="822960"/>
          </a:xfrm>
          <a:prstGeom prst="rect">
            <a:avLst/>
          </a:prstGeom>
          <a:noFill/>
        </p:spPr>
        <p:txBody>
          <a:bodyPr wrap="square" lIns="0" rIns="0" tIns="0" bIns="0" anchor="t">
            <a:spAutoFit/>
          </a:bodyPr>
          <a:lstStyle/>
          <a:p>
            <a:pPr algn="l"/>
            <a:r>
              <a:rPr sz="1050" b="0" i="0">
                <a:solidFill>
                  <a:srgbClr val="1B2430"/>
                </a:solidFill>
                <a:latin typeface="Calibri"/>
              </a:rPr>
              <a:t>Procedures for changing a design, reviewed and installable into Claude Code</a:t>
            </a:r>
          </a:p>
        </p:txBody>
      </p:sp>
      <p:sp>
        <p:nvSpPr>
          <p:cNvPr id="37" name="pill"/>
          <p:cNvSpPr/>
          <p:nvPr/>
        </p:nvSpPr>
        <p:spPr>
          <a:xfrm>
            <a:off x="548640" y="5166360"/>
            <a:ext cx="1371600" cy="365760"/>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linked</a:t>
            </a:r>
          </a:p>
        </p:txBody>
      </p:sp>
      <p:sp>
        <p:nvSpPr>
          <p:cNvPr id="38" name="TextBox 37"/>
          <p:cNvSpPr txBox="1"/>
          <p:nvPr/>
        </p:nvSpPr>
        <p:spPr>
          <a:xfrm>
            <a:off x="2011680" y="5193792"/>
            <a:ext cx="2194560" cy="640080"/>
          </a:xfrm>
          <a:prstGeom prst="rect">
            <a:avLst/>
          </a:prstGeom>
          <a:noFill/>
        </p:spPr>
        <p:txBody>
          <a:bodyPr wrap="square" lIns="0" rIns="0" tIns="0" bIns="0" anchor="t">
            <a:spAutoFit/>
          </a:bodyPr>
          <a:lstStyle/>
          <a:p>
            <a:pPr algn="l"/>
            <a:r>
              <a:rPr sz="1100" b="0" i="0">
                <a:solidFill>
                  <a:srgbClr val="1B2430"/>
                </a:solidFill>
                <a:latin typeface="Calibri"/>
              </a:rPr>
              <a:t>the upstream Git repository is pinned; rescans follow it</a:t>
            </a:r>
          </a:p>
        </p:txBody>
      </p:sp>
      <p:sp>
        <p:nvSpPr>
          <p:cNvPr id="39" name="pill"/>
          <p:cNvSpPr/>
          <p:nvPr/>
        </p:nvSpPr>
        <p:spPr>
          <a:xfrm>
            <a:off x="4297679" y="5166360"/>
            <a:ext cx="1371600" cy="365760"/>
          </a:xfrm>
          <a:prstGeom prst="roundRect">
            <a:avLst>
              <a:gd name="adj" fmla="val 50000"/>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vendored</a:t>
            </a:r>
          </a:p>
        </p:txBody>
      </p:sp>
      <p:sp>
        <p:nvSpPr>
          <p:cNvPr id="40" name="TextBox 39"/>
          <p:cNvSpPr txBox="1"/>
          <p:nvPr/>
        </p:nvSpPr>
        <p:spPr>
          <a:xfrm>
            <a:off x="5760720" y="5193792"/>
            <a:ext cx="2194560" cy="640080"/>
          </a:xfrm>
          <a:prstGeom prst="rect">
            <a:avLst/>
          </a:prstGeom>
          <a:noFill/>
        </p:spPr>
        <p:txBody>
          <a:bodyPr wrap="square" lIns="0" rIns="0" tIns="0" bIns="0" anchor="t">
            <a:spAutoFit/>
          </a:bodyPr>
          <a:lstStyle/>
          <a:p>
            <a:pPr algn="l"/>
            <a:r>
              <a:rPr sz="1100" b="0" i="0">
                <a:solidFill>
                  <a:srgbClr val="1B2430"/>
                </a:solidFill>
                <a:latin typeface="Calibri"/>
              </a:rPr>
              <a:t>a copy is taken once when no repository exists; tree hash recorded</a:t>
            </a:r>
          </a:p>
        </p:txBody>
      </p:sp>
      <p:sp>
        <p:nvSpPr>
          <p:cNvPr id="41" name="pill"/>
          <p:cNvSpPr/>
          <p:nvPr/>
        </p:nvSpPr>
        <p:spPr>
          <a:xfrm>
            <a:off x="8046719" y="5166360"/>
            <a:ext cx="1371600" cy="365760"/>
          </a:xfrm>
          <a:prstGeom prst="roundRect">
            <a:avLst>
              <a:gd name="adj" fmla="val 50000"/>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knowledge-only</a:t>
            </a:r>
          </a:p>
        </p:txBody>
      </p:sp>
      <p:sp>
        <p:nvSpPr>
          <p:cNvPr id="42" name="TextBox 41"/>
          <p:cNvSpPr txBox="1"/>
          <p:nvPr/>
        </p:nvSpPr>
        <p:spPr>
          <a:xfrm>
            <a:off x="9509759" y="5193792"/>
            <a:ext cx="2194560" cy="640080"/>
          </a:xfrm>
          <a:prstGeom prst="rect">
            <a:avLst/>
          </a:prstGeom>
          <a:noFill/>
        </p:spPr>
        <p:txBody>
          <a:bodyPr wrap="square" lIns="0" rIns="0" tIns="0" bIns="0" anchor="t">
            <a:spAutoFit/>
          </a:bodyPr>
          <a:lstStyle/>
          <a:p>
            <a:pPr algn="l"/>
            <a:r>
              <a:rPr sz="1100" b="0" i="0">
                <a:solidFill>
                  <a:srgbClr val="1B2430"/>
                </a:solidFill>
                <a:latin typeface="Calibri"/>
              </a:rPr>
              <a:t>derived facts only; sources stay where they are and are never copied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Anatomy of a design entry: cpnx_gsrd</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8</a:t>
            </a:r>
          </a:p>
        </p:txBody>
      </p:sp>
      <p:cxnSp>
        <p:nvCxnSpPr>
          <p:cNvPr id="5" name="Connector 4"/>
          <p:cNvCxnSpPr/>
          <p:nvPr/>
        </p:nvCxnSpPr>
        <p:spPr>
          <a:xfrm>
            <a:off x="1554480" y="1760219"/>
            <a:ext cx="2606040" cy="1668781"/>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749039" y="1623060"/>
            <a:ext cx="411481" cy="1805940"/>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4160520" y="1760219"/>
            <a:ext cx="1965959" cy="1668781"/>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160520" y="2948940"/>
            <a:ext cx="2880359" cy="480060"/>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4160520" y="3429000"/>
            <a:ext cx="2880359" cy="708659"/>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160520" y="3429000"/>
            <a:ext cx="1965959" cy="1943100"/>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749039" y="3429000"/>
            <a:ext cx="411481" cy="2080259"/>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3429000"/>
            <a:ext cx="2606040" cy="1943100"/>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54480" y="2948940"/>
            <a:ext cx="2606040" cy="480060"/>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554480" y="3429000"/>
            <a:ext cx="2606040" cy="708659"/>
          </a:xfrm>
          <a:prstGeom prst="line">
            <a:avLst/>
          </a:prstGeom>
          <a:ln w="9525">
            <a:solidFill>
              <a:srgbClr val="6C8EA4"/>
            </a:solidFill>
          </a:ln>
        </p:spPr>
        <p:style>
          <a:lnRef idx="2">
            <a:schemeClr val="accent1"/>
          </a:lnRef>
          <a:fillRef idx="0">
            <a:schemeClr val="accent1"/>
          </a:fillRef>
          <a:effectRef idx="1">
            <a:schemeClr val="accent1"/>
          </a:effectRef>
          <a:fontRef idx="minor">
            <a:schemeClr val="tx1"/>
          </a:fontRef>
        </p:style>
      </p:cxnSp>
      <p:sp>
        <p:nvSpPr>
          <p:cNvPr id="15" name="card"/>
          <p:cNvSpPr/>
          <p:nvPr/>
        </p:nvSpPr>
        <p:spPr>
          <a:xfrm>
            <a:off x="548640" y="132588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1435607"/>
            <a:ext cx="1828800" cy="320040"/>
          </a:xfrm>
          <a:prstGeom prst="rect">
            <a:avLst/>
          </a:prstGeom>
          <a:noFill/>
        </p:spPr>
        <p:txBody>
          <a:bodyPr wrap="square" lIns="0" rIns="0" tIns="0" bIns="0" anchor="t">
            <a:spAutoFit/>
          </a:bodyPr>
          <a:lstStyle/>
          <a:p>
            <a:pPr algn="l"/>
            <a:r>
              <a:rPr sz="1200" b="1" i="0">
                <a:solidFill>
                  <a:srgbClr val="1C7293"/>
                </a:solidFill>
                <a:latin typeface="Calibri"/>
              </a:rPr>
              <a:t>Hierarchy</a:t>
            </a:r>
          </a:p>
        </p:txBody>
      </p:sp>
      <p:sp>
        <p:nvSpPr>
          <p:cNvPr id="17" name="TextBox 16"/>
          <p:cNvSpPr txBox="1"/>
          <p:nvPr/>
        </p:nvSpPr>
        <p:spPr>
          <a:xfrm>
            <a:off x="685800" y="1737360"/>
            <a:ext cx="1828800" cy="411480"/>
          </a:xfrm>
          <a:prstGeom prst="rect">
            <a:avLst/>
          </a:prstGeom>
          <a:noFill/>
        </p:spPr>
        <p:txBody>
          <a:bodyPr wrap="square" lIns="0" rIns="0" tIns="0" bIns="0" anchor="t">
            <a:spAutoFit/>
          </a:bodyPr>
          <a:lstStyle/>
          <a:p>
            <a:pPr algn="l"/>
            <a:r>
              <a:rPr sz="1050" b="0" i="0">
                <a:solidFill>
                  <a:srgbClr val="1B2430"/>
                </a:solidFill>
                <a:latin typeface="Calibri"/>
              </a:rPr>
              <a:t>modules, instances, lines</a:t>
            </a:r>
          </a:p>
        </p:txBody>
      </p:sp>
      <p:sp>
        <p:nvSpPr>
          <p:cNvPr id="18" name="card"/>
          <p:cNvSpPr/>
          <p:nvPr/>
        </p:nvSpPr>
        <p:spPr>
          <a:xfrm>
            <a:off x="2743200" y="118872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880360" y="1298448"/>
            <a:ext cx="1828800" cy="320040"/>
          </a:xfrm>
          <a:prstGeom prst="rect">
            <a:avLst/>
          </a:prstGeom>
          <a:noFill/>
        </p:spPr>
        <p:txBody>
          <a:bodyPr wrap="square" lIns="0" rIns="0" tIns="0" bIns="0" anchor="t">
            <a:spAutoFit/>
          </a:bodyPr>
          <a:lstStyle/>
          <a:p>
            <a:pPr algn="l"/>
            <a:r>
              <a:rPr sz="1200" b="1" i="0">
                <a:solidFill>
                  <a:srgbClr val="1C7293"/>
                </a:solidFill>
                <a:latin typeface="Calibri"/>
              </a:rPr>
              <a:t>Ports and parameters</a:t>
            </a:r>
          </a:p>
        </p:txBody>
      </p:sp>
      <p:sp>
        <p:nvSpPr>
          <p:cNvPr id="20" name="TextBox 19"/>
          <p:cNvSpPr txBox="1"/>
          <p:nvPr/>
        </p:nvSpPr>
        <p:spPr>
          <a:xfrm>
            <a:off x="2880360" y="1600200"/>
            <a:ext cx="1828800" cy="411480"/>
          </a:xfrm>
          <a:prstGeom prst="rect">
            <a:avLst/>
          </a:prstGeom>
          <a:noFill/>
        </p:spPr>
        <p:txBody>
          <a:bodyPr wrap="square" lIns="0" rIns="0" tIns="0" bIns="0" anchor="t">
            <a:spAutoFit/>
          </a:bodyPr>
          <a:lstStyle/>
          <a:p>
            <a:pPr algn="l"/>
            <a:r>
              <a:rPr sz="1050" b="0" i="0">
                <a:solidFill>
                  <a:srgbClr val="1B2430"/>
                </a:solidFill>
                <a:latin typeface="Calibri"/>
              </a:rPr>
              <a:t>of the top and every module</a:t>
            </a:r>
          </a:p>
        </p:txBody>
      </p:sp>
      <p:sp>
        <p:nvSpPr>
          <p:cNvPr id="21" name="card"/>
          <p:cNvSpPr/>
          <p:nvPr/>
        </p:nvSpPr>
        <p:spPr>
          <a:xfrm>
            <a:off x="5120640" y="132588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57800" y="1435607"/>
            <a:ext cx="1828800" cy="320040"/>
          </a:xfrm>
          <a:prstGeom prst="rect">
            <a:avLst/>
          </a:prstGeom>
          <a:noFill/>
        </p:spPr>
        <p:txBody>
          <a:bodyPr wrap="square" lIns="0" rIns="0" tIns="0" bIns="0" anchor="t">
            <a:spAutoFit/>
          </a:bodyPr>
          <a:lstStyle/>
          <a:p>
            <a:pPr algn="l"/>
            <a:r>
              <a:rPr sz="1200" b="1" i="0">
                <a:solidFill>
                  <a:srgbClr val="1C7293"/>
                </a:solidFill>
                <a:latin typeface="Calibri"/>
              </a:rPr>
              <a:t>Constraints</a:t>
            </a:r>
          </a:p>
        </p:txBody>
      </p:sp>
      <p:sp>
        <p:nvSpPr>
          <p:cNvPr id="23" name="TextBox 22"/>
          <p:cNvSpPr txBox="1"/>
          <p:nvPr/>
        </p:nvSpPr>
        <p:spPr>
          <a:xfrm>
            <a:off x="5257800" y="1737360"/>
            <a:ext cx="1828800" cy="411480"/>
          </a:xfrm>
          <a:prstGeom prst="rect">
            <a:avLst/>
          </a:prstGeom>
          <a:noFill/>
        </p:spPr>
        <p:txBody>
          <a:bodyPr wrap="square" lIns="0" rIns="0" tIns="0" bIns="0" anchor="t">
            <a:spAutoFit/>
          </a:bodyPr>
          <a:lstStyle/>
          <a:p>
            <a:pPr algn="l"/>
            <a:r>
              <a:rPr sz="1050" b="0" i="0">
                <a:solidFill>
                  <a:srgbClr val="1B2430"/>
                </a:solidFill>
                <a:latin typeface="Calibri"/>
              </a:rPr>
              <a:t>clocks, generated clocks, I/O</a:t>
            </a:r>
          </a:p>
        </p:txBody>
      </p:sp>
      <p:sp>
        <p:nvSpPr>
          <p:cNvPr id="24" name="card"/>
          <p:cNvSpPr/>
          <p:nvPr/>
        </p:nvSpPr>
        <p:spPr>
          <a:xfrm>
            <a:off x="6035040" y="251460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172200" y="2624328"/>
            <a:ext cx="1828800" cy="320040"/>
          </a:xfrm>
          <a:prstGeom prst="rect">
            <a:avLst/>
          </a:prstGeom>
          <a:noFill/>
        </p:spPr>
        <p:txBody>
          <a:bodyPr wrap="square" lIns="0" rIns="0" tIns="0" bIns="0" anchor="t">
            <a:spAutoFit/>
          </a:bodyPr>
          <a:lstStyle/>
          <a:p>
            <a:pPr algn="l"/>
            <a:r>
              <a:rPr sz="1200" b="1" i="0">
                <a:solidFill>
                  <a:srgbClr val="1C7293"/>
                </a:solidFill>
                <a:latin typeface="Calibri"/>
              </a:rPr>
              <a:t>IP usage</a:t>
            </a:r>
          </a:p>
        </p:txBody>
      </p:sp>
      <p:sp>
        <p:nvSpPr>
          <p:cNvPr id="26" name="TextBox 25"/>
          <p:cNvSpPr txBox="1"/>
          <p:nvPr/>
        </p:nvSpPr>
        <p:spPr>
          <a:xfrm>
            <a:off x="6172200" y="2926080"/>
            <a:ext cx="1828800" cy="411480"/>
          </a:xfrm>
          <a:prstGeom prst="rect">
            <a:avLst/>
          </a:prstGeom>
          <a:noFill/>
        </p:spPr>
        <p:txBody>
          <a:bodyPr wrap="square" lIns="0" rIns="0" tIns="0" bIns="0" anchor="t">
            <a:spAutoFit/>
          </a:bodyPr>
          <a:lstStyle/>
          <a:p>
            <a:pPr algn="l"/>
            <a:r>
              <a:rPr sz="1050" b="0" i="0">
                <a:solidFill>
                  <a:srgbClr val="1B2430"/>
                </a:solidFill>
                <a:latin typeface="Calibri"/>
              </a:rPr>
              <a:t>cores, versions, parameters</a:t>
            </a:r>
          </a:p>
        </p:txBody>
      </p:sp>
      <p:sp>
        <p:nvSpPr>
          <p:cNvPr id="27" name="card"/>
          <p:cNvSpPr/>
          <p:nvPr/>
        </p:nvSpPr>
        <p:spPr>
          <a:xfrm>
            <a:off x="6035040" y="370332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172200" y="3813048"/>
            <a:ext cx="1828800" cy="320040"/>
          </a:xfrm>
          <a:prstGeom prst="rect">
            <a:avLst/>
          </a:prstGeom>
          <a:noFill/>
        </p:spPr>
        <p:txBody>
          <a:bodyPr wrap="square" lIns="0" rIns="0" tIns="0" bIns="0" anchor="t">
            <a:spAutoFit/>
          </a:bodyPr>
          <a:lstStyle/>
          <a:p>
            <a:pPr algn="l"/>
            <a:r>
              <a:rPr sz="1200" b="1" i="0">
                <a:solidFill>
                  <a:srgbClr val="1C7293"/>
                </a:solidFill>
                <a:latin typeface="Calibri"/>
              </a:rPr>
              <a:t>Flow results</a:t>
            </a:r>
          </a:p>
        </p:txBody>
      </p:sp>
      <p:sp>
        <p:nvSpPr>
          <p:cNvPr id="29" name="TextBox 28"/>
          <p:cNvSpPr txBox="1"/>
          <p:nvPr/>
        </p:nvSpPr>
        <p:spPr>
          <a:xfrm>
            <a:off x="6172200" y="4114800"/>
            <a:ext cx="1828800" cy="411480"/>
          </a:xfrm>
          <a:prstGeom prst="rect">
            <a:avLst/>
          </a:prstGeom>
          <a:noFill/>
        </p:spPr>
        <p:txBody>
          <a:bodyPr wrap="square" lIns="0" rIns="0" tIns="0" bIns="0" anchor="t">
            <a:spAutoFit/>
          </a:bodyPr>
          <a:lstStyle/>
          <a:p>
            <a:pPr algn="l"/>
            <a:r>
              <a:rPr sz="1050" b="0" i="0">
                <a:solidFill>
                  <a:srgbClr val="1B2430"/>
                </a:solidFill>
                <a:latin typeface="Calibri"/>
              </a:rPr>
              <a:t>resources, timing, warnings</a:t>
            </a:r>
          </a:p>
        </p:txBody>
      </p:sp>
      <p:sp>
        <p:nvSpPr>
          <p:cNvPr id="30" name="card"/>
          <p:cNvSpPr/>
          <p:nvPr/>
        </p:nvSpPr>
        <p:spPr>
          <a:xfrm>
            <a:off x="5120640" y="493776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257800" y="5047488"/>
            <a:ext cx="1828800" cy="320040"/>
          </a:xfrm>
          <a:prstGeom prst="rect">
            <a:avLst/>
          </a:prstGeom>
          <a:noFill/>
        </p:spPr>
        <p:txBody>
          <a:bodyPr wrap="square" lIns="0" rIns="0" tIns="0" bIns="0" anchor="t">
            <a:spAutoFit/>
          </a:bodyPr>
          <a:lstStyle/>
          <a:p>
            <a:pPr algn="l"/>
            <a:r>
              <a:rPr sz="1200" b="1" i="0">
                <a:solidFill>
                  <a:srgbClr val="1C7293"/>
                </a:solidFill>
                <a:latin typeface="Calibri"/>
              </a:rPr>
              <a:t>Registers</a:t>
            </a:r>
          </a:p>
        </p:txBody>
      </p:sp>
      <p:sp>
        <p:nvSpPr>
          <p:cNvPr id="32" name="TextBox 31"/>
          <p:cNvSpPr txBox="1"/>
          <p:nvPr/>
        </p:nvSpPr>
        <p:spPr>
          <a:xfrm>
            <a:off x="5257800" y="5349240"/>
            <a:ext cx="1828800" cy="411480"/>
          </a:xfrm>
          <a:prstGeom prst="rect">
            <a:avLst/>
          </a:prstGeom>
          <a:noFill/>
        </p:spPr>
        <p:txBody>
          <a:bodyPr wrap="square" lIns="0" rIns="0" tIns="0" bIns="0" anchor="t">
            <a:spAutoFit/>
          </a:bodyPr>
          <a:lstStyle/>
          <a:p>
            <a:pPr algn="l"/>
            <a:r>
              <a:rPr sz="1050" b="0" i="0">
                <a:solidFill>
                  <a:srgbClr val="1B2430"/>
                </a:solidFill>
                <a:latin typeface="Calibri"/>
              </a:rPr>
              <a:t>IP-XACT and headers, file:line</a:t>
            </a:r>
          </a:p>
        </p:txBody>
      </p:sp>
      <p:sp>
        <p:nvSpPr>
          <p:cNvPr id="33" name="card"/>
          <p:cNvSpPr/>
          <p:nvPr/>
        </p:nvSpPr>
        <p:spPr>
          <a:xfrm>
            <a:off x="2743200" y="507492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880360" y="5184648"/>
            <a:ext cx="1828800" cy="320040"/>
          </a:xfrm>
          <a:prstGeom prst="rect">
            <a:avLst/>
          </a:prstGeom>
          <a:noFill/>
        </p:spPr>
        <p:txBody>
          <a:bodyPr wrap="square" lIns="0" rIns="0" tIns="0" bIns="0" anchor="t">
            <a:spAutoFit/>
          </a:bodyPr>
          <a:lstStyle/>
          <a:p>
            <a:pPr algn="l"/>
            <a:r>
              <a:rPr sz="1200" b="1" i="0">
                <a:solidFill>
                  <a:srgbClr val="1C7293"/>
                </a:solidFill>
                <a:latin typeface="Calibri"/>
              </a:rPr>
              <a:t>README and rationale</a:t>
            </a:r>
          </a:p>
        </p:txBody>
      </p:sp>
      <p:sp>
        <p:nvSpPr>
          <p:cNvPr id="35" name="TextBox 34"/>
          <p:cNvSpPr txBox="1"/>
          <p:nvPr/>
        </p:nvSpPr>
        <p:spPr>
          <a:xfrm>
            <a:off x="2880360" y="5486400"/>
            <a:ext cx="1828800" cy="411480"/>
          </a:xfrm>
          <a:prstGeom prst="rect">
            <a:avLst/>
          </a:prstGeom>
          <a:noFill/>
        </p:spPr>
        <p:txBody>
          <a:bodyPr wrap="square" lIns="0" rIns="0" tIns="0" bIns="0" anchor="t">
            <a:spAutoFit/>
          </a:bodyPr>
          <a:lstStyle/>
          <a:p>
            <a:pPr algn="l"/>
            <a:r>
              <a:rPr sz="1050" b="0" i="0">
                <a:solidFill>
                  <a:srgbClr val="1B2430"/>
                </a:solidFill>
                <a:latin typeface="Calibri"/>
              </a:rPr>
              <a:t>purpose, decisions, history</a:t>
            </a:r>
          </a:p>
        </p:txBody>
      </p:sp>
      <p:sp>
        <p:nvSpPr>
          <p:cNvPr id="36" name="card"/>
          <p:cNvSpPr/>
          <p:nvPr/>
        </p:nvSpPr>
        <p:spPr>
          <a:xfrm>
            <a:off x="548640" y="493776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5800" y="5047488"/>
            <a:ext cx="1828800" cy="320040"/>
          </a:xfrm>
          <a:prstGeom prst="rect">
            <a:avLst/>
          </a:prstGeom>
          <a:noFill/>
        </p:spPr>
        <p:txBody>
          <a:bodyPr wrap="square" lIns="0" rIns="0" tIns="0" bIns="0" anchor="t">
            <a:spAutoFit/>
          </a:bodyPr>
          <a:lstStyle/>
          <a:p>
            <a:pPr algn="l"/>
            <a:r>
              <a:rPr sz="1200" b="1" i="0">
                <a:solidFill>
                  <a:srgbClr val="1C7293"/>
                </a:solidFill>
                <a:latin typeface="Calibri"/>
              </a:rPr>
              <a:t>Licenses and governance</a:t>
            </a:r>
          </a:p>
        </p:txBody>
      </p:sp>
      <p:sp>
        <p:nvSpPr>
          <p:cNvPr id="38" name="TextBox 37"/>
          <p:cNvSpPr txBox="1"/>
          <p:nvPr/>
        </p:nvSpPr>
        <p:spPr>
          <a:xfrm>
            <a:off x="685800" y="5349240"/>
            <a:ext cx="1828800" cy="411480"/>
          </a:xfrm>
          <a:prstGeom prst="rect">
            <a:avLst/>
          </a:prstGeom>
          <a:noFill/>
        </p:spPr>
        <p:txBody>
          <a:bodyPr wrap="square" lIns="0" rIns="0" tIns="0" bIns="0" anchor="t">
            <a:spAutoFit/>
          </a:bodyPr>
          <a:lstStyle/>
          <a:p>
            <a:pPr algn="l"/>
            <a:r>
              <a:rPr sz="1050" b="0" i="0">
                <a:solidFill>
                  <a:srgbClr val="1B2430"/>
                </a:solidFill>
                <a:latin typeface="Calibri"/>
              </a:rPr>
              <a:t>per file, per entry</a:t>
            </a:r>
          </a:p>
        </p:txBody>
      </p:sp>
      <p:sp>
        <p:nvSpPr>
          <p:cNvPr id="39" name="card"/>
          <p:cNvSpPr/>
          <p:nvPr/>
        </p:nvSpPr>
        <p:spPr>
          <a:xfrm>
            <a:off x="548640" y="251460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85800" y="2624328"/>
            <a:ext cx="1828800" cy="320040"/>
          </a:xfrm>
          <a:prstGeom prst="rect">
            <a:avLst/>
          </a:prstGeom>
          <a:noFill/>
        </p:spPr>
        <p:txBody>
          <a:bodyPr wrap="square" lIns="0" rIns="0" tIns="0" bIns="0" anchor="t">
            <a:spAutoFit/>
          </a:bodyPr>
          <a:lstStyle/>
          <a:p>
            <a:pPr algn="l"/>
            <a:r>
              <a:rPr sz="1200" b="1" i="0">
                <a:solidFill>
                  <a:srgbClr val="1C7293"/>
                </a:solidFill>
                <a:latin typeface="Calibri"/>
              </a:rPr>
              <a:t>Verification</a:t>
            </a:r>
          </a:p>
        </p:txBody>
      </p:sp>
      <p:sp>
        <p:nvSpPr>
          <p:cNvPr id="41" name="TextBox 40"/>
          <p:cNvSpPr txBox="1"/>
          <p:nvPr/>
        </p:nvSpPr>
        <p:spPr>
          <a:xfrm>
            <a:off x="685800" y="2926080"/>
            <a:ext cx="1828800" cy="411480"/>
          </a:xfrm>
          <a:prstGeom prst="rect">
            <a:avLst/>
          </a:prstGeom>
          <a:noFill/>
        </p:spPr>
        <p:txBody>
          <a:bodyPr wrap="square" lIns="0" rIns="0" tIns="0" bIns="0" anchor="t">
            <a:spAutoFit/>
          </a:bodyPr>
          <a:lstStyle/>
          <a:p>
            <a:pPr algn="l"/>
            <a:r>
              <a:rPr sz="1050" b="0" i="0">
                <a:solidFill>
                  <a:srgbClr val="1B2430"/>
                </a:solidFill>
                <a:latin typeface="Calibri"/>
              </a:rPr>
              <a:t>simulators, self-checking, coverage</a:t>
            </a:r>
          </a:p>
        </p:txBody>
      </p:sp>
      <p:sp>
        <p:nvSpPr>
          <p:cNvPr id="42" name="card"/>
          <p:cNvSpPr/>
          <p:nvPr/>
        </p:nvSpPr>
        <p:spPr>
          <a:xfrm>
            <a:off x="548640" y="3703320"/>
            <a:ext cx="2011680" cy="868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85800" y="3813048"/>
            <a:ext cx="1828800" cy="320040"/>
          </a:xfrm>
          <a:prstGeom prst="rect">
            <a:avLst/>
          </a:prstGeom>
          <a:noFill/>
        </p:spPr>
        <p:txBody>
          <a:bodyPr wrap="square" lIns="0" rIns="0" tIns="0" bIns="0" anchor="t">
            <a:spAutoFit/>
          </a:bodyPr>
          <a:lstStyle/>
          <a:p>
            <a:pPr algn="l"/>
            <a:r>
              <a:rPr sz="1200" b="1" i="0">
                <a:solidFill>
                  <a:srgbClr val="1C7293"/>
                </a:solidFill>
                <a:latin typeface="Calibri"/>
              </a:rPr>
              <a:t>Versions</a:t>
            </a:r>
          </a:p>
        </p:txBody>
      </p:sp>
      <p:sp>
        <p:nvSpPr>
          <p:cNvPr id="44" name="TextBox 43"/>
          <p:cNvSpPr txBox="1"/>
          <p:nvPr/>
        </p:nvSpPr>
        <p:spPr>
          <a:xfrm>
            <a:off x="685800" y="4114800"/>
            <a:ext cx="1828800" cy="411480"/>
          </a:xfrm>
          <a:prstGeom prst="rect">
            <a:avLst/>
          </a:prstGeom>
          <a:noFill/>
        </p:spPr>
        <p:txBody>
          <a:bodyPr wrap="square" lIns="0" rIns="0" tIns="0" bIns="0" anchor="t">
            <a:spAutoFit/>
          </a:bodyPr>
          <a:lstStyle/>
          <a:p>
            <a:pPr algn="l"/>
            <a:r>
              <a:rPr sz="1050" b="0" i="0">
                <a:solidFill>
                  <a:srgbClr val="1B2430"/>
                </a:solidFill>
                <a:latin typeface="Calibri"/>
              </a:rPr>
              <a:t>history and structural diff</a:t>
            </a:r>
          </a:p>
        </p:txBody>
      </p:sp>
      <p:sp>
        <p:nvSpPr>
          <p:cNvPr id="45" name="entry"/>
          <p:cNvSpPr/>
          <p:nvPr/>
        </p:nvSpPr>
        <p:spPr>
          <a:xfrm>
            <a:off x="3108960" y="2788920"/>
            <a:ext cx="2103120" cy="1280160"/>
          </a:xfrm>
          <a:prstGeom prst="ellipse">
            <a:avLst/>
          </a:prstGeom>
          <a:solidFill>
            <a:srgbClr val="0F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3108960" y="3108960"/>
            <a:ext cx="2103120" cy="640080"/>
          </a:xfrm>
          <a:prstGeom prst="rect">
            <a:avLst/>
          </a:prstGeom>
          <a:noFill/>
        </p:spPr>
        <p:txBody>
          <a:bodyPr wrap="square" lIns="0" rIns="0" tIns="0" bIns="0" anchor="t">
            <a:spAutoFit/>
          </a:bodyPr>
          <a:lstStyle/>
          <a:p>
            <a:pPr algn="ctr"/>
            <a:r>
              <a:rPr sz="1500" b="1" i="0">
                <a:solidFill>
                  <a:srgbClr val="FFFFFF"/>
                </a:solidFill>
                <a:latin typeface="Calibri"/>
              </a:rPr>
              <a:t>cpnx_gsrd</a:t>
            </a:r>
          </a:p>
          <a:p>
            <a:pPr algn="ctr"/>
            <a:r>
              <a:rPr sz="1500" b="1" i="0">
                <a:solidFill>
                  <a:srgbClr val="FFFFFF"/>
                </a:solidFill>
                <a:latin typeface="Calibri"/>
              </a:rPr>
              <a:t>design entry</a:t>
            </a:r>
          </a:p>
        </p:txBody>
      </p:sp>
      <p:sp>
        <p:nvSpPr>
          <p:cNvPr id="47" name="card"/>
          <p:cNvSpPr/>
          <p:nvPr/>
        </p:nvSpPr>
        <p:spPr>
          <a:xfrm>
            <a:off x="8595360" y="1325880"/>
            <a:ext cx="3017520" cy="10515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778240" y="1371600"/>
            <a:ext cx="1463040" cy="822960"/>
          </a:xfrm>
          <a:prstGeom prst="rect">
            <a:avLst/>
          </a:prstGeom>
          <a:noFill/>
        </p:spPr>
        <p:txBody>
          <a:bodyPr wrap="square" lIns="0" rIns="0" tIns="0" bIns="0" anchor="ctr">
            <a:spAutoFit/>
          </a:bodyPr>
          <a:lstStyle/>
          <a:p>
            <a:pPr algn="l"/>
            <a:r>
              <a:rPr sz="3000" b="1" i="0">
                <a:solidFill>
                  <a:srgbClr val="1C7293"/>
                </a:solidFill>
                <a:latin typeface="Cambria"/>
              </a:rPr>
              <a:t>190</a:t>
            </a:r>
          </a:p>
        </p:txBody>
      </p:sp>
      <p:sp>
        <p:nvSpPr>
          <p:cNvPr id="49" name="TextBox 48"/>
          <p:cNvSpPr txBox="1"/>
          <p:nvPr/>
        </p:nvSpPr>
        <p:spPr>
          <a:xfrm>
            <a:off x="10195560" y="1481328"/>
            <a:ext cx="1371600" cy="777240"/>
          </a:xfrm>
          <a:prstGeom prst="rect">
            <a:avLst/>
          </a:prstGeom>
          <a:noFill/>
        </p:spPr>
        <p:txBody>
          <a:bodyPr wrap="square" lIns="0" rIns="0" tIns="0" bIns="0" anchor="ctr">
            <a:spAutoFit/>
          </a:bodyPr>
          <a:lstStyle/>
          <a:p>
            <a:pPr algn="l"/>
            <a:r>
              <a:rPr sz="1100" b="0" i="0">
                <a:solidFill>
                  <a:srgbClr val="1B2430"/>
                </a:solidFill>
                <a:latin typeface="Calibri"/>
              </a:rPr>
              <a:t>registers with file and line</a:t>
            </a:r>
          </a:p>
        </p:txBody>
      </p:sp>
      <p:sp>
        <p:nvSpPr>
          <p:cNvPr id="50" name="card"/>
          <p:cNvSpPr/>
          <p:nvPr/>
        </p:nvSpPr>
        <p:spPr>
          <a:xfrm>
            <a:off x="8595360" y="2514600"/>
            <a:ext cx="3017520" cy="10515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778240" y="2560320"/>
            <a:ext cx="1463040" cy="822960"/>
          </a:xfrm>
          <a:prstGeom prst="rect">
            <a:avLst/>
          </a:prstGeom>
          <a:noFill/>
        </p:spPr>
        <p:txBody>
          <a:bodyPr wrap="square" lIns="0" rIns="0" tIns="0" bIns="0" anchor="ctr">
            <a:spAutoFit/>
          </a:bodyPr>
          <a:lstStyle/>
          <a:p>
            <a:pPr algn="l"/>
            <a:r>
              <a:rPr sz="3000" b="1" i="0">
                <a:solidFill>
                  <a:srgbClr val="1C7293"/>
                </a:solidFill>
                <a:latin typeface="Cambria"/>
              </a:rPr>
              <a:t>16</a:t>
            </a:r>
          </a:p>
        </p:txBody>
      </p:sp>
      <p:sp>
        <p:nvSpPr>
          <p:cNvPr id="52" name="TextBox 51"/>
          <p:cNvSpPr txBox="1"/>
          <p:nvPr/>
        </p:nvSpPr>
        <p:spPr>
          <a:xfrm>
            <a:off x="10195560" y="2670048"/>
            <a:ext cx="1371600" cy="777240"/>
          </a:xfrm>
          <a:prstGeom prst="rect">
            <a:avLst/>
          </a:prstGeom>
          <a:noFill/>
        </p:spPr>
        <p:txBody>
          <a:bodyPr wrap="square" lIns="0" rIns="0" tIns="0" bIns="0" anchor="ctr">
            <a:spAutoFit/>
          </a:bodyPr>
          <a:lstStyle/>
          <a:p>
            <a:pPr algn="l"/>
            <a:r>
              <a:rPr sz="1100" b="0" i="0">
                <a:solidFill>
                  <a:srgbClr val="1B2430"/>
                </a:solidFill>
                <a:latin typeface="Calibri"/>
              </a:rPr>
              <a:t>IP cores with versions</a:t>
            </a:r>
          </a:p>
        </p:txBody>
      </p:sp>
      <p:sp>
        <p:nvSpPr>
          <p:cNvPr id="53" name="card"/>
          <p:cNvSpPr/>
          <p:nvPr/>
        </p:nvSpPr>
        <p:spPr>
          <a:xfrm>
            <a:off x="8595360" y="3703320"/>
            <a:ext cx="3017520" cy="10515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778240" y="3749039"/>
            <a:ext cx="1463040" cy="822960"/>
          </a:xfrm>
          <a:prstGeom prst="rect">
            <a:avLst/>
          </a:prstGeom>
          <a:noFill/>
        </p:spPr>
        <p:txBody>
          <a:bodyPr wrap="square" lIns="0" rIns="0" tIns="0" bIns="0" anchor="ctr">
            <a:spAutoFit/>
          </a:bodyPr>
          <a:lstStyle/>
          <a:p>
            <a:pPr algn="l"/>
            <a:r>
              <a:rPr sz="3000" b="1" i="0">
                <a:solidFill>
                  <a:srgbClr val="1C7293"/>
                </a:solidFill>
                <a:latin typeface="Cambria"/>
              </a:rPr>
              <a:t>13</a:t>
            </a:r>
          </a:p>
        </p:txBody>
      </p:sp>
      <p:sp>
        <p:nvSpPr>
          <p:cNvPr id="55" name="TextBox 54"/>
          <p:cNvSpPr txBox="1"/>
          <p:nvPr/>
        </p:nvSpPr>
        <p:spPr>
          <a:xfrm>
            <a:off x="10195560" y="3858768"/>
            <a:ext cx="1371600" cy="777240"/>
          </a:xfrm>
          <a:prstGeom prst="rect">
            <a:avLst/>
          </a:prstGeom>
          <a:noFill/>
        </p:spPr>
        <p:txBody>
          <a:bodyPr wrap="square" lIns="0" rIns="0" tIns="0" bIns="0" anchor="ctr">
            <a:spAutoFit/>
          </a:bodyPr>
          <a:lstStyle/>
          <a:p>
            <a:pPr algn="l"/>
            <a:r>
              <a:rPr sz="1100" b="0" i="0">
                <a:solidFill>
                  <a:srgbClr val="1B2430"/>
                </a:solidFill>
                <a:latin typeface="Calibri"/>
              </a:rPr>
              <a:t>asynchronous clock groups</a:t>
            </a:r>
          </a:p>
        </p:txBody>
      </p:sp>
      <p:sp>
        <p:nvSpPr>
          <p:cNvPr id="56" name="card"/>
          <p:cNvSpPr/>
          <p:nvPr/>
        </p:nvSpPr>
        <p:spPr>
          <a:xfrm>
            <a:off x="8595360" y="4892040"/>
            <a:ext cx="3017520" cy="10515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8778240" y="4937760"/>
            <a:ext cx="1463040" cy="822960"/>
          </a:xfrm>
          <a:prstGeom prst="rect">
            <a:avLst/>
          </a:prstGeom>
          <a:noFill/>
        </p:spPr>
        <p:txBody>
          <a:bodyPr wrap="square" lIns="0" rIns="0" tIns="0" bIns="0" anchor="ctr">
            <a:spAutoFit/>
          </a:bodyPr>
          <a:lstStyle/>
          <a:p>
            <a:pPr algn="l"/>
            <a:r>
              <a:rPr sz="3000" b="1" i="0">
                <a:solidFill>
                  <a:srgbClr val="1C7293"/>
                </a:solidFill>
                <a:latin typeface="Cambria"/>
              </a:rPr>
              <a:t>35 465</a:t>
            </a:r>
          </a:p>
        </p:txBody>
      </p:sp>
      <p:sp>
        <p:nvSpPr>
          <p:cNvPr id="58" name="TextBox 57"/>
          <p:cNvSpPr txBox="1"/>
          <p:nvPr/>
        </p:nvSpPr>
        <p:spPr>
          <a:xfrm>
            <a:off x="10195560" y="5047488"/>
            <a:ext cx="1371600" cy="777240"/>
          </a:xfrm>
          <a:prstGeom prst="rect">
            <a:avLst/>
          </a:prstGeom>
          <a:noFill/>
        </p:spPr>
        <p:txBody>
          <a:bodyPr wrap="square" lIns="0" rIns="0" tIns="0" bIns="0" anchor="ctr">
            <a:spAutoFit/>
          </a:bodyPr>
          <a:lstStyle/>
          <a:p>
            <a:pPr algn="l"/>
            <a:r>
              <a:rPr sz="1100" b="0" i="0">
                <a:solidFill>
                  <a:srgbClr val="1B2430"/>
                </a:solidFill>
                <a:latin typeface="Calibri"/>
              </a:rPr>
              <a:t>LUT baseline, Radiant 2025.1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Derived by scanners, authored by people</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9</a:t>
            </a:r>
          </a:p>
        </p:txBody>
      </p:sp>
      <p:sp>
        <p:nvSpPr>
          <p:cNvPr id="5" name="TextBox 4"/>
          <p:cNvSpPr txBox="1"/>
          <p:nvPr/>
        </p:nvSpPr>
        <p:spPr>
          <a:xfrm>
            <a:off x="548640" y="1280160"/>
            <a:ext cx="5486400" cy="365760"/>
          </a:xfrm>
          <a:prstGeom prst="rect">
            <a:avLst/>
          </a:prstGeom>
          <a:noFill/>
        </p:spPr>
        <p:txBody>
          <a:bodyPr wrap="square" lIns="0" rIns="0" tIns="0" bIns="0" anchor="t">
            <a:spAutoFit/>
          </a:bodyPr>
          <a:lstStyle/>
          <a:p>
            <a:pPr algn="l"/>
            <a:r>
              <a:rPr sz="1800" b="1" i="0">
                <a:solidFill>
                  <a:srgbClr val="1C7293"/>
                </a:solidFill>
                <a:latin typeface="Calibri"/>
              </a:rPr>
              <a:t>Derived, refreshed on every rescan</a:t>
            </a:r>
          </a:p>
        </p:txBody>
      </p:sp>
      <p:sp>
        <p:nvSpPr>
          <p:cNvPr id="6" name="TextBox 5"/>
          <p:cNvSpPr txBox="1"/>
          <p:nvPr/>
        </p:nvSpPr>
        <p:spPr>
          <a:xfrm>
            <a:off x="6400800" y="1280160"/>
            <a:ext cx="5486400" cy="365760"/>
          </a:xfrm>
          <a:prstGeom prst="rect">
            <a:avLst/>
          </a:prstGeom>
          <a:noFill/>
        </p:spPr>
        <p:txBody>
          <a:bodyPr wrap="square" lIns="0" rIns="0" tIns="0" bIns="0" anchor="t">
            <a:spAutoFit/>
          </a:bodyPr>
          <a:lstStyle/>
          <a:p>
            <a:pPr algn="l"/>
            <a:r>
              <a:rPr sz="1800" b="1" i="0">
                <a:solidFill>
                  <a:srgbClr val="E0A458"/>
                </a:solidFill>
                <a:latin typeface="Calibri"/>
              </a:rPr>
              <a:t>Authored, reviewed once</a:t>
            </a:r>
          </a:p>
        </p:txBody>
      </p:sp>
      <p:sp>
        <p:nvSpPr>
          <p:cNvPr id="7" name="card"/>
          <p:cNvSpPr/>
          <p:nvPr/>
        </p:nvSpPr>
        <p:spPr>
          <a:xfrm>
            <a:off x="548640" y="1783080"/>
            <a:ext cx="5486400" cy="356616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p:cNvSpPr/>
          <p:nvPr/>
        </p:nvSpPr>
        <p:spPr>
          <a:xfrm>
            <a:off x="6400800" y="1783080"/>
            <a:ext cx="5212080" cy="356616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011680"/>
            <a:ext cx="5029200" cy="3291840"/>
          </a:xfrm>
          <a:prstGeom prst="rect">
            <a:avLst/>
          </a:prstGeom>
          <a:noFill/>
        </p:spPr>
        <p:txBody>
          <a:bodyPr wrap="square" lIns="0" rIns="0" tIns="0" bIns="0">
            <a:spAutoFit/>
          </a:bodyPr>
          <a:lstStyle/>
          <a:p>
            <a:pPr marL="201168" indent="-201168">
              <a:spcAft>
                <a:spcPts val="400"/>
              </a:spcAft>
              <a:buChar char="•"/>
            </a:pPr>
            <a:r>
              <a:rPr sz="1400">
                <a:solidFill>
                  <a:srgbClr val="1B2430"/>
                </a:solidFill>
                <a:latin typeface="Calibri"/>
              </a:rPr>
              <a:t>Structure: modules, instances, ports, parameters</a:t>
            </a:r>
          </a:p>
          <a:p>
            <a:pPr marL="201168" indent="-201168">
              <a:spcAft>
                <a:spcPts val="400"/>
              </a:spcAft>
              <a:buChar char="•"/>
            </a:pPr>
            <a:r>
              <a:rPr sz="1400">
                <a:solidFill>
                  <a:srgbClr val="1B2430"/>
                </a:solidFill>
                <a:latin typeface="Calibri"/>
              </a:rPr>
              <a:t>Project: device, Radiant version, strategy</a:t>
            </a:r>
          </a:p>
          <a:p>
            <a:pPr marL="201168" indent="-201168">
              <a:spcAft>
                <a:spcPts val="400"/>
              </a:spcAft>
              <a:buChar char="•"/>
            </a:pPr>
            <a:r>
              <a:rPr sz="1400">
                <a:solidFill>
                  <a:srgbClr val="1B2430"/>
                </a:solidFill>
                <a:latin typeface="Calibri"/>
              </a:rPr>
              <a:t>Constraints: clocks, false paths, I/O standards</a:t>
            </a:r>
          </a:p>
          <a:p>
            <a:pPr marL="201168" indent="-201168">
              <a:spcAft>
                <a:spcPts val="400"/>
              </a:spcAft>
              <a:buChar char="•"/>
            </a:pPr>
            <a:r>
              <a:rPr sz="1400">
                <a:solidFill>
                  <a:srgbClr val="1B2430"/>
                </a:solidFill>
                <a:latin typeface="Calibri"/>
              </a:rPr>
              <a:t>IP: cores, versions, parameters, generated files</a:t>
            </a:r>
          </a:p>
          <a:p>
            <a:pPr marL="201168" indent="-201168">
              <a:spcAft>
                <a:spcPts val="400"/>
              </a:spcAft>
              <a:buChar char="•"/>
            </a:pPr>
            <a:r>
              <a:rPr sz="1400">
                <a:solidFill>
                  <a:srgbClr val="1B2430"/>
                </a:solidFill>
                <a:latin typeface="Calibri"/>
              </a:rPr>
              <a:t>Flow: resources, timing, warnings per run</a:t>
            </a:r>
          </a:p>
          <a:p>
            <a:pPr marL="201168" indent="-201168">
              <a:spcAft>
                <a:spcPts val="400"/>
              </a:spcAft>
              <a:buChar char="•"/>
            </a:pPr>
            <a:r>
              <a:rPr sz="1400">
                <a:solidFill>
                  <a:srgbClr val="1B2430"/>
                </a:solidFill>
                <a:latin typeface="Calibri"/>
              </a:rPr>
              <a:t>Verification: simulators, self-checking tests, coverage</a:t>
            </a:r>
          </a:p>
          <a:p>
            <a:pPr marL="201168" indent="-201168">
              <a:spcAft>
                <a:spcPts val="400"/>
              </a:spcAft>
              <a:buChar char="•"/>
            </a:pPr>
            <a:r>
              <a:rPr sz="1400">
                <a:solidFill>
                  <a:srgbClr val="1B2430"/>
                </a:solidFill>
                <a:latin typeface="Calibri"/>
              </a:rPr>
              <a:t>Documentation: README sections indexed for search</a:t>
            </a:r>
          </a:p>
          <a:p>
            <a:pPr marL="201168" indent="-201168">
              <a:spcAft>
                <a:spcPts val="400"/>
              </a:spcAft>
              <a:buChar char="•"/>
            </a:pPr>
            <a:r>
              <a:rPr sz="1400">
                <a:solidFill>
                  <a:srgbClr val="1B2430"/>
                </a:solidFill>
                <a:latin typeface="Calibri"/>
              </a:rPr>
              <a:t>Licenses: marker per file, class, copyright holder</a:t>
            </a:r>
          </a:p>
          <a:p>
            <a:pPr marL="201168" indent="-201168">
              <a:spcAft>
                <a:spcPts val="400"/>
              </a:spcAft>
              <a:buChar char="•"/>
            </a:pPr>
            <a:r>
              <a:rPr sz="1400">
                <a:solidFill>
                  <a:srgbClr val="1B2430"/>
                </a:solidFill>
                <a:latin typeface="Calibri"/>
              </a:rPr>
              <a:t>Registers: IP-XACT memory maps and header macros</a:t>
            </a:r>
          </a:p>
        </p:txBody>
      </p:sp>
      <p:sp>
        <p:nvSpPr>
          <p:cNvPr id="10" name="TextBox 9"/>
          <p:cNvSpPr txBox="1"/>
          <p:nvPr/>
        </p:nvSpPr>
        <p:spPr>
          <a:xfrm>
            <a:off x="6629400" y="2011680"/>
            <a:ext cx="4754880" cy="3291840"/>
          </a:xfrm>
          <a:prstGeom prst="rect">
            <a:avLst/>
          </a:prstGeom>
          <a:noFill/>
        </p:spPr>
        <p:txBody>
          <a:bodyPr wrap="square" lIns="0" rIns="0" tIns="0" bIns="0">
            <a:spAutoFit/>
          </a:bodyPr>
          <a:lstStyle/>
          <a:p>
            <a:pPr marL="201168" indent="-201168">
              <a:spcAft>
                <a:spcPts val="400"/>
              </a:spcAft>
              <a:buChar char="•"/>
            </a:pPr>
            <a:r>
              <a:rPr sz="1400">
                <a:solidFill>
                  <a:srgbClr val="1B2430"/>
                </a:solidFill>
                <a:latin typeface="Calibri"/>
              </a:rPr>
              <a:t>Summary, categories and tags</a:t>
            </a:r>
          </a:p>
          <a:p>
            <a:pPr marL="201168" indent="-201168">
              <a:spcAft>
                <a:spcPts val="400"/>
              </a:spcAft>
              <a:buChar char="•"/>
            </a:pPr>
            <a:r>
              <a:rPr sz="1400">
                <a:solidFill>
                  <a:srgbClr val="1B2430"/>
                </a:solidFill>
                <a:latin typeface="Calibri"/>
              </a:rPr>
              <a:t>Design rationale in the README</a:t>
            </a:r>
          </a:p>
          <a:p>
            <a:pPr marL="201168" indent="-201168">
              <a:spcAft>
                <a:spcPts val="400"/>
              </a:spcAft>
              <a:buChar char="•"/>
            </a:pPr>
            <a:r>
              <a:rPr sz="1400">
                <a:solidFill>
                  <a:srgbClr val="1B2430"/>
                </a:solidFill>
                <a:latin typeface="Calibri"/>
              </a:rPr>
              <a:t>Reusable-module and pattern proposals</a:t>
            </a:r>
          </a:p>
          <a:p>
            <a:pPr marL="201168" indent="-201168">
              <a:spcAft>
                <a:spcPts val="400"/>
              </a:spcAft>
              <a:buChar char="•"/>
            </a:pPr>
            <a:r>
              <a:rPr sz="1400">
                <a:solidFill>
                  <a:srgbClr val="1B2430"/>
                </a:solidFill>
                <a:latin typeface="Calibri"/>
              </a:rPr>
              <a:t>Governance: maturity, license, provenance, export control, classification</a:t>
            </a:r>
          </a:p>
          <a:p>
            <a:pPr marL="201168" indent="-201168">
              <a:spcAft>
                <a:spcPts val="400"/>
              </a:spcAft>
              <a:buChar char="•"/>
            </a:pPr>
            <a:r>
              <a:rPr sz="1400">
                <a:solidFill>
                  <a:srgbClr val="1B2430"/>
                </a:solidFill>
                <a:latin typeface="Calibri"/>
              </a:rPr>
              <a:t>Board facts an engineer verified (JTAG, cable, pins)</a:t>
            </a:r>
          </a:p>
          <a:p>
            <a:pPr marL="201168" indent="-201168">
              <a:spcAft>
                <a:spcPts val="400"/>
              </a:spcAft>
              <a:buChar char="•"/>
            </a:pPr>
            <a:r>
              <a:rPr sz="1400">
                <a:solidFill>
                  <a:srgbClr val="1B2430"/>
                </a:solidFill>
                <a:latin typeface="Calibri"/>
              </a:rPr>
              <a:t>Skills: procedures for changing the design</a:t>
            </a:r>
          </a:p>
          <a:p>
            <a:pPr marL="201168" indent="-201168">
              <a:spcAft>
                <a:spcPts val="400"/>
              </a:spcAft>
              <a:buChar char="•"/>
            </a:pPr>
            <a:r>
              <a:rPr sz="1400">
                <a:solidFill>
                  <a:srgbClr val="1B2430"/>
                </a:solidFill>
                <a:latin typeface="Calibri"/>
              </a:rPr>
              <a:t>Review answers at export: deviations, gaps accepted with reasons</a:t>
            </a:r>
          </a:p>
        </p:txBody>
      </p:sp>
      <p:sp>
        <p:nvSpPr>
          <p:cNvPr id="11" name="icon"/>
          <p:cNvSpPr/>
          <p:nvPr/>
        </p:nvSpPr>
        <p:spPr>
          <a:xfrm>
            <a:off x="5897880" y="3246120"/>
            <a:ext cx="640080" cy="64008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800" b="1" i="0">
                <a:solidFill>
                  <a:srgbClr val="FFFFFF"/>
                </a:solidFill>
                <a:latin typeface="Cambria"/>
              </a:rPr>
              <a:t>+</a:t>
            </a:r>
          </a:p>
        </p:txBody>
      </p:sp>
      <p:sp>
        <p:nvSpPr>
          <p:cNvPr id="12" name="TextBox 11"/>
          <p:cNvSpPr txBox="1"/>
          <p:nvPr/>
        </p:nvSpPr>
        <p:spPr>
          <a:xfrm>
            <a:off x="548640" y="5532120"/>
            <a:ext cx="11064240" cy="457200"/>
          </a:xfrm>
          <a:prstGeom prst="rect">
            <a:avLst/>
          </a:prstGeom>
          <a:noFill/>
        </p:spPr>
        <p:txBody>
          <a:bodyPr wrap="square" lIns="0" rIns="0" tIns="0" bIns="0" anchor="t">
            <a:spAutoFit/>
          </a:bodyPr>
          <a:lstStyle/>
          <a:p>
            <a:pPr algn="l"/>
            <a:r>
              <a:rPr sz="1200" b="0" i="1">
                <a:solidFill>
                  <a:srgbClr val="6C8EA4"/>
                </a:solidFill>
                <a:latin typeface="Calibri"/>
              </a:rPr>
              <a:t>Validation refuses a derived file that does not match a fresh scan of the pinned sources, and refuses authored content with secrets, personal data or an undeclared classification.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Example: an existing design enters the base in six prompts</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10</a:t>
            </a:r>
          </a:p>
        </p:txBody>
      </p:sp>
      <p:sp>
        <p:nvSpPr>
          <p:cNvPr id="5" name="TextBox 4"/>
          <p:cNvSpPr txBox="1"/>
          <p:nvPr/>
        </p:nvSpPr>
        <p:spPr>
          <a:xfrm>
            <a:off x="548640" y="1188720"/>
            <a:ext cx="4206240" cy="320040"/>
          </a:xfrm>
          <a:prstGeom prst="rect">
            <a:avLst/>
          </a:prstGeom>
          <a:noFill/>
        </p:spPr>
        <p:txBody>
          <a:bodyPr wrap="square" lIns="0" rIns="0" tIns="0" bIns="0" anchor="t">
            <a:spAutoFit/>
          </a:bodyPr>
          <a:lstStyle/>
          <a:p>
            <a:pPr algn="l"/>
            <a:r>
              <a:rPr sz="1400" b="1" i="0">
                <a:solidFill>
                  <a:srgbClr val="E0A458"/>
                </a:solidFill>
                <a:latin typeface="Calibri"/>
              </a:rPr>
              <a:t>The engineer says</a:t>
            </a:r>
          </a:p>
        </p:txBody>
      </p:sp>
      <p:sp>
        <p:nvSpPr>
          <p:cNvPr id="6" name="TextBox 5"/>
          <p:cNvSpPr txBox="1"/>
          <p:nvPr/>
        </p:nvSpPr>
        <p:spPr>
          <a:xfrm>
            <a:off x="4983480" y="1188720"/>
            <a:ext cx="2377440" cy="320040"/>
          </a:xfrm>
          <a:prstGeom prst="rect">
            <a:avLst/>
          </a:prstGeom>
          <a:noFill/>
        </p:spPr>
        <p:txBody>
          <a:bodyPr wrap="square" lIns="0" rIns="0" tIns="0" bIns="0" anchor="t">
            <a:spAutoFit/>
          </a:bodyPr>
          <a:lstStyle/>
          <a:p>
            <a:pPr algn="l"/>
            <a:r>
              <a:rPr sz="1400" b="1" i="0">
                <a:solidFill>
                  <a:srgbClr val="1C7293"/>
                </a:solidFill>
                <a:latin typeface="Calibri"/>
              </a:rPr>
              <a:t>Tool the agent calls</a:t>
            </a:r>
          </a:p>
        </p:txBody>
      </p:sp>
      <p:sp>
        <p:nvSpPr>
          <p:cNvPr id="7" name="TextBox 6"/>
          <p:cNvSpPr txBox="1"/>
          <p:nvPr/>
        </p:nvSpPr>
        <p:spPr>
          <a:xfrm>
            <a:off x="7498079" y="1188720"/>
            <a:ext cx="4114800" cy="320040"/>
          </a:xfrm>
          <a:prstGeom prst="rect">
            <a:avLst/>
          </a:prstGeom>
          <a:noFill/>
        </p:spPr>
        <p:txBody>
          <a:bodyPr wrap="square" lIns="0" rIns="0" tIns="0" bIns="0" anchor="t">
            <a:spAutoFit/>
          </a:bodyPr>
          <a:lstStyle/>
          <a:p>
            <a:pPr algn="l"/>
            <a:r>
              <a:rPr sz="1400" b="1" i="0">
                <a:solidFill>
                  <a:srgbClr val="02C39A"/>
                </a:solidFill>
                <a:latin typeface="Calibri"/>
              </a:rPr>
              <a:t>What is stored</a:t>
            </a:r>
          </a:p>
        </p:txBody>
      </p:sp>
      <p:sp>
        <p:nvSpPr>
          <p:cNvPr id="8" name="card"/>
          <p:cNvSpPr/>
          <p:nvPr/>
        </p:nvSpPr>
        <p:spPr>
          <a:xfrm>
            <a:off x="548640" y="1600200"/>
            <a:ext cx="11064240" cy="6400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con"/>
          <p:cNvSpPr/>
          <p:nvPr/>
        </p:nvSpPr>
        <p:spPr>
          <a:xfrm>
            <a:off x="685800" y="1755648"/>
            <a:ext cx="329184" cy="329184"/>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1</a:t>
            </a:r>
          </a:p>
        </p:txBody>
      </p:sp>
      <p:sp>
        <p:nvSpPr>
          <p:cNvPr id="10" name="TextBox 9"/>
          <p:cNvSpPr txBox="1"/>
          <p:nvPr/>
        </p:nvSpPr>
        <p:spPr>
          <a:xfrm>
            <a:off x="1143000" y="1645920"/>
            <a:ext cx="3657600" cy="548640"/>
          </a:xfrm>
          <a:prstGeom prst="rect">
            <a:avLst/>
          </a:prstGeom>
          <a:noFill/>
        </p:spPr>
        <p:txBody>
          <a:bodyPr wrap="square" lIns="0" rIns="0" tIns="0" bIns="0" anchor="ctr">
            <a:spAutoFit/>
          </a:bodyPr>
          <a:lstStyle/>
          <a:p>
            <a:pPr algn="l"/>
            <a:r>
              <a:rPr sz="1050" b="0" i="1">
                <a:solidFill>
                  <a:srgbClr val="1B2430"/>
                </a:solidFill>
                <a:latin typeface="Calibri"/>
              </a:rPr>
              <a:t>“Look at C:\proj\cam_bridge and tell me what you need to add it to the knowledge base.”</a:t>
            </a:r>
          </a:p>
        </p:txBody>
      </p:sp>
      <p:sp>
        <p:nvSpPr>
          <p:cNvPr id="11" name="TextBox 10"/>
          <p:cNvSpPr txBox="1"/>
          <p:nvPr/>
        </p:nvSpPr>
        <p:spPr>
          <a:xfrm>
            <a:off x="4983480" y="1645920"/>
            <a:ext cx="2377440" cy="548640"/>
          </a:xfrm>
          <a:prstGeom prst="rect">
            <a:avLst/>
          </a:prstGeom>
          <a:noFill/>
        </p:spPr>
        <p:txBody>
          <a:bodyPr wrap="square" lIns="0" rIns="0" tIns="0" bIns="0" anchor="ctr">
            <a:spAutoFit/>
          </a:bodyPr>
          <a:lstStyle/>
          <a:p>
            <a:pPr algn="l"/>
            <a:r>
              <a:rPr sz="1100" b="1" i="0">
                <a:solidFill>
                  <a:srgbClr val="1C7293"/>
                </a:solidFill>
                <a:latin typeface="Calibri"/>
              </a:rPr>
              <a:t>kb_author_inspect</a:t>
            </a:r>
          </a:p>
        </p:txBody>
      </p:sp>
      <p:sp>
        <p:nvSpPr>
          <p:cNvPr id="12" name="TextBox 11"/>
          <p:cNvSpPr txBox="1"/>
          <p:nvPr/>
        </p:nvSpPr>
        <p:spPr>
          <a:xfrm>
            <a:off x="7498079" y="1636776"/>
            <a:ext cx="3977639" cy="566928"/>
          </a:xfrm>
          <a:prstGeom prst="rect">
            <a:avLst/>
          </a:prstGeom>
          <a:noFill/>
        </p:spPr>
        <p:txBody>
          <a:bodyPr wrap="square" lIns="0" rIns="0" tIns="0" bIns="0" anchor="ctr">
            <a:spAutoFit/>
          </a:bodyPr>
          <a:lstStyle/>
          <a:p>
            <a:pPr algn="l"/>
            <a:r>
              <a:rPr sz="1000" b="0" i="0">
                <a:solidFill>
                  <a:srgbClr val="1B2430"/>
                </a:solidFill>
                <a:latin typeface="Calibri"/>
              </a:rPr>
              <a:t>Nothing yet. The agent answers with the questionnaire: name, mode, top module, defines, governance values, files to leave out by license, reusable candidates.</a:t>
            </a:r>
          </a:p>
        </p:txBody>
      </p:sp>
      <p:sp>
        <p:nvSpPr>
          <p:cNvPr id="13" name="card"/>
          <p:cNvSpPr/>
          <p:nvPr/>
        </p:nvSpPr>
        <p:spPr>
          <a:xfrm>
            <a:off x="548640" y="2331720"/>
            <a:ext cx="11064240" cy="6400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
          <p:cNvSpPr/>
          <p:nvPr/>
        </p:nvSpPr>
        <p:spPr>
          <a:xfrm>
            <a:off x="685800" y="2487168"/>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2</a:t>
            </a:r>
          </a:p>
        </p:txBody>
      </p:sp>
      <p:sp>
        <p:nvSpPr>
          <p:cNvPr id="15" name="TextBox 14"/>
          <p:cNvSpPr txBox="1"/>
          <p:nvPr/>
        </p:nvSpPr>
        <p:spPr>
          <a:xfrm>
            <a:off x="1143000" y="2377439"/>
            <a:ext cx="3657600" cy="548640"/>
          </a:xfrm>
          <a:prstGeom prst="rect">
            <a:avLst/>
          </a:prstGeom>
          <a:noFill/>
        </p:spPr>
        <p:txBody>
          <a:bodyPr wrap="square" lIns="0" rIns="0" tIns="0" bIns="0" anchor="ctr">
            <a:spAutoFit/>
          </a:bodyPr>
          <a:lstStyle/>
          <a:p>
            <a:pPr algn="l"/>
            <a:r>
              <a:rPr sz="1050" b="0" i="1">
                <a:solidFill>
                  <a:srgbClr val="1B2430"/>
                </a:solidFill>
                <a:latin typeface="Calibri"/>
              </a:rPr>
              <a:t>“Call it cam_bridge, knowledge only, sources stay in the video repo, top is cam_bridge_top, classification internal, owner team video.”</a:t>
            </a:r>
          </a:p>
        </p:txBody>
      </p:sp>
      <p:sp>
        <p:nvSpPr>
          <p:cNvPr id="16" name="TextBox 15"/>
          <p:cNvSpPr txBox="1"/>
          <p:nvPr/>
        </p:nvSpPr>
        <p:spPr>
          <a:xfrm>
            <a:off x="4983480" y="2377439"/>
            <a:ext cx="2377440" cy="548640"/>
          </a:xfrm>
          <a:prstGeom prst="rect">
            <a:avLst/>
          </a:prstGeom>
          <a:noFill/>
        </p:spPr>
        <p:txBody>
          <a:bodyPr wrap="square" lIns="0" rIns="0" tIns="0" bIns="0" anchor="ctr">
            <a:spAutoFit/>
          </a:bodyPr>
          <a:lstStyle/>
          <a:p>
            <a:pPr algn="l"/>
            <a:r>
              <a:rPr sz="1100" b="1" i="0">
                <a:solidFill>
                  <a:srgbClr val="1C7293"/>
                </a:solidFill>
                <a:latin typeface="Calibri"/>
              </a:rPr>
              <a:t>kb_author_start</a:t>
            </a:r>
          </a:p>
        </p:txBody>
      </p:sp>
      <p:sp>
        <p:nvSpPr>
          <p:cNvPr id="17" name="TextBox 16"/>
          <p:cNvSpPr txBox="1"/>
          <p:nvPr/>
        </p:nvSpPr>
        <p:spPr>
          <a:xfrm>
            <a:off x="7498079" y="2368296"/>
            <a:ext cx="3977639" cy="566928"/>
          </a:xfrm>
          <a:prstGeom prst="rect">
            <a:avLst/>
          </a:prstGeom>
          <a:noFill/>
        </p:spPr>
        <p:txBody>
          <a:bodyPr wrap="square" lIns="0" rIns="0" tIns="0" bIns="0" anchor="ctr">
            <a:spAutoFit/>
          </a:bodyPr>
          <a:lstStyle/>
          <a:p>
            <a:pPr algn="l"/>
            <a:r>
              <a:rPr sz="1000" b="0" i="0">
                <a:solidFill>
                  <a:srgbClr val="1B2430"/>
                </a:solidFill>
                <a:latin typeface="Calibri"/>
              </a:rPr>
              <a:t>A staged entry with every derived file: structure, project, constraints, ips, flow, licenses and registers under knowledge/, plus the license audit.</a:t>
            </a:r>
          </a:p>
        </p:txBody>
      </p:sp>
      <p:sp>
        <p:nvSpPr>
          <p:cNvPr id="18" name="card"/>
          <p:cNvSpPr/>
          <p:nvPr/>
        </p:nvSpPr>
        <p:spPr>
          <a:xfrm>
            <a:off x="548640" y="3063240"/>
            <a:ext cx="11064240" cy="6400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con"/>
          <p:cNvSpPr/>
          <p:nvPr/>
        </p:nvSpPr>
        <p:spPr>
          <a:xfrm>
            <a:off x="685800" y="3218688"/>
            <a:ext cx="329184" cy="329184"/>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3</a:t>
            </a:r>
          </a:p>
        </p:txBody>
      </p:sp>
      <p:sp>
        <p:nvSpPr>
          <p:cNvPr id="20" name="TextBox 19"/>
          <p:cNvSpPr txBox="1"/>
          <p:nvPr/>
        </p:nvSpPr>
        <p:spPr>
          <a:xfrm>
            <a:off x="1143000" y="3108960"/>
            <a:ext cx="3657600" cy="548640"/>
          </a:xfrm>
          <a:prstGeom prst="rect">
            <a:avLst/>
          </a:prstGeom>
          <a:noFill/>
        </p:spPr>
        <p:txBody>
          <a:bodyPr wrap="square" lIns="0" rIns="0" tIns="0" bIns="0" anchor="ctr">
            <a:spAutoFit/>
          </a:bodyPr>
          <a:lstStyle/>
          <a:p>
            <a:pPr algn="l"/>
            <a:r>
              <a:rPr sz="1050" b="0" i="1">
                <a:solidFill>
                  <a:srgbClr val="1B2430"/>
                </a:solidFill>
                <a:latin typeface="Calibri"/>
              </a:rPr>
              <a:t>“Summarise what it does, tag it, and mark the D-PHY deserialiser as reusable; the evidence is the lane-alignment state machine.”</a:t>
            </a:r>
          </a:p>
        </p:txBody>
      </p:sp>
      <p:sp>
        <p:nvSpPr>
          <p:cNvPr id="21" name="TextBox 20"/>
          <p:cNvSpPr txBox="1"/>
          <p:nvPr/>
        </p:nvSpPr>
        <p:spPr>
          <a:xfrm>
            <a:off x="4983480" y="3108960"/>
            <a:ext cx="2377440" cy="548640"/>
          </a:xfrm>
          <a:prstGeom prst="rect">
            <a:avLst/>
          </a:prstGeom>
          <a:noFill/>
        </p:spPr>
        <p:txBody>
          <a:bodyPr wrap="square" lIns="0" rIns="0" tIns="0" bIns="0" anchor="ctr">
            <a:spAutoFit/>
          </a:bodyPr>
          <a:lstStyle/>
          <a:p>
            <a:pPr algn="l"/>
            <a:r>
              <a:rPr sz="1100" b="1" i="0">
                <a:solidFill>
                  <a:srgbClr val="1C7293"/>
                </a:solidFill>
                <a:latin typeface="Calibri"/>
              </a:rPr>
              <a:t>kb_author_set_fields</a:t>
            </a:r>
          </a:p>
        </p:txBody>
      </p:sp>
      <p:sp>
        <p:nvSpPr>
          <p:cNvPr id="22" name="TextBox 21"/>
          <p:cNvSpPr txBox="1"/>
          <p:nvPr/>
        </p:nvSpPr>
        <p:spPr>
          <a:xfrm>
            <a:off x="7498079" y="3099816"/>
            <a:ext cx="3977639" cy="566928"/>
          </a:xfrm>
          <a:prstGeom prst="rect">
            <a:avLst/>
          </a:prstGeom>
          <a:noFill/>
        </p:spPr>
        <p:txBody>
          <a:bodyPr wrap="square" lIns="0" rIns="0" tIns="0" bIns="0" anchor="ctr">
            <a:spAutoFit/>
          </a:bodyPr>
          <a:lstStyle/>
          <a:p>
            <a:pPr algn="l"/>
            <a:r>
              <a:rPr sz="1000" b="0" i="0">
                <a:solidFill>
                  <a:srgbClr val="1B2430"/>
                </a:solidFill>
                <a:latin typeface="Calibri"/>
              </a:rPr>
              <a:t>metadata.yaml intent fields: title, summary, categories, tags, interfaces, clocks, reset, modules with reusable flag, justification and evidence.</a:t>
            </a:r>
          </a:p>
        </p:txBody>
      </p:sp>
      <p:sp>
        <p:nvSpPr>
          <p:cNvPr id="23" name="card"/>
          <p:cNvSpPr/>
          <p:nvPr/>
        </p:nvSpPr>
        <p:spPr>
          <a:xfrm>
            <a:off x="548640" y="3794760"/>
            <a:ext cx="11064240" cy="6400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con"/>
          <p:cNvSpPr/>
          <p:nvPr/>
        </p:nvSpPr>
        <p:spPr>
          <a:xfrm>
            <a:off x="685800" y="3950208"/>
            <a:ext cx="329184" cy="329184"/>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4</a:t>
            </a:r>
          </a:p>
        </p:txBody>
      </p:sp>
      <p:sp>
        <p:nvSpPr>
          <p:cNvPr id="25" name="TextBox 24"/>
          <p:cNvSpPr txBox="1"/>
          <p:nvPr/>
        </p:nvSpPr>
        <p:spPr>
          <a:xfrm>
            <a:off x="1143000" y="3840480"/>
            <a:ext cx="3657600" cy="548640"/>
          </a:xfrm>
          <a:prstGeom prst="rect">
            <a:avLst/>
          </a:prstGeom>
          <a:noFill/>
        </p:spPr>
        <p:txBody>
          <a:bodyPr wrap="square" lIns="0" rIns="0" tIns="0" bIns="0" anchor="ctr">
            <a:spAutoFit/>
          </a:bodyPr>
          <a:lstStyle/>
          <a:p>
            <a:pPr algn="l"/>
            <a:r>
              <a:rPr sz="1050" b="0" i="1">
                <a:solidFill>
                  <a:srgbClr val="1B2430"/>
                </a:solidFill>
                <a:latin typeface="Calibri"/>
              </a:rPr>
              <a:t>“Write the Architecture and Limitations sections. Only two D-PHY lanes were tested on the board.”</a:t>
            </a:r>
          </a:p>
        </p:txBody>
      </p:sp>
      <p:sp>
        <p:nvSpPr>
          <p:cNvPr id="26" name="TextBox 25"/>
          <p:cNvSpPr txBox="1"/>
          <p:nvPr/>
        </p:nvSpPr>
        <p:spPr>
          <a:xfrm>
            <a:off x="4983480" y="3840480"/>
            <a:ext cx="2377440" cy="548640"/>
          </a:xfrm>
          <a:prstGeom prst="rect">
            <a:avLst/>
          </a:prstGeom>
          <a:noFill/>
        </p:spPr>
        <p:txBody>
          <a:bodyPr wrap="square" lIns="0" rIns="0" tIns="0" bIns="0" anchor="ctr">
            <a:spAutoFit/>
          </a:bodyPr>
          <a:lstStyle/>
          <a:p>
            <a:pPr algn="l"/>
            <a:r>
              <a:rPr sz="1100" b="1" i="0">
                <a:solidFill>
                  <a:srgbClr val="1C7293"/>
                </a:solidFill>
                <a:latin typeface="Calibri"/>
              </a:rPr>
              <a:t>kb_author_write_section</a:t>
            </a:r>
          </a:p>
        </p:txBody>
      </p:sp>
      <p:sp>
        <p:nvSpPr>
          <p:cNvPr id="27" name="TextBox 26"/>
          <p:cNvSpPr txBox="1"/>
          <p:nvPr/>
        </p:nvSpPr>
        <p:spPr>
          <a:xfrm>
            <a:off x="7498079" y="3831336"/>
            <a:ext cx="3977639" cy="566928"/>
          </a:xfrm>
          <a:prstGeom prst="rect">
            <a:avLst/>
          </a:prstGeom>
          <a:noFill/>
        </p:spPr>
        <p:txBody>
          <a:bodyPr wrap="square" lIns="0" rIns="0" tIns="0" bIns="0" anchor="ctr">
            <a:spAutoFit/>
          </a:bodyPr>
          <a:lstStyle/>
          <a:p>
            <a:pPr algn="l"/>
            <a:r>
              <a:rPr sz="1000" b="0" i="0">
                <a:solidFill>
                  <a:srgbClr val="1B2430"/>
                </a:solidFill>
                <a:latin typeface="Calibri"/>
              </a:rPr>
              <a:t>README.md sections, the limitation carrying an evidence pointer to the testbench file and line that fixes the lane count.</a:t>
            </a:r>
          </a:p>
        </p:txBody>
      </p:sp>
      <p:sp>
        <p:nvSpPr>
          <p:cNvPr id="28" name="card"/>
          <p:cNvSpPr/>
          <p:nvPr/>
        </p:nvSpPr>
        <p:spPr>
          <a:xfrm>
            <a:off x="548640" y="4526280"/>
            <a:ext cx="11064240" cy="6400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
          <p:cNvSpPr/>
          <p:nvPr/>
        </p:nvSpPr>
        <p:spPr>
          <a:xfrm>
            <a:off x="685800" y="4681728"/>
            <a:ext cx="329184" cy="329184"/>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5</a:t>
            </a:r>
          </a:p>
        </p:txBody>
      </p:sp>
      <p:sp>
        <p:nvSpPr>
          <p:cNvPr id="30" name="TextBox 29"/>
          <p:cNvSpPr txBox="1"/>
          <p:nvPr/>
        </p:nvSpPr>
        <p:spPr>
          <a:xfrm>
            <a:off x="1143000" y="4572000"/>
            <a:ext cx="3657600" cy="548640"/>
          </a:xfrm>
          <a:prstGeom prst="rect">
            <a:avLst/>
          </a:prstGeom>
          <a:noFill/>
        </p:spPr>
        <p:txBody>
          <a:bodyPr wrap="square" lIns="0" rIns="0" tIns="0" bIns="0" anchor="ctr">
            <a:spAutoFit/>
          </a:bodyPr>
          <a:lstStyle/>
          <a:p>
            <a:pPr algn="l"/>
            <a:r>
              <a:rPr sz="1050" b="0" i="1">
                <a:solidFill>
                  <a:srgbClr val="1B2430"/>
                </a:solidFill>
                <a:latin typeface="Calibri"/>
              </a:rPr>
              <a:t>“Record how to change the number of lanes as a procedure.”</a:t>
            </a:r>
          </a:p>
        </p:txBody>
      </p:sp>
      <p:sp>
        <p:nvSpPr>
          <p:cNvPr id="31" name="TextBox 30"/>
          <p:cNvSpPr txBox="1"/>
          <p:nvPr/>
        </p:nvSpPr>
        <p:spPr>
          <a:xfrm>
            <a:off x="4983480" y="4572000"/>
            <a:ext cx="2377440" cy="548640"/>
          </a:xfrm>
          <a:prstGeom prst="rect">
            <a:avLst/>
          </a:prstGeom>
          <a:noFill/>
        </p:spPr>
        <p:txBody>
          <a:bodyPr wrap="square" lIns="0" rIns="0" tIns="0" bIns="0" anchor="ctr">
            <a:spAutoFit/>
          </a:bodyPr>
          <a:lstStyle/>
          <a:p>
            <a:pPr algn="l"/>
            <a:r>
              <a:rPr sz="1100" b="1" i="0">
                <a:solidFill>
                  <a:srgbClr val="1C7293"/>
                </a:solidFill>
                <a:latin typeface="Calibri"/>
              </a:rPr>
              <a:t>kb_author_write_skill</a:t>
            </a:r>
          </a:p>
        </p:txBody>
      </p:sp>
      <p:sp>
        <p:nvSpPr>
          <p:cNvPr id="32" name="TextBox 31"/>
          <p:cNvSpPr txBox="1"/>
          <p:nvPr/>
        </p:nvSpPr>
        <p:spPr>
          <a:xfrm>
            <a:off x="7498079" y="4562856"/>
            <a:ext cx="3977639" cy="566928"/>
          </a:xfrm>
          <a:prstGeom prst="rect">
            <a:avLst/>
          </a:prstGeom>
          <a:noFill/>
        </p:spPr>
        <p:txBody>
          <a:bodyPr wrap="square" lIns="0" rIns="0" tIns="0" bIns="0" anchor="ctr">
            <a:spAutoFit/>
          </a:bodyPr>
          <a:lstStyle/>
          <a:p>
            <a:pPr algn="l"/>
            <a:r>
              <a:rPr sz="1000" b="0" i="0">
                <a:solidFill>
                  <a:srgbClr val="1B2430"/>
                </a:solidFill>
                <a:latin typeface="Calibri"/>
              </a:rPr>
              <a:t>skills/set-lane-count/SKILL.md with When to use, Inputs, Steps, Checks and References, and skill.yaml with triggers and the files it touches; a draft until reviewed.</a:t>
            </a:r>
          </a:p>
        </p:txBody>
      </p:sp>
      <p:sp>
        <p:nvSpPr>
          <p:cNvPr id="33" name="card"/>
          <p:cNvSpPr/>
          <p:nvPr/>
        </p:nvSpPr>
        <p:spPr>
          <a:xfrm>
            <a:off x="548640" y="5257800"/>
            <a:ext cx="11064240" cy="6400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con"/>
          <p:cNvSpPr/>
          <p:nvPr/>
        </p:nvSpPr>
        <p:spPr>
          <a:xfrm>
            <a:off x="685800" y="5413248"/>
            <a:ext cx="329184" cy="32918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6</a:t>
            </a:r>
          </a:p>
        </p:txBody>
      </p:sp>
      <p:sp>
        <p:nvSpPr>
          <p:cNvPr id="35" name="TextBox 34"/>
          <p:cNvSpPr txBox="1"/>
          <p:nvPr/>
        </p:nvSpPr>
        <p:spPr>
          <a:xfrm>
            <a:off x="1143000" y="5303520"/>
            <a:ext cx="3657600" cy="548640"/>
          </a:xfrm>
          <a:prstGeom prst="rect">
            <a:avLst/>
          </a:prstGeom>
          <a:noFill/>
        </p:spPr>
        <p:txBody>
          <a:bodyPr wrap="square" lIns="0" rIns="0" tIns="0" bIns="0" anchor="ctr">
            <a:spAutoFit/>
          </a:bodyPr>
          <a:lstStyle/>
          <a:p>
            <a:pPr algn="l"/>
            <a:r>
              <a:rPr sz="1050" b="0" i="1">
                <a:solidFill>
                  <a:srgbClr val="1B2430"/>
                </a:solidFill>
                <a:latin typeface="Calibri"/>
              </a:rPr>
              <a:t>“Validate, export, and open the pull request.”</a:t>
            </a:r>
          </a:p>
        </p:txBody>
      </p:sp>
      <p:sp>
        <p:nvSpPr>
          <p:cNvPr id="36" name="TextBox 35"/>
          <p:cNvSpPr txBox="1"/>
          <p:nvPr/>
        </p:nvSpPr>
        <p:spPr>
          <a:xfrm>
            <a:off x="4983480" y="5303520"/>
            <a:ext cx="2377440" cy="548640"/>
          </a:xfrm>
          <a:prstGeom prst="rect">
            <a:avLst/>
          </a:prstGeom>
          <a:noFill/>
        </p:spPr>
        <p:txBody>
          <a:bodyPr wrap="square" lIns="0" rIns="0" tIns="0" bIns="0" anchor="ctr">
            <a:spAutoFit/>
          </a:bodyPr>
          <a:lstStyle/>
          <a:p>
            <a:pPr algn="l"/>
            <a:r>
              <a:rPr sz="1100" b="1" i="0">
                <a:solidFill>
                  <a:srgbClr val="1C7293"/>
                </a:solidFill>
                <a:latin typeface="Calibri"/>
              </a:rPr>
              <a:t>kb_author_validate</a:t>
            </a:r>
          </a:p>
          <a:p>
            <a:pPr algn="l"/>
            <a:r>
              <a:rPr sz="1100" b="1" i="0">
                <a:solidFill>
                  <a:srgbClr val="1C7293"/>
                </a:solidFill>
                <a:latin typeface="Calibri"/>
              </a:rPr>
              <a:t>kb_author_export</a:t>
            </a:r>
          </a:p>
          <a:p>
            <a:pPr algn="l"/>
            <a:r>
              <a:rPr sz="1100" b="1" i="0">
                <a:solidFill>
                  <a:srgbClr val="1C7293"/>
                </a:solidFill>
                <a:latin typeface="Calibri"/>
              </a:rPr>
              <a:t>kb_author_submit</a:t>
            </a:r>
          </a:p>
        </p:txBody>
      </p:sp>
      <p:sp>
        <p:nvSpPr>
          <p:cNvPr id="37" name="TextBox 36"/>
          <p:cNvSpPr txBox="1"/>
          <p:nvPr/>
        </p:nvSpPr>
        <p:spPr>
          <a:xfrm>
            <a:off x="7498079" y="5294376"/>
            <a:ext cx="3977639" cy="566928"/>
          </a:xfrm>
          <a:prstGeom prst="rect">
            <a:avLst/>
          </a:prstGeom>
          <a:noFill/>
        </p:spPr>
        <p:txBody>
          <a:bodyPr wrap="square" lIns="0" rIns="0" tIns="0" bIns="0" anchor="ctr">
            <a:spAutoFit/>
          </a:bodyPr>
          <a:lstStyle/>
          <a:p>
            <a:pPr algn="l"/>
            <a:r>
              <a:rPr sz="1000" b="0" i="0">
                <a:solidFill>
                  <a:srgbClr val="1B2430"/>
                </a:solidFill>
                <a:latin typeface="Calibri"/>
              </a:rPr>
              <a:t>The review answers (license audit accepted, two gaps accepted with reasons), reports/license_audit.md, the entry under designs/cam_bridge, branch kb/add-cam_bridge and the pull request.</a:t>
            </a:r>
          </a:p>
        </p:txBody>
      </p:sp>
      <p:sp>
        <p:nvSpPr>
          <p:cNvPr id="38" name="TextBox 37"/>
          <p:cNvSpPr txBox="1"/>
          <p:nvPr/>
        </p:nvSpPr>
        <p:spPr>
          <a:xfrm>
            <a:off x="548640" y="6035040"/>
            <a:ext cx="11064240" cy="320040"/>
          </a:xfrm>
          <a:prstGeom prst="rect">
            <a:avLst/>
          </a:prstGeom>
          <a:noFill/>
        </p:spPr>
        <p:txBody>
          <a:bodyPr wrap="square" lIns="0" rIns="0" tIns="0" bIns="0" anchor="t">
            <a:spAutoFit/>
          </a:bodyPr>
          <a:lstStyle/>
          <a:p>
            <a:pPr algn="l"/>
            <a:r>
              <a:rPr sz="1150" b="0" i="1">
                <a:solidFill>
                  <a:srgbClr val="6C8EA4"/>
                </a:solidFill>
                <a:latin typeface="Calibri"/>
              </a:rPr>
              <a:t>Prompts 1 to 5 write only to the local authoring workspace; prompt 6 is the first that touches the repository, and it still ends in a pull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What those six prompts leave in designs/cam_bridge</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11</a:t>
            </a:r>
          </a:p>
        </p:txBody>
      </p:sp>
      <p:sp>
        <p:nvSpPr>
          <p:cNvPr id="5" name="card"/>
          <p:cNvSpPr/>
          <p:nvPr/>
        </p:nvSpPr>
        <p:spPr>
          <a:xfrm>
            <a:off x="548640" y="1234440"/>
            <a:ext cx="4754880" cy="493776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371600"/>
            <a:ext cx="4480560" cy="274320"/>
          </a:xfrm>
          <a:prstGeom prst="rect">
            <a:avLst/>
          </a:prstGeom>
          <a:noFill/>
        </p:spPr>
        <p:txBody>
          <a:bodyPr wrap="square" lIns="0" rIns="0" tIns="0" bIns="0" anchor="t">
            <a:spAutoFit/>
          </a:bodyPr>
          <a:lstStyle/>
          <a:p>
            <a:pPr algn="l"/>
            <a:r>
              <a:rPr sz="1050" b="1" i="0">
                <a:solidFill>
                  <a:srgbClr val="1B2430"/>
                </a:solidFill>
                <a:latin typeface="Calibri"/>
              </a:rPr>
              <a:t>designs/cam_bridge/</a:t>
            </a:r>
          </a:p>
        </p:txBody>
      </p:sp>
      <p:sp>
        <p:nvSpPr>
          <p:cNvPr id="7" name="TextBox 6"/>
          <p:cNvSpPr txBox="1"/>
          <p:nvPr/>
        </p:nvSpPr>
        <p:spPr>
          <a:xfrm>
            <a:off x="731520" y="1618488"/>
            <a:ext cx="4480560" cy="274320"/>
          </a:xfrm>
          <a:prstGeom prst="rect">
            <a:avLst/>
          </a:prstGeom>
          <a:noFill/>
        </p:spPr>
        <p:txBody>
          <a:bodyPr wrap="square" lIns="0" rIns="0" tIns="0" bIns="0" anchor="t">
            <a:spAutoFit/>
          </a:bodyPr>
          <a:lstStyle/>
          <a:p>
            <a:pPr algn="l"/>
            <a:r>
              <a:rPr sz="1050" b="0" i="0">
                <a:solidFill>
                  <a:srgbClr val="E0A458"/>
                </a:solidFill>
                <a:latin typeface="Consolas"/>
              </a:rPr>
              <a:t>  metadata.yaml</a:t>
            </a:r>
          </a:p>
        </p:txBody>
      </p:sp>
      <p:sp>
        <p:nvSpPr>
          <p:cNvPr id="8" name="TextBox 7"/>
          <p:cNvSpPr txBox="1"/>
          <p:nvPr/>
        </p:nvSpPr>
        <p:spPr>
          <a:xfrm>
            <a:off x="731520" y="1865376"/>
            <a:ext cx="4480560" cy="274320"/>
          </a:xfrm>
          <a:prstGeom prst="rect">
            <a:avLst/>
          </a:prstGeom>
          <a:noFill/>
        </p:spPr>
        <p:txBody>
          <a:bodyPr wrap="square" lIns="0" rIns="0" tIns="0" bIns="0" anchor="t">
            <a:spAutoFit/>
          </a:bodyPr>
          <a:lstStyle/>
          <a:p>
            <a:pPr algn="l"/>
            <a:r>
              <a:rPr sz="1050" b="0" i="0">
                <a:solidFill>
                  <a:srgbClr val="1C7293"/>
                </a:solidFill>
                <a:latin typeface="Consolas"/>
              </a:rPr>
              <a:t>    name, kind, top_module, source (knowledge_only)</a:t>
            </a:r>
          </a:p>
        </p:txBody>
      </p:sp>
      <p:sp>
        <p:nvSpPr>
          <p:cNvPr id="9" name="TextBox 8"/>
          <p:cNvSpPr txBox="1"/>
          <p:nvPr/>
        </p:nvSpPr>
        <p:spPr>
          <a:xfrm>
            <a:off x="731520" y="2112264"/>
            <a:ext cx="4480560" cy="274320"/>
          </a:xfrm>
          <a:prstGeom prst="rect">
            <a:avLst/>
          </a:prstGeom>
          <a:noFill/>
        </p:spPr>
        <p:txBody>
          <a:bodyPr wrap="square" lIns="0" rIns="0" tIns="0" bIns="0" anchor="t">
            <a:spAutoFit/>
          </a:bodyPr>
          <a:lstStyle/>
          <a:p>
            <a:pPr algn="l"/>
            <a:r>
              <a:rPr sz="1050" b="0" i="0">
                <a:solidFill>
                  <a:srgbClr val="E0A458"/>
                </a:solidFill>
                <a:latin typeface="Consolas"/>
              </a:rPr>
              <a:t>    title, summary, categories, tags</a:t>
            </a:r>
          </a:p>
        </p:txBody>
      </p:sp>
      <p:sp>
        <p:nvSpPr>
          <p:cNvPr id="10" name="TextBox 9"/>
          <p:cNvSpPr txBox="1"/>
          <p:nvPr/>
        </p:nvSpPr>
        <p:spPr>
          <a:xfrm>
            <a:off x="731520" y="2359152"/>
            <a:ext cx="4480560" cy="274320"/>
          </a:xfrm>
          <a:prstGeom prst="rect">
            <a:avLst/>
          </a:prstGeom>
          <a:noFill/>
        </p:spPr>
        <p:txBody>
          <a:bodyPr wrap="square" lIns="0" rIns="0" tIns="0" bIns="0" anchor="t">
            <a:spAutoFit/>
          </a:bodyPr>
          <a:lstStyle/>
          <a:p>
            <a:pPr algn="l"/>
            <a:r>
              <a:rPr sz="1050" b="0" i="0">
                <a:solidFill>
                  <a:srgbClr val="E0A458"/>
                </a:solidFill>
                <a:latin typeface="Consolas"/>
              </a:rPr>
              <a:t>    interfaces, clocks, reset, modules.reusable</a:t>
            </a:r>
          </a:p>
        </p:txBody>
      </p:sp>
      <p:sp>
        <p:nvSpPr>
          <p:cNvPr id="11" name="TextBox 10"/>
          <p:cNvSpPr txBox="1"/>
          <p:nvPr/>
        </p:nvSpPr>
        <p:spPr>
          <a:xfrm>
            <a:off x="731520" y="2606040"/>
            <a:ext cx="4480560" cy="274320"/>
          </a:xfrm>
          <a:prstGeom prst="rect">
            <a:avLst/>
          </a:prstGeom>
          <a:noFill/>
        </p:spPr>
        <p:txBody>
          <a:bodyPr wrap="square" lIns="0" rIns="0" tIns="0" bIns="0" anchor="t">
            <a:spAutoFit/>
          </a:bodyPr>
          <a:lstStyle/>
          <a:p>
            <a:pPr algn="l"/>
            <a:r>
              <a:rPr sz="1050" b="0" i="0">
                <a:solidFill>
                  <a:srgbClr val="1C7293"/>
                </a:solidFill>
                <a:latin typeface="Consolas"/>
              </a:rPr>
              <a:t>    maturity, license, provenance, classification</a:t>
            </a:r>
          </a:p>
        </p:txBody>
      </p:sp>
      <p:sp>
        <p:nvSpPr>
          <p:cNvPr id="12" name="TextBox 11"/>
          <p:cNvSpPr txBox="1"/>
          <p:nvPr/>
        </p:nvSpPr>
        <p:spPr>
          <a:xfrm>
            <a:off x="731520" y="2852928"/>
            <a:ext cx="4480560" cy="274320"/>
          </a:xfrm>
          <a:prstGeom prst="rect">
            <a:avLst/>
          </a:prstGeom>
          <a:noFill/>
        </p:spPr>
        <p:txBody>
          <a:bodyPr wrap="square" lIns="0" rIns="0" tIns="0" bIns="0" anchor="t">
            <a:spAutoFit/>
          </a:bodyPr>
          <a:lstStyle/>
          <a:p>
            <a:pPr algn="l"/>
            <a:r>
              <a:rPr sz="1050" b="0" i="0">
                <a:solidFill>
                  <a:srgbClr val="E0A458"/>
                </a:solidFill>
                <a:latin typeface="Consolas"/>
              </a:rPr>
              <a:t>  README.md</a:t>
            </a:r>
          </a:p>
        </p:txBody>
      </p:sp>
      <p:sp>
        <p:nvSpPr>
          <p:cNvPr id="13" name="TextBox 12"/>
          <p:cNvSpPr txBox="1"/>
          <p:nvPr/>
        </p:nvSpPr>
        <p:spPr>
          <a:xfrm>
            <a:off x="731520" y="3099816"/>
            <a:ext cx="4480560" cy="274320"/>
          </a:xfrm>
          <a:prstGeom prst="rect">
            <a:avLst/>
          </a:prstGeom>
          <a:noFill/>
        </p:spPr>
        <p:txBody>
          <a:bodyPr wrap="square" lIns="0" rIns="0" tIns="0" bIns="0" anchor="t">
            <a:spAutoFit/>
          </a:bodyPr>
          <a:lstStyle/>
          <a:p>
            <a:pPr algn="l"/>
            <a:r>
              <a:rPr sz="1050" b="0" i="0">
                <a:solidFill>
                  <a:srgbClr val="E0A458"/>
                </a:solidFill>
                <a:latin typeface="Consolas"/>
              </a:rPr>
              <a:t>    Purpose, Architecture, Limitations, Verification</a:t>
            </a:r>
          </a:p>
        </p:txBody>
      </p:sp>
      <p:sp>
        <p:nvSpPr>
          <p:cNvPr id="14" name="TextBox 13"/>
          <p:cNvSpPr txBox="1"/>
          <p:nvPr/>
        </p:nvSpPr>
        <p:spPr>
          <a:xfrm>
            <a:off x="731520" y="3346704"/>
            <a:ext cx="4480560" cy="274320"/>
          </a:xfrm>
          <a:prstGeom prst="rect">
            <a:avLst/>
          </a:prstGeom>
          <a:noFill/>
        </p:spPr>
        <p:txBody>
          <a:bodyPr wrap="square" lIns="0" rIns="0" tIns="0" bIns="0" anchor="t">
            <a:spAutoFit/>
          </a:bodyPr>
          <a:lstStyle/>
          <a:p>
            <a:pPr algn="l"/>
            <a:r>
              <a:rPr sz="1050" b="1" i="0">
                <a:solidFill>
                  <a:srgbClr val="1C7293"/>
                </a:solidFill>
                <a:latin typeface="Calibri"/>
              </a:rPr>
              <a:t>  knowledge/</a:t>
            </a:r>
          </a:p>
        </p:txBody>
      </p:sp>
      <p:sp>
        <p:nvSpPr>
          <p:cNvPr id="15" name="TextBox 14"/>
          <p:cNvSpPr txBox="1"/>
          <p:nvPr/>
        </p:nvSpPr>
        <p:spPr>
          <a:xfrm>
            <a:off x="731520" y="3593592"/>
            <a:ext cx="4480560" cy="274320"/>
          </a:xfrm>
          <a:prstGeom prst="rect">
            <a:avLst/>
          </a:prstGeom>
          <a:noFill/>
        </p:spPr>
        <p:txBody>
          <a:bodyPr wrap="square" lIns="0" rIns="0" tIns="0" bIns="0" anchor="t">
            <a:spAutoFit/>
          </a:bodyPr>
          <a:lstStyle/>
          <a:p>
            <a:pPr algn="l"/>
            <a:r>
              <a:rPr sz="1050" b="0" i="0">
                <a:solidFill>
                  <a:srgbClr val="1C7293"/>
                </a:solidFill>
                <a:latin typeface="Consolas"/>
              </a:rPr>
              <a:t>    structure.yaml   modules, instances, ports, parameters</a:t>
            </a:r>
          </a:p>
        </p:txBody>
      </p:sp>
      <p:sp>
        <p:nvSpPr>
          <p:cNvPr id="16" name="TextBox 15"/>
          <p:cNvSpPr txBox="1"/>
          <p:nvPr/>
        </p:nvSpPr>
        <p:spPr>
          <a:xfrm>
            <a:off x="731520" y="3840480"/>
            <a:ext cx="4480560" cy="274320"/>
          </a:xfrm>
          <a:prstGeom prst="rect">
            <a:avLst/>
          </a:prstGeom>
          <a:noFill/>
        </p:spPr>
        <p:txBody>
          <a:bodyPr wrap="square" lIns="0" rIns="0" tIns="0" bIns="0" anchor="t">
            <a:spAutoFit/>
          </a:bodyPr>
          <a:lstStyle/>
          <a:p>
            <a:pPr algn="l"/>
            <a:r>
              <a:rPr sz="1050" b="0" i="0">
                <a:solidFill>
                  <a:srgbClr val="1C7293"/>
                </a:solidFill>
                <a:latin typeface="Consolas"/>
              </a:rPr>
              <a:t>    project.yaml     device, Radiant version, strategy</a:t>
            </a:r>
          </a:p>
        </p:txBody>
      </p:sp>
      <p:sp>
        <p:nvSpPr>
          <p:cNvPr id="17" name="TextBox 16"/>
          <p:cNvSpPr txBox="1"/>
          <p:nvPr/>
        </p:nvSpPr>
        <p:spPr>
          <a:xfrm>
            <a:off x="731520" y="4087368"/>
            <a:ext cx="4480560" cy="274320"/>
          </a:xfrm>
          <a:prstGeom prst="rect">
            <a:avLst/>
          </a:prstGeom>
          <a:noFill/>
        </p:spPr>
        <p:txBody>
          <a:bodyPr wrap="square" lIns="0" rIns="0" tIns="0" bIns="0" anchor="t">
            <a:spAutoFit/>
          </a:bodyPr>
          <a:lstStyle/>
          <a:p>
            <a:pPr algn="l"/>
            <a:r>
              <a:rPr sz="1050" b="0" i="0">
                <a:solidFill>
                  <a:srgbClr val="1C7293"/>
                </a:solidFill>
                <a:latin typeface="Consolas"/>
              </a:rPr>
              <a:t>    constraints.yaml clocks, false paths, I/O standards</a:t>
            </a:r>
          </a:p>
        </p:txBody>
      </p:sp>
      <p:sp>
        <p:nvSpPr>
          <p:cNvPr id="18" name="TextBox 17"/>
          <p:cNvSpPr txBox="1"/>
          <p:nvPr/>
        </p:nvSpPr>
        <p:spPr>
          <a:xfrm>
            <a:off x="731520" y="4334256"/>
            <a:ext cx="4480560" cy="274320"/>
          </a:xfrm>
          <a:prstGeom prst="rect">
            <a:avLst/>
          </a:prstGeom>
          <a:noFill/>
        </p:spPr>
        <p:txBody>
          <a:bodyPr wrap="square" lIns="0" rIns="0" tIns="0" bIns="0" anchor="t">
            <a:spAutoFit/>
          </a:bodyPr>
          <a:lstStyle/>
          <a:p>
            <a:pPr algn="l"/>
            <a:r>
              <a:rPr sz="1050" b="0" i="0">
                <a:solidFill>
                  <a:srgbClr val="1C7293"/>
                </a:solidFill>
                <a:latin typeface="Consolas"/>
              </a:rPr>
              <a:t>    ips.yaml         cores, versions, parameters</a:t>
            </a:r>
          </a:p>
        </p:txBody>
      </p:sp>
      <p:sp>
        <p:nvSpPr>
          <p:cNvPr id="19" name="TextBox 18"/>
          <p:cNvSpPr txBox="1"/>
          <p:nvPr/>
        </p:nvSpPr>
        <p:spPr>
          <a:xfrm>
            <a:off x="731520" y="4581144"/>
            <a:ext cx="4480560" cy="274320"/>
          </a:xfrm>
          <a:prstGeom prst="rect">
            <a:avLst/>
          </a:prstGeom>
          <a:noFill/>
        </p:spPr>
        <p:txBody>
          <a:bodyPr wrap="square" lIns="0" rIns="0" tIns="0" bIns="0" anchor="t">
            <a:spAutoFit/>
          </a:bodyPr>
          <a:lstStyle/>
          <a:p>
            <a:pPr algn="l"/>
            <a:r>
              <a:rPr sz="1050" b="0" i="0">
                <a:solidFill>
                  <a:srgbClr val="1C7293"/>
                </a:solidFill>
                <a:latin typeface="Consolas"/>
              </a:rPr>
              <a:t>    flow.yaml        resources, timing, warnings per run</a:t>
            </a:r>
          </a:p>
        </p:txBody>
      </p:sp>
      <p:sp>
        <p:nvSpPr>
          <p:cNvPr id="20" name="TextBox 19"/>
          <p:cNvSpPr txBox="1"/>
          <p:nvPr/>
        </p:nvSpPr>
        <p:spPr>
          <a:xfrm>
            <a:off x="731520" y="4828032"/>
            <a:ext cx="4480560" cy="274320"/>
          </a:xfrm>
          <a:prstGeom prst="rect">
            <a:avLst/>
          </a:prstGeom>
          <a:noFill/>
        </p:spPr>
        <p:txBody>
          <a:bodyPr wrap="square" lIns="0" rIns="0" tIns="0" bIns="0" anchor="t">
            <a:spAutoFit/>
          </a:bodyPr>
          <a:lstStyle/>
          <a:p>
            <a:pPr algn="l"/>
            <a:r>
              <a:rPr sz="1050" b="0" i="0">
                <a:solidFill>
                  <a:srgbClr val="1C7293"/>
                </a:solidFill>
                <a:latin typeface="Consolas"/>
              </a:rPr>
              <a:t>    licenses.yaml    marker per file, class, holder</a:t>
            </a:r>
          </a:p>
        </p:txBody>
      </p:sp>
      <p:sp>
        <p:nvSpPr>
          <p:cNvPr id="21" name="TextBox 20"/>
          <p:cNvSpPr txBox="1"/>
          <p:nvPr/>
        </p:nvSpPr>
        <p:spPr>
          <a:xfrm>
            <a:off x="731520" y="5074920"/>
            <a:ext cx="4480560" cy="274320"/>
          </a:xfrm>
          <a:prstGeom prst="rect">
            <a:avLst/>
          </a:prstGeom>
          <a:noFill/>
        </p:spPr>
        <p:txBody>
          <a:bodyPr wrap="square" lIns="0" rIns="0" tIns="0" bIns="0" anchor="t">
            <a:spAutoFit/>
          </a:bodyPr>
          <a:lstStyle/>
          <a:p>
            <a:pPr algn="l"/>
            <a:r>
              <a:rPr sz="1050" b="0" i="0">
                <a:solidFill>
                  <a:srgbClr val="1C7293"/>
                </a:solidFill>
                <a:latin typeface="Consolas"/>
              </a:rPr>
              <a:t>    registers.yaml   IP-XACT maps and header macros</a:t>
            </a:r>
          </a:p>
        </p:txBody>
      </p:sp>
      <p:sp>
        <p:nvSpPr>
          <p:cNvPr id="22" name="TextBox 21"/>
          <p:cNvSpPr txBox="1"/>
          <p:nvPr/>
        </p:nvSpPr>
        <p:spPr>
          <a:xfrm>
            <a:off x="731520" y="5321808"/>
            <a:ext cx="4480560" cy="274320"/>
          </a:xfrm>
          <a:prstGeom prst="rect">
            <a:avLst/>
          </a:prstGeom>
          <a:noFill/>
        </p:spPr>
        <p:txBody>
          <a:bodyPr wrap="square" lIns="0" rIns="0" tIns="0" bIns="0" anchor="t">
            <a:spAutoFit/>
          </a:bodyPr>
          <a:lstStyle/>
          <a:p>
            <a:pPr algn="l"/>
            <a:r>
              <a:rPr sz="1050" b="0" i="0">
                <a:solidFill>
                  <a:srgbClr val="02C39A"/>
                </a:solidFill>
                <a:latin typeface="Consolas"/>
              </a:rPr>
              <a:t>  reports/license_audit.md</a:t>
            </a:r>
          </a:p>
        </p:txBody>
      </p:sp>
      <p:sp>
        <p:nvSpPr>
          <p:cNvPr id="23" name="TextBox 22"/>
          <p:cNvSpPr txBox="1"/>
          <p:nvPr/>
        </p:nvSpPr>
        <p:spPr>
          <a:xfrm>
            <a:off x="731520" y="5568696"/>
            <a:ext cx="4480560" cy="274320"/>
          </a:xfrm>
          <a:prstGeom prst="rect">
            <a:avLst/>
          </a:prstGeom>
          <a:noFill/>
        </p:spPr>
        <p:txBody>
          <a:bodyPr wrap="square" lIns="0" rIns="0" tIns="0" bIns="0" anchor="t">
            <a:spAutoFit/>
          </a:bodyPr>
          <a:lstStyle/>
          <a:p>
            <a:pPr algn="l"/>
            <a:r>
              <a:rPr sz="1050" b="0" i="0">
                <a:solidFill>
                  <a:srgbClr val="E0A458"/>
                </a:solidFill>
                <a:latin typeface="Consolas"/>
              </a:rPr>
              <a:t>  skills/set-lane-count/SKILL.md, skill.yaml</a:t>
            </a:r>
          </a:p>
        </p:txBody>
      </p:sp>
      <p:sp>
        <p:nvSpPr>
          <p:cNvPr id="24" name="pill"/>
          <p:cNvSpPr/>
          <p:nvPr/>
        </p:nvSpPr>
        <p:spPr>
          <a:xfrm>
            <a:off x="731520" y="5852160"/>
            <a:ext cx="2148840" cy="25603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a:solidFill>
                  <a:srgbClr val="FFFFFF"/>
                </a:solidFill>
                <a:latin typeface="Calibri"/>
              </a:rPr>
              <a:t>prompt 2: derived by scanners</a:t>
            </a:r>
          </a:p>
        </p:txBody>
      </p:sp>
      <p:sp>
        <p:nvSpPr>
          <p:cNvPr id="25" name="pill"/>
          <p:cNvSpPr/>
          <p:nvPr/>
        </p:nvSpPr>
        <p:spPr>
          <a:xfrm>
            <a:off x="2971800" y="5852160"/>
            <a:ext cx="2148840" cy="256032"/>
          </a:xfrm>
          <a:prstGeom prst="roundRect">
            <a:avLst>
              <a:gd name="adj" fmla="val 50000"/>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a:solidFill>
                  <a:srgbClr val="FFFFFF"/>
                </a:solidFill>
                <a:latin typeface="Calibri"/>
              </a:rPr>
              <a:t>prompts 3 to 5: authored</a:t>
            </a:r>
          </a:p>
        </p:txBody>
      </p:sp>
      <p:sp>
        <p:nvSpPr>
          <p:cNvPr id="26" name="card"/>
          <p:cNvSpPr/>
          <p:nvPr/>
        </p:nvSpPr>
        <p:spPr>
          <a:xfrm>
            <a:off x="5577840" y="1234440"/>
            <a:ext cx="6035040" cy="233172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760720" y="1325880"/>
            <a:ext cx="5669280" cy="274320"/>
          </a:xfrm>
          <a:prstGeom prst="rect">
            <a:avLst/>
          </a:prstGeom>
          <a:noFill/>
        </p:spPr>
        <p:txBody>
          <a:bodyPr wrap="square" lIns="0" rIns="0" tIns="0" bIns="0" anchor="t">
            <a:spAutoFit/>
          </a:bodyPr>
          <a:lstStyle/>
          <a:p>
            <a:pPr algn="l"/>
            <a:r>
              <a:rPr sz="1300" b="1" i="0">
                <a:solidFill>
                  <a:srgbClr val="E0A458"/>
                </a:solidFill>
                <a:latin typeface="Calibri"/>
              </a:rPr>
              <a:t>metadata.yaml after prompt 3</a:t>
            </a:r>
          </a:p>
        </p:txBody>
      </p:sp>
      <p:sp>
        <p:nvSpPr>
          <p:cNvPr id="28" name="TextBox 27"/>
          <p:cNvSpPr txBox="1"/>
          <p:nvPr/>
        </p:nvSpPr>
        <p:spPr>
          <a:xfrm>
            <a:off x="5760720" y="1645920"/>
            <a:ext cx="5715000" cy="1920240"/>
          </a:xfrm>
          <a:prstGeom prst="rect">
            <a:avLst/>
          </a:prstGeom>
          <a:noFill/>
        </p:spPr>
        <p:txBody>
          <a:bodyPr wrap="square" lIns="0" rIns="0" tIns="0" bIns="0" anchor="t">
            <a:spAutoFit/>
          </a:bodyPr>
          <a:lstStyle/>
          <a:p>
            <a:pPr algn="l"/>
            <a:r>
              <a:rPr sz="950" b="0" i="0">
                <a:solidFill>
                  <a:srgbClr val="1B2430"/>
                </a:solidFill>
                <a:latin typeface="Consolas"/>
              </a:rPr>
              <a:t>summary: MIPI CSI-2 camera bridge for CertusPro-NX: 2-lane D-PHY receiver,</a:t>
            </a:r>
          </a:p>
          <a:p>
            <a:pPr algn="l"/>
            <a:r>
              <a:rPr sz="950" b="0" i="0">
                <a:solidFill>
                  <a:srgbClr val="1B2430"/>
                </a:solidFill>
                <a:latin typeface="Consolas"/>
              </a:rPr>
              <a:t>  byte-to-pixel unpacking and an AXI4-Stream video output with line buffers</a:t>
            </a:r>
          </a:p>
          <a:p>
            <a:pPr algn="l"/>
            <a:r>
              <a:rPr sz="950" b="0" i="0">
                <a:solidFill>
                  <a:srgbClr val="1B2430"/>
                </a:solidFill>
                <a:latin typeface="Consolas"/>
              </a:rPr>
              <a:t>categories: [video, interface_bridge]</a:t>
            </a:r>
          </a:p>
          <a:p>
            <a:pPr algn="l"/>
            <a:r>
              <a:rPr sz="950" b="0" i="0">
                <a:solidFill>
                  <a:srgbClr val="1B2430"/>
                </a:solidFill>
                <a:latin typeface="Consolas"/>
              </a:rPr>
              <a:t>tags: [mipi, csi2, dphy, axi4_stream, certuspro_nx]</a:t>
            </a:r>
          </a:p>
          <a:p>
            <a:pPr algn="l"/>
            <a:r>
              <a:rPr sz="950" b="0" i="0">
                <a:solidFill>
                  <a:srgbClr val="1B2430"/>
                </a:solidFill>
                <a:latin typeface="Consolas"/>
              </a:rPr>
              <a:t>interfaces: [{protocol: mipi_csi2, role: receiver}, {protocol: axi4_stream, role: master}]</a:t>
            </a:r>
          </a:p>
          <a:p>
            <a:pPr algn="l"/>
            <a:r>
              <a:rPr sz="950" b="0" i="0">
                <a:solidFill>
                  <a:srgbClr val="1B2430"/>
                </a:solidFill>
                <a:latin typeface="Consolas"/>
              </a:rPr>
              <a:t>modules:</a:t>
            </a:r>
          </a:p>
          <a:p>
            <a:pPr algn="l"/>
            <a:r>
              <a:rPr sz="950" b="0" i="0">
                <a:solidFill>
                  <a:srgbClr val="1B2430"/>
                </a:solidFill>
                <a:latin typeface="Consolas"/>
              </a:rPr>
              <a:t>  dphy_deser:</a:t>
            </a:r>
          </a:p>
          <a:p>
            <a:pPr algn="l"/>
            <a:r>
              <a:rPr sz="950" b="0" i="0">
                <a:solidFill>
                  <a:srgbClr val="1B2430"/>
                </a:solidFill>
                <a:latin typeface="Consolas"/>
              </a:rPr>
              <a:t>    reusable: true</a:t>
            </a:r>
          </a:p>
          <a:p>
            <a:pPr algn="l"/>
            <a:r>
              <a:rPr sz="950" b="0" i="0">
                <a:solidFill>
                  <a:srgbClr val="1B2430"/>
                </a:solidFill>
                <a:latin typeface="Consolas"/>
              </a:rPr>
              <a:t>    justification: lane alignment and byte-clock crossing are independent of the pixel format</a:t>
            </a:r>
          </a:p>
          <a:p>
            <a:pPr algn="l"/>
            <a:r>
              <a:rPr sz="950" b="0" i="0">
                <a:solidFill>
                  <a:srgbClr val="1B2430"/>
                </a:solidFill>
                <a:latin typeface="Consolas"/>
              </a:rPr>
              <a:t>    evidence: [rtl/dphy_deser.sv:112]</a:t>
            </a:r>
          </a:p>
        </p:txBody>
      </p:sp>
      <p:sp>
        <p:nvSpPr>
          <p:cNvPr id="29" name="card"/>
          <p:cNvSpPr/>
          <p:nvPr/>
        </p:nvSpPr>
        <p:spPr>
          <a:xfrm>
            <a:off x="5577840" y="3749039"/>
            <a:ext cx="6035040" cy="242316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760720" y="3840480"/>
            <a:ext cx="5760720" cy="274320"/>
          </a:xfrm>
          <a:prstGeom prst="rect">
            <a:avLst/>
          </a:prstGeom>
          <a:noFill/>
        </p:spPr>
        <p:txBody>
          <a:bodyPr wrap="square" lIns="0" rIns="0" tIns="0" bIns="0" anchor="t">
            <a:spAutoFit/>
          </a:bodyPr>
          <a:lstStyle/>
          <a:p>
            <a:pPr algn="l"/>
            <a:r>
              <a:rPr sz="1300" b="1" i="0">
                <a:solidFill>
                  <a:srgbClr val="E0A458"/>
                </a:solidFill>
                <a:latin typeface="Calibri"/>
              </a:rPr>
              <a:t>README.md Limitations after prompt 4, SKILL.md after prompt 5</a:t>
            </a:r>
          </a:p>
        </p:txBody>
      </p:sp>
      <p:sp>
        <p:nvSpPr>
          <p:cNvPr id="31" name="TextBox 30"/>
          <p:cNvSpPr txBox="1"/>
          <p:nvPr/>
        </p:nvSpPr>
        <p:spPr>
          <a:xfrm>
            <a:off x="5760720" y="4160520"/>
            <a:ext cx="5715000" cy="1965960"/>
          </a:xfrm>
          <a:prstGeom prst="rect">
            <a:avLst/>
          </a:prstGeom>
          <a:noFill/>
        </p:spPr>
        <p:txBody>
          <a:bodyPr wrap="square" lIns="0" rIns="0" tIns="0" bIns="0" anchor="t">
            <a:spAutoFit/>
          </a:bodyPr>
          <a:lstStyle/>
          <a:p>
            <a:pPr algn="l"/>
            <a:r>
              <a:rPr sz="950" b="0" i="0">
                <a:solidFill>
                  <a:srgbClr val="1B2430"/>
                </a:solidFill>
                <a:latin typeface="Consolas"/>
              </a:rPr>
              <a:t>## Limitations</a:t>
            </a:r>
          </a:p>
          <a:p>
            <a:pPr algn="l"/>
            <a:r>
              <a:rPr sz="950" b="0" i="0">
                <a:solidFill>
                  <a:srgbClr val="1B2430"/>
                </a:solidFill>
                <a:latin typeface="Consolas"/>
              </a:rPr>
              <a:t>- Verified with two D-PHY lanes only; the four-lane configuration is</a:t>
            </a:r>
          </a:p>
          <a:p>
            <a:pPr algn="l"/>
            <a:r>
              <a:rPr sz="950" b="0" i="0">
                <a:solidFill>
                  <a:srgbClr val="1B2430"/>
                </a:solidFill>
                <a:latin typeface="Consolas"/>
              </a:rPr>
              <a:t>  untested on hardware (evidence: tb/tb_cam_bridge.sv:41)</a:t>
            </a:r>
          </a:p>
          <a:p>
            <a:pPr algn="l"/>
          </a:p>
          <a:p>
            <a:pPr algn="l"/>
            <a:r>
              <a:rPr sz="950" b="0" i="0">
                <a:solidFill>
                  <a:srgbClr val="1B2430"/>
                </a:solidFill>
                <a:latin typeface="Consolas"/>
              </a:rPr>
              <a:t>skills/set-lane-count/SKILL.md</a:t>
            </a:r>
          </a:p>
          <a:p>
            <a:pPr algn="l"/>
            <a:r>
              <a:rPr sz="950" b="0" i="0">
                <a:solidFill>
                  <a:srgbClr val="1B2430"/>
                </a:solidFill>
                <a:latin typeface="Consolas"/>
              </a:rPr>
              <a:t>## Steps</a:t>
            </a:r>
          </a:p>
          <a:p>
            <a:pPr algn="l"/>
            <a:r>
              <a:rPr sz="950" b="0" i="0">
                <a:solidFill>
                  <a:srgbClr val="1B2430"/>
                </a:solidFill>
                <a:latin typeface="Consolas"/>
              </a:rPr>
              <a:t>1. Set LANES in rtl/cam_bridge_top.sv:27 and the matching generic in</a:t>
            </a:r>
          </a:p>
          <a:p>
            <a:pPr algn="l"/>
            <a:r>
              <a:rPr sz="950" b="0" i="0">
                <a:solidFill>
                  <a:srgbClr val="1B2430"/>
                </a:solidFill>
                <a:latin typeface="Consolas"/>
              </a:rPr>
              <a:t>   the Radiant project (cam_bridge.rdf)</a:t>
            </a:r>
          </a:p>
          <a:p>
            <a:pPr algn="l"/>
            <a:r>
              <a:rPr sz="950" b="0" i="0">
                <a:solidFill>
                  <a:srgbClr val="1B2430"/>
                </a:solidFill>
                <a:latin typeface="Consolas"/>
              </a:rPr>
              <a:t>2. Regenerate the D-PHY IP with the lane count (ips.yaml names the core)</a:t>
            </a:r>
          </a:p>
          <a:p>
            <a:pPr algn="l"/>
            <a:r>
              <a:rPr sz="950" b="0" i="0">
                <a:solidFill>
                  <a:srgbClr val="1B2430"/>
                </a:solidFill>
                <a:latin typeface="Consolas"/>
              </a:rPr>
              <a:t>3. Re-run the testbench; the lane-alignment check must pass for every lane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Vary the prompt, vary what is stored</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12</a:t>
            </a:r>
          </a:p>
        </p:txBody>
      </p:sp>
      <p:sp>
        <p:nvSpPr>
          <p:cNvPr id="5" name="card"/>
          <p:cNvSpPr/>
          <p:nvPr/>
        </p:nvSpPr>
        <p:spPr>
          <a:xfrm>
            <a:off x="548640" y="1280160"/>
            <a:ext cx="3566160" cy="19659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417320"/>
            <a:ext cx="3200400" cy="548640"/>
          </a:xfrm>
          <a:prstGeom prst="rect">
            <a:avLst/>
          </a:prstGeom>
          <a:noFill/>
        </p:spPr>
        <p:txBody>
          <a:bodyPr wrap="square" lIns="0" rIns="0" tIns="0" bIns="0" anchor="t">
            <a:spAutoFit/>
          </a:bodyPr>
          <a:lstStyle/>
          <a:p>
            <a:pPr algn="l"/>
            <a:r>
              <a:rPr sz="1200" b="0" i="1">
                <a:solidFill>
                  <a:srgbClr val="1B2430"/>
                </a:solidFill>
                <a:latin typeface="Calibri"/>
              </a:rPr>
              <a:t>“Link it to the video repo, subpath cam_bridge”</a:t>
            </a:r>
          </a:p>
        </p:txBody>
      </p:sp>
      <p:sp>
        <p:nvSpPr>
          <p:cNvPr id="7" name="pill"/>
          <p:cNvSpPr/>
          <p:nvPr/>
        </p:nvSpPr>
        <p:spPr>
          <a:xfrm>
            <a:off x="731520" y="2011680"/>
            <a:ext cx="1737360" cy="3108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libri"/>
              </a:rPr>
              <a:t>linked</a:t>
            </a:r>
          </a:p>
        </p:txBody>
      </p:sp>
      <p:sp>
        <p:nvSpPr>
          <p:cNvPr id="8" name="TextBox 7"/>
          <p:cNvSpPr txBox="1"/>
          <p:nvPr/>
        </p:nvSpPr>
        <p:spPr>
          <a:xfrm>
            <a:off x="731520" y="2423160"/>
            <a:ext cx="3200400" cy="822960"/>
          </a:xfrm>
          <a:prstGeom prst="rect">
            <a:avLst/>
          </a:prstGeom>
          <a:noFill/>
        </p:spPr>
        <p:txBody>
          <a:bodyPr wrap="square" lIns="0" rIns="0" tIns="0" bIns="0" anchor="t">
            <a:spAutoFit/>
          </a:bodyPr>
          <a:lstStyle/>
          <a:p>
            <a:pPr algn="l"/>
            <a:r>
              <a:rPr sz="1100" b="0" i="0">
                <a:solidFill>
                  <a:srgbClr val="1B2430"/>
                </a:solidFill>
                <a:latin typeface="Calibri"/>
              </a:rPr>
              <a:t>the entry points at a registered source repository and subpath; sources are fetched on demand, so the base stays small and follows the repository</a:t>
            </a:r>
          </a:p>
        </p:txBody>
      </p:sp>
      <p:sp>
        <p:nvSpPr>
          <p:cNvPr id="9" name="card"/>
          <p:cNvSpPr/>
          <p:nvPr/>
        </p:nvSpPr>
        <p:spPr>
          <a:xfrm>
            <a:off x="4297679" y="1280160"/>
            <a:ext cx="3566160" cy="19659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80559" y="1417320"/>
            <a:ext cx="3200400" cy="548640"/>
          </a:xfrm>
          <a:prstGeom prst="rect">
            <a:avLst/>
          </a:prstGeom>
          <a:noFill/>
        </p:spPr>
        <p:txBody>
          <a:bodyPr wrap="square" lIns="0" rIns="0" tIns="0" bIns="0" anchor="t">
            <a:spAutoFit/>
          </a:bodyPr>
          <a:lstStyle/>
          <a:p>
            <a:pPr algn="l"/>
            <a:r>
              <a:rPr sz="1200" b="0" i="1">
                <a:solidFill>
                  <a:srgbClr val="1B2430"/>
                </a:solidFill>
                <a:latin typeface="Calibri"/>
              </a:rPr>
              <a:t>“Vendor the export, but leave out the GPL files”</a:t>
            </a:r>
          </a:p>
        </p:txBody>
      </p:sp>
      <p:sp>
        <p:nvSpPr>
          <p:cNvPr id="11" name="pill"/>
          <p:cNvSpPr/>
          <p:nvPr/>
        </p:nvSpPr>
        <p:spPr>
          <a:xfrm>
            <a:off x="4480559" y="2011680"/>
            <a:ext cx="1737360" cy="310896"/>
          </a:xfrm>
          <a:prstGeom prst="roundRect">
            <a:avLst>
              <a:gd name="adj" fmla="val 50000"/>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libri"/>
              </a:rPr>
              <a:t>vendored</a:t>
            </a:r>
          </a:p>
        </p:txBody>
      </p:sp>
      <p:sp>
        <p:nvSpPr>
          <p:cNvPr id="12" name="TextBox 11"/>
          <p:cNvSpPr txBox="1"/>
          <p:nvPr/>
        </p:nvSpPr>
        <p:spPr>
          <a:xfrm>
            <a:off x="4480559" y="2423160"/>
            <a:ext cx="3200400" cy="822960"/>
          </a:xfrm>
          <a:prstGeom prst="rect">
            <a:avLst/>
          </a:prstGeom>
          <a:noFill/>
        </p:spPr>
        <p:txBody>
          <a:bodyPr wrap="square" lIns="0" rIns="0" tIns="0" bIns="0" anchor="t">
            <a:spAutoFit/>
          </a:bodyPr>
          <a:lstStyle/>
          <a:p>
            <a:pPr algn="l"/>
            <a:r>
              <a:rPr sz="1100" b="0" i="0">
                <a:solidFill>
                  <a:srgbClr val="1B2430"/>
                </a:solidFill>
                <a:latin typeface="Calibri"/>
              </a:rPr>
              <a:t>a copy of the sources inside the entry, with files of excluded licenses or patterns omitted and listed in the license audit</a:t>
            </a:r>
          </a:p>
        </p:txBody>
      </p:sp>
      <p:sp>
        <p:nvSpPr>
          <p:cNvPr id="13" name="card"/>
          <p:cNvSpPr/>
          <p:nvPr/>
        </p:nvSpPr>
        <p:spPr>
          <a:xfrm>
            <a:off x="8046719" y="1280160"/>
            <a:ext cx="3566160" cy="19659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9" y="1417320"/>
            <a:ext cx="3200400" cy="548640"/>
          </a:xfrm>
          <a:prstGeom prst="rect">
            <a:avLst/>
          </a:prstGeom>
          <a:noFill/>
        </p:spPr>
        <p:txBody>
          <a:bodyPr wrap="square" lIns="0" rIns="0" tIns="0" bIns="0" anchor="t">
            <a:spAutoFit/>
          </a:bodyPr>
          <a:lstStyle/>
          <a:p>
            <a:pPr algn="l"/>
            <a:r>
              <a:rPr sz="1200" b="0" i="1">
                <a:solidFill>
                  <a:srgbClr val="1B2430"/>
                </a:solidFill>
                <a:latin typeface="Calibri"/>
              </a:rPr>
              <a:t>“Knowledge only, the sources stay where they are”</a:t>
            </a:r>
          </a:p>
        </p:txBody>
      </p:sp>
      <p:sp>
        <p:nvSpPr>
          <p:cNvPr id="15" name="pill"/>
          <p:cNvSpPr/>
          <p:nvPr/>
        </p:nvSpPr>
        <p:spPr>
          <a:xfrm>
            <a:off x="8229599" y="2011680"/>
            <a:ext cx="1737360" cy="310896"/>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libri"/>
              </a:rPr>
              <a:t>knowledge_only</a:t>
            </a:r>
          </a:p>
        </p:txBody>
      </p:sp>
      <p:sp>
        <p:nvSpPr>
          <p:cNvPr id="16" name="TextBox 15"/>
          <p:cNvSpPr txBox="1"/>
          <p:nvPr/>
        </p:nvSpPr>
        <p:spPr>
          <a:xfrm>
            <a:off x="8229599" y="2423160"/>
            <a:ext cx="3200400" cy="822960"/>
          </a:xfrm>
          <a:prstGeom prst="rect">
            <a:avLst/>
          </a:prstGeom>
          <a:noFill/>
        </p:spPr>
        <p:txBody>
          <a:bodyPr wrap="square" lIns="0" rIns="0" tIns="0" bIns="0" anchor="t">
            <a:spAutoFit/>
          </a:bodyPr>
          <a:lstStyle/>
          <a:p>
            <a:pPr algn="l"/>
            <a:r>
              <a:rPr sz="1100" b="0" i="0">
                <a:solidFill>
                  <a:srgbClr val="1B2430"/>
                </a:solidFill>
                <a:latin typeface="Calibri"/>
              </a:rPr>
              <a:t>derived facts, the engineer's words and the location of the sources; no source file enters the base</a:t>
            </a:r>
          </a:p>
        </p:txBody>
      </p:sp>
      <p:sp>
        <p:nvSpPr>
          <p:cNvPr id="17" name="TextBox 16"/>
          <p:cNvSpPr txBox="1"/>
          <p:nvPr/>
        </p:nvSpPr>
        <p:spPr>
          <a:xfrm>
            <a:off x="548640" y="3566160"/>
            <a:ext cx="7315200" cy="320040"/>
          </a:xfrm>
          <a:prstGeom prst="rect">
            <a:avLst/>
          </a:prstGeom>
          <a:noFill/>
        </p:spPr>
        <p:txBody>
          <a:bodyPr wrap="square" lIns="0" rIns="0" tIns="0" bIns="0" anchor="t">
            <a:spAutoFit/>
          </a:bodyPr>
          <a:lstStyle/>
          <a:p>
            <a:pPr algn="l"/>
            <a:r>
              <a:rPr sz="1400" b="1" i="0">
                <a:solidFill>
                  <a:srgbClr val="1C7293"/>
                </a:solidFill>
                <a:latin typeface="Calibri"/>
              </a:rPr>
              <a:t>Three more things the same conversation can ask for</a:t>
            </a:r>
          </a:p>
        </p:txBody>
      </p:sp>
      <p:sp>
        <p:nvSpPr>
          <p:cNvPr id="18" name="icon"/>
          <p:cNvSpPr/>
          <p:nvPr/>
        </p:nvSpPr>
        <p:spPr>
          <a:xfrm>
            <a:off x="640080" y="4133088"/>
            <a:ext cx="292608" cy="292608"/>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97280" y="4023360"/>
            <a:ext cx="4206240" cy="566928"/>
          </a:xfrm>
          <a:prstGeom prst="rect">
            <a:avLst/>
          </a:prstGeom>
          <a:noFill/>
        </p:spPr>
        <p:txBody>
          <a:bodyPr wrap="square" lIns="0" rIns="0" tIns="0" bIns="0" anchor="ctr">
            <a:spAutoFit/>
          </a:bodyPr>
          <a:lstStyle/>
          <a:p>
            <a:pPr algn="l"/>
            <a:r>
              <a:rPr sz="1050" b="0" i="1">
                <a:solidFill>
                  <a:srgbClr val="1B2430"/>
                </a:solidFill>
                <a:latin typeface="Calibri"/>
              </a:rPr>
              <a:t>“That line-buffer handshake is an idiom we keep reusing; propose it as a pattern”</a:t>
            </a:r>
          </a:p>
        </p:txBody>
      </p:sp>
      <p:sp>
        <p:nvSpPr>
          <p:cNvPr id="20" name="TextBox 19"/>
          <p:cNvSpPr txBox="1"/>
          <p:nvPr/>
        </p:nvSpPr>
        <p:spPr>
          <a:xfrm>
            <a:off x="5394960" y="4023360"/>
            <a:ext cx="2286000" cy="566928"/>
          </a:xfrm>
          <a:prstGeom prst="rect">
            <a:avLst/>
          </a:prstGeom>
          <a:noFill/>
        </p:spPr>
        <p:txBody>
          <a:bodyPr wrap="square" lIns="0" rIns="0" tIns="0" bIns="0" anchor="ctr">
            <a:spAutoFit/>
          </a:bodyPr>
          <a:lstStyle/>
          <a:p>
            <a:pPr algn="l"/>
            <a:r>
              <a:rPr sz="1100" b="1" i="0">
                <a:solidFill>
                  <a:srgbClr val="1C7293"/>
                </a:solidFill>
                <a:latin typeface="Calibri"/>
              </a:rPr>
              <a:t>kb_author_propose_pattern</a:t>
            </a:r>
          </a:p>
        </p:txBody>
      </p:sp>
      <p:sp>
        <p:nvSpPr>
          <p:cNvPr id="21" name="TextBox 20"/>
          <p:cNvSpPr txBox="1"/>
          <p:nvPr/>
        </p:nvSpPr>
        <p:spPr>
          <a:xfrm>
            <a:off x="7726679" y="4023360"/>
            <a:ext cx="3886200" cy="566928"/>
          </a:xfrm>
          <a:prstGeom prst="rect">
            <a:avLst/>
          </a:prstGeom>
          <a:noFill/>
        </p:spPr>
        <p:txBody>
          <a:bodyPr wrap="square" lIns="0" rIns="0" tIns="0" bIns="0" anchor="ctr">
            <a:spAutoFit/>
          </a:bodyPr>
          <a:lstStyle/>
          <a:p>
            <a:pPr algn="l"/>
            <a:r>
              <a:rPr sz="1000" b="0" i="0">
                <a:solidFill>
                  <a:srgbClr val="1B2430"/>
                </a:solidFill>
                <a:latin typeface="Calibri"/>
              </a:rPr>
              <a:t>a pattern entry with README sections, the RTL and testbench files and exhibited_by: [cam_bridge/line_buffer]; exported only with explicit approval</a:t>
            </a:r>
          </a:p>
        </p:txBody>
      </p:sp>
      <p:sp>
        <p:nvSpPr>
          <p:cNvPr id="22" name="icon"/>
          <p:cNvSpPr/>
          <p:nvPr/>
        </p:nvSpPr>
        <p:spPr>
          <a:xfrm>
            <a:off x="640080" y="4864608"/>
            <a:ext cx="292608" cy="292608"/>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97280" y="4754880"/>
            <a:ext cx="4206240" cy="566928"/>
          </a:xfrm>
          <a:prstGeom prst="rect">
            <a:avLst/>
          </a:prstGeom>
          <a:noFill/>
        </p:spPr>
        <p:txBody>
          <a:bodyPr wrap="square" lIns="0" rIns="0" tIns="0" bIns="0" anchor="ctr">
            <a:spAutoFit/>
          </a:bodyPr>
          <a:lstStyle/>
          <a:p>
            <a:pPr algn="l"/>
            <a:r>
              <a:rPr sz="1050" b="0" i="1">
                <a:solidFill>
                  <a:srgbClr val="1B2430"/>
                </a:solidFill>
                <a:latin typeface="Calibri"/>
              </a:rPr>
              <a:t>“I cannot push from this machine; package it for the maintainer”</a:t>
            </a:r>
          </a:p>
        </p:txBody>
      </p:sp>
      <p:sp>
        <p:nvSpPr>
          <p:cNvPr id="24" name="TextBox 23"/>
          <p:cNvSpPr txBox="1"/>
          <p:nvPr/>
        </p:nvSpPr>
        <p:spPr>
          <a:xfrm>
            <a:off x="5394960" y="4754880"/>
            <a:ext cx="2286000" cy="566928"/>
          </a:xfrm>
          <a:prstGeom prst="rect">
            <a:avLst/>
          </a:prstGeom>
          <a:noFill/>
        </p:spPr>
        <p:txBody>
          <a:bodyPr wrap="square" lIns="0" rIns="0" tIns="0" bIns="0" anchor="ctr">
            <a:spAutoFit/>
          </a:bodyPr>
          <a:lstStyle/>
          <a:p>
            <a:pPr algn="l"/>
            <a:r>
              <a:rPr sz="1100" b="1" i="0">
                <a:solidFill>
                  <a:srgbClr val="1C7293"/>
                </a:solidFill>
                <a:latin typeface="Calibri"/>
              </a:rPr>
              <a:t>kb_author_package</a:t>
            </a:r>
          </a:p>
        </p:txBody>
      </p:sp>
      <p:sp>
        <p:nvSpPr>
          <p:cNvPr id="25" name="TextBox 24"/>
          <p:cNvSpPr txBox="1"/>
          <p:nvPr/>
        </p:nvSpPr>
        <p:spPr>
          <a:xfrm>
            <a:off x="7726679" y="4754880"/>
            <a:ext cx="3886200" cy="566928"/>
          </a:xfrm>
          <a:prstGeom prst="rect">
            <a:avLst/>
          </a:prstGeom>
          <a:noFill/>
        </p:spPr>
        <p:txBody>
          <a:bodyPr wrap="square" lIns="0" rIns="0" tIns="0" bIns="0" anchor="ctr">
            <a:spAutoFit/>
          </a:bodyPr>
          <a:lstStyle/>
          <a:p>
            <a:pPr algn="l"/>
            <a:r>
              <a:rPr sz="1000" b="0" i="0">
                <a:solidFill>
                  <a:srgbClr val="1B2430"/>
                </a:solidFill>
                <a:latin typeface="Calibri"/>
              </a:rPr>
              <a:t>one cam_bridge.kbentry.zip with checksums and the commit message; the maintainer applies it with kb_author_import_package</a:t>
            </a:r>
          </a:p>
        </p:txBody>
      </p:sp>
      <p:sp>
        <p:nvSpPr>
          <p:cNvPr id="26" name="icon"/>
          <p:cNvSpPr/>
          <p:nvPr/>
        </p:nvSpPr>
        <p:spPr>
          <a:xfrm>
            <a:off x="640080" y="5596128"/>
            <a:ext cx="292608" cy="292608"/>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97280" y="5486400"/>
            <a:ext cx="4206240" cy="566928"/>
          </a:xfrm>
          <a:prstGeom prst="rect">
            <a:avLst/>
          </a:prstGeom>
          <a:noFill/>
        </p:spPr>
        <p:txBody>
          <a:bodyPr wrap="square" lIns="0" rIns="0" tIns="0" bIns="0" anchor="ctr">
            <a:spAutoFit/>
          </a:bodyPr>
          <a:lstStyle/>
          <a:p>
            <a:pPr algn="l"/>
            <a:r>
              <a:rPr sz="1050" b="0" i="1">
                <a:solidFill>
                  <a:srgbClr val="1B2430"/>
                </a:solidFill>
                <a:latin typeface="Calibri"/>
              </a:rPr>
              <a:t>“Drop it, this design is not ready”</a:t>
            </a:r>
          </a:p>
        </p:txBody>
      </p:sp>
      <p:sp>
        <p:nvSpPr>
          <p:cNvPr id="28" name="TextBox 27"/>
          <p:cNvSpPr txBox="1"/>
          <p:nvPr/>
        </p:nvSpPr>
        <p:spPr>
          <a:xfrm>
            <a:off x="5394960" y="5486400"/>
            <a:ext cx="2286000" cy="566928"/>
          </a:xfrm>
          <a:prstGeom prst="rect">
            <a:avLst/>
          </a:prstGeom>
          <a:noFill/>
        </p:spPr>
        <p:txBody>
          <a:bodyPr wrap="square" lIns="0" rIns="0" tIns="0" bIns="0" anchor="ctr">
            <a:spAutoFit/>
          </a:bodyPr>
          <a:lstStyle/>
          <a:p>
            <a:pPr algn="l"/>
            <a:r>
              <a:rPr sz="1100" b="1" i="0">
                <a:solidFill>
                  <a:srgbClr val="1C7293"/>
                </a:solidFill>
                <a:latin typeface="Calibri"/>
              </a:rPr>
              <a:t>kb_author_discard</a:t>
            </a:r>
          </a:p>
        </p:txBody>
      </p:sp>
      <p:sp>
        <p:nvSpPr>
          <p:cNvPr id="29" name="TextBox 28"/>
          <p:cNvSpPr txBox="1"/>
          <p:nvPr/>
        </p:nvSpPr>
        <p:spPr>
          <a:xfrm>
            <a:off x="7726679" y="5486400"/>
            <a:ext cx="3886200" cy="566928"/>
          </a:xfrm>
          <a:prstGeom prst="rect">
            <a:avLst/>
          </a:prstGeom>
          <a:noFill/>
        </p:spPr>
        <p:txBody>
          <a:bodyPr wrap="square" lIns="0" rIns="0" tIns="0" bIns="0" anchor="ctr">
            <a:spAutoFit/>
          </a:bodyPr>
          <a:lstStyle/>
          <a:p>
            <a:pPr algn="l"/>
            <a:r>
              <a:rPr sz="1000" b="0" i="0">
                <a:solidFill>
                  <a:srgbClr val="1B2430"/>
                </a:solidFill>
                <a:latin typeface="Calibri"/>
              </a:rPr>
              <a:t>the staged entry is removed from the workspace; the repository was never touched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Governance and privacy: two gates, only one of them human</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13</a:t>
            </a:r>
          </a:p>
        </p:txBody>
      </p:sp>
      <p:sp>
        <p:nvSpPr>
          <p:cNvPr id="5" name="pill"/>
          <p:cNvSpPr/>
          <p:nvPr/>
        </p:nvSpPr>
        <p:spPr>
          <a:xfrm>
            <a:off x="548640" y="1325880"/>
            <a:ext cx="2103120" cy="4114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maturity</a:t>
            </a:r>
          </a:p>
        </p:txBody>
      </p:sp>
      <p:sp>
        <p:nvSpPr>
          <p:cNvPr id="6" name="pill"/>
          <p:cNvSpPr/>
          <p:nvPr/>
        </p:nvSpPr>
        <p:spPr>
          <a:xfrm>
            <a:off x="2788920" y="1325880"/>
            <a:ext cx="2103120" cy="4114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license</a:t>
            </a:r>
          </a:p>
        </p:txBody>
      </p:sp>
      <p:sp>
        <p:nvSpPr>
          <p:cNvPr id="7" name="pill"/>
          <p:cNvSpPr/>
          <p:nvPr/>
        </p:nvSpPr>
        <p:spPr>
          <a:xfrm>
            <a:off x="5029200" y="1325880"/>
            <a:ext cx="2103120" cy="4114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provenance</a:t>
            </a:r>
          </a:p>
        </p:txBody>
      </p:sp>
      <p:sp>
        <p:nvSpPr>
          <p:cNvPr id="8" name="pill"/>
          <p:cNvSpPr/>
          <p:nvPr/>
        </p:nvSpPr>
        <p:spPr>
          <a:xfrm>
            <a:off x="7269480" y="1325880"/>
            <a:ext cx="2103120" cy="4114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export control</a:t>
            </a:r>
          </a:p>
        </p:txBody>
      </p:sp>
      <p:sp>
        <p:nvSpPr>
          <p:cNvPr id="9" name="pill"/>
          <p:cNvSpPr/>
          <p:nvPr/>
        </p:nvSpPr>
        <p:spPr>
          <a:xfrm>
            <a:off x="9509760" y="1325880"/>
            <a:ext cx="2103120" cy="4114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classification</a:t>
            </a:r>
          </a:p>
        </p:txBody>
      </p:sp>
      <p:sp>
        <p:nvSpPr>
          <p:cNvPr id="10" name="card"/>
          <p:cNvSpPr/>
          <p:nvPr/>
        </p:nvSpPr>
        <p:spPr>
          <a:xfrm>
            <a:off x="548640" y="2011680"/>
            <a:ext cx="3566160" cy="160020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con"/>
          <p:cNvSpPr/>
          <p:nvPr/>
        </p:nvSpPr>
        <p:spPr>
          <a:xfrm>
            <a:off x="731520" y="2194560"/>
            <a:ext cx="457200" cy="457200"/>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C</a:t>
            </a:r>
          </a:p>
        </p:txBody>
      </p:sp>
      <p:sp>
        <p:nvSpPr>
          <p:cNvPr id="12" name="TextBox 11"/>
          <p:cNvSpPr txBox="1"/>
          <p:nvPr/>
        </p:nvSpPr>
        <p:spPr>
          <a:xfrm>
            <a:off x="1325880" y="2258568"/>
            <a:ext cx="2651760" cy="365760"/>
          </a:xfrm>
          <a:prstGeom prst="rect">
            <a:avLst/>
          </a:prstGeom>
          <a:noFill/>
        </p:spPr>
        <p:txBody>
          <a:bodyPr wrap="square" lIns="0" rIns="0" tIns="0" bIns="0" anchor="t">
            <a:spAutoFit/>
          </a:bodyPr>
          <a:lstStyle/>
          <a:p>
            <a:pPr algn="l"/>
            <a:r>
              <a:rPr sz="1400" b="1" i="0">
                <a:solidFill>
                  <a:srgbClr val="1B2430"/>
                </a:solidFill>
                <a:latin typeface="Calibri"/>
              </a:rPr>
              <a:t>Classification filter</a:t>
            </a:r>
          </a:p>
        </p:txBody>
      </p:sp>
      <p:sp>
        <p:nvSpPr>
          <p:cNvPr id="13" name="TextBox 12"/>
          <p:cNvSpPr txBox="1"/>
          <p:nvPr/>
        </p:nvSpPr>
        <p:spPr>
          <a:xfrm>
            <a:off x="731520" y="2743200"/>
            <a:ext cx="3200400" cy="822960"/>
          </a:xfrm>
          <a:prstGeom prst="rect">
            <a:avLst/>
          </a:prstGeom>
          <a:noFill/>
        </p:spPr>
        <p:txBody>
          <a:bodyPr wrap="square" lIns="0" rIns="0" tIns="0" bIns="0" anchor="t">
            <a:spAutoFit/>
          </a:bodyPr>
          <a:lstStyle/>
          <a:p>
            <a:pPr algn="l"/>
            <a:r>
              <a:rPr sz="1100" b="0" i="0">
                <a:solidFill>
                  <a:srgbClr val="1B2430"/>
                </a:solidFill>
                <a:latin typeface="Calibri"/>
              </a:rPr>
              <a:t>public, internal, confidential; confidential entries and their sources are dropped from the distributed bundle</a:t>
            </a:r>
          </a:p>
        </p:txBody>
      </p:sp>
      <p:sp>
        <p:nvSpPr>
          <p:cNvPr id="14" name="card"/>
          <p:cNvSpPr/>
          <p:nvPr/>
        </p:nvSpPr>
        <p:spPr>
          <a:xfrm>
            <a:off x="4297679" y="2011680"/>
            <a:ext cx="3566160" cy="160020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con"/>
          <p:cNvSpPr/>
          <p:nvPr/>
        </p:nvSpPr>
        <p:spPr>
          <a:xfrm>
            <a:off x="4480559" y="2194560"/>
            <a:ext cx="457200" cy="457200"/>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S</a:t>
            </a:r>
          </a:p>
        </p:txBody>
      </p:sp>
      <p:sp>
        <p:nvSpPr>
          <p:cNvPr id="16" name="TextBox 15"/>
          <p:cNvSpPr txBox="1"/>
          <p:nvPr/>
        </p:nvSpPr>
        <p:spPr>
          <a:xfrm>
            <a:off x="5074920" y="2258568"/>
            <a:ext cx="2651760" cy="365760"/>
          </a:xfrm>
          <a:prstGeom prst="rect">
            <a:avLst/>
          </a:prstGeom>
          <a:noFill/>
        </p:spPr>
        <p:txBody>
          <a:bodyPr wrap="square" lIns="0" rIns="0" tIns="0" bIns="0" anchor="t">
            <a:spAutoFit/>
          </a:bodyPr>
          <a:lstStyle/>
          <a:p>
            <a:pPr algn="l"/>
            <a:r>
              <a:rPr sz="1400" b="1" i="0">
                <a:solidFill>
                  <a:srgbClr val="1B2430"/>
                </a:solidFill>
                <a:latin typeface="Calibri"/>
              </a:rPr>
              <a:t>Secret and personal-data scan</a:t>
            </a:r>
          </a:p>
        </p:txBody>
      </p:sp>
      <p:sp>
        <p:nvSpPr>
          <p:cNvPr id="17" name="TextBox 16"/>
          <p:cNvSpPr txBox="1"/>
          <p:nvPr/>
        </p:nvSpPr>
        <p:spPr>
          <a:xfrm>
            <a:off x="4480559" y="2743200"/>
            <a:ext cx="3200400" cy="822960"/>
          </a:xfrm>
          <a:prstGeom prst="rect">
            <a:avLst/>
          </a:prstGeom>
          <a:noFill/>
        </p:spPr>
        <p:txBody>
          <a:bodyPr wrap="square" lIns="0" rIns="0" tIns="0" bIns="0" anchor="t">
            <a:spAutoFit/>
          </a:bodyPr>
          <a:lstStyle/>
          <a:p>
            <a:pPr algn="l"/>
            <a:r>
              <a:rPr sz="1100" b="0" i="0">
                <a:solidFill>
                  <a:srgbClr val="1B2430"/>
                </a:solidFill>
                <a:latin typeface="Calibri"/>
              </a:rPr>
              <a:t>keys, tokens, passwords and personal identifiers refuse validation; author lines are team identifiers</a:t>
            </a:r>
          </a:p>
        </p:txBody>
      </p:sp>
      <p:sp>
        <p:nvSpPr>
          <p:cNvPr id="18" name="card"/>
          <p:cNvSpPr/>
          <p:nvPr/>
        </p:nvSpPr>
        <p:spPr>
          <a:xfrm>
            <a:off x="8046719" y="2011680"/>
            <a:ext cx="3566160" cy="160020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con"/>
          <p:cNvSpPr/>
          <p:nvPr/>
        </p:nvSpPr>
        <p:spPr>
          <a:xfrm>
            <a:off x="8229600" y="2194560"/>
            <a:ext cx="457200" cy="457200"/>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mbria"/>
              </a:rPr>
              <a:t>L</a:t>
            </a:r>
          </a:p>
        </p:txBody>
      </p:sp>
      <p:sp>
        <p:nvSpPr>
          <p:cNvPr id="20" name="TextBox 19"/>
          <p:cNvSpPr txBox="1"/>
          <p:nvPr/>
        </p:nvSpPr>
        <p:spPr>
          <a:xfrm>
            <a:off x="8823959" y="2258568"/>
            <a:ext cx="2651760" cy="365760"/>
          </a:xfrm>
          <a:prstGeom prst="rect">
            <a:avLst/>
          </a:prstGeom>
          <a:noFill/>
        </p:spPr>
        <p:txBody>
          <a:bodyPr wrap="square" lIns="0" rIns="0" tIns="0" bIns="0" anchor="t">
            <a:spAutoFit/>
          </a:bodyPr>
          <a:lstStyle/>
          <a:p>
            <a:pPr algn="l"/>
            <a:r>
              <a:rPr sz="1400" b="1" i="0">
                <a:solidFill>
                  <a:srgbClr val="1B2430"/>
                </a:solidFill>
                <a:latin typeface="Calibri"/>
              </a:rPr>
              <a:t>License audit per file</a:t>
            </a:r>
          </a:p>
        </p:txBody>
      </p:sp>
      <p:sp>
        <p:nvSpPr>
          <p:cNvPr id="21" name="TextBox 20"/>
          <p:cNvSpPr txBox="1"/>
          <p:nvPr/>
        </p:nvSpPr>
        <p:spPr>
          <a:xfrm>
            <a:off x="8229600" y="2743200"/>
            <a:ext cx="3200400" cy="822960"/>
          </a:xfrm>
          <a:prstGeom prst="rect">
            <a:avLst/>
          </a:prstGeom>
          <a:noFill/>
        </p:spPr>
        <p:txBody>
          <a:bodyPr wrap="square" lIns="0" rIns="0" tIns="0" bIns="0" anchor="t">
            <a:spAutoFit/>
          </a:bodyPr>
          <a:lstStyle/>
          <a:p>
            <a:pPr algn="l"/>
            <a:r>
              <a:rPr sz="1100" b="0" i="0">
                <a:solidFill>
                  <a:srgbClr val="1B2430"/>
                </a:solidFill>
                <a:latin typeface="Calibri"/>
              </a:rPr>
              <a:t>SPDX markers and copyright holders recorded; a mismatch with the declared class is a finding</a:t>
            </a:r>
          </a:p>
        </p:txBody>
      </p:sp>
      <p:sp>
        <p:nvSpPr>
          <p:cNvPr id="22" name="TextBox 21"/>
          <p:cNvSpPr txBox="1"/>
          <p:nvPr/>
        </p:nvSpPr>
        <p:spPr>
          <a:xfrm>
            <a:off x="548640" y="4160520"/>
            <a:ext cx="3657600" cy="365760"/>
          </a:xfrm>
          <a:prstGeom prst="rect">
            <a:avLst/>
          </a:prstGeom>
          <a:noFill/>
        </p:spPr>
        <p:txBody>
          <a:bodyPr wrap="square" lIns="0" rIns="0" tIns="0" bIns="0" anchor="t">
            <a:spAutoFit/>
          </a:bodyPr>
          <a:lstStyle/>
          <a:p>
            <a:pPr algn="l"/>
            <a:r>
              <a:rPr sz="1400" b="1" i="0">
                <a:solidFill>
                  <a:srgbClr val="1B2430"/>
                </a:solidFill>
                <a:latin typeface="Calibri"/>
              </a:rPr>
              <a:t>Pull request from a rescan or an engineer</a:t>
            </a:r>
          </a:p>
        </p:txBody>
      </p:sp>
      <p:sp>
        <p:nvSpPr>
          <p:cNvPr id="23" name="decision"/>
          <p:cNvSpPr/>
          <p:nvPr/>
        </p:nvSpPr>
        <p:spPr>
          <a:xfrm>
            <a:off x="4480560" y="3840480"/>
            <a:ext cx="1005840" cy="1005840"/>
          </a:xfrm>
          <a:prstGeom prst="diamond">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80560" y="4069080"/>
            <a:ext cx="1005840" cy="548640"/>
          </a:xfrm>
          <a:prstGeom prst="rect">
            <a:avLst/>
          </a:prstGeom>
          <a:noFill/>
        </p:spPr>
        <p:txBody>
          <a:bodyPr wrap="square" lIns="0" rIns="0" tIns="0" bIns="0" anchor="t">
            <a:spAutoFit/>
          </a:bodyPr>
          <a:lstStyle/>
          <a:p>
            <a:pPr algn="ctr"/>
            <a:r>
              <a:rPr sz="1000" b="1" i="0">
                <a:solidFill>
                  <a:srgbClr val="FFFFFF"/>
                </a:solidFill>
                <a:latin typeface="Calibri"/>
              </a:rPr>
              <a:t>derived</a:t>
            </a:r>
          </a:p>
          <a:p>
            <a:pPr algn="ctr"/>
            <a:r>
              <a:rPr sz="1000" b="1" i="0">
                <a:solidFill>
                  <a:srgbClr val="FFFFFF"/>
                </a:solidFill>
                <a:latin typeface="Calibri"/>
              </a:rPr>
              <a:t>only?</a:t>
            </a:r>
          </a:p>
        </p:txBody>
      </p:sp>
      <p:cxnSp>
        <p:nvCxnSpPr>
          <p:cNvPr id="25" name="Connector 24"/>
          <p:cNvCxnSpPr/>
          <p:nvPr/>
        </p:nvCxnSpPr>
        <p:spPr>
          <a:xfrm>
            <a:off x="4206240" y="4343400"/>
            <a:ext cx="274320"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486400" y="4114800"/>
            <a:ext cx="1188720" cy="0"/>
          </a:xfrm>
          <a:prstGeom prst="line">
            <a:avLst/>
          </a:prstGeom>
          <a:ln w="22225">
            <a:solidFill>
              <a:srgbClr val="02C3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0" y="4572000"/>
            <a:ext cx="1188720" cy="365760"/>
          </a:xfrm>
          <a:prstGeom prst="line">
            <a:avLst/>
          </a:prstGeom>
          <a:ln w="22225">
            <a:solidFill>
              <a:srgbClr val="D953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card"/>
          <p:cNvSpPr/>
          <p:nvPr/>
        </p:nvSpPr>
        <p:spPr>
          <a:xfrm>
            <a:off x="6675120" y="3703320"/>
            <a:ext cx="4937760" cy="82296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12280" y="3767328"/>
            <a:ext cx="4663440" cy="731520"/>
          </a:xfrm>
          <a:prstGeom prst="rect">
            <a:avLst/>
          </a:prstGeom>
          <a:noFill/>
        </p:spPr>
        <p:txBody>
          <a:bodyPr wrap="square" lIns="0" rIns="0" tIns="0" bIns="0" anchor="t">
            <a:spAutoFit/>
          </a:bodyPr>
          <a:lstStyle/>
          <a:p>
            <a:pPr algn="l"/>
            <a:r>
              <a:rPr sz="1100" b="0" i="0">
                <a:solidFill>
                  <a:srgbClr val="1B2430"/>
                </a:solidFill>
                <a:latin typeface="Calibri"/>
              </a:rPr>
              <a:t>yes: knowledge and reports of existing entries, registry, inventory. Auto-merge is enabled; merges when validate, build, tests and the retrieval benchmark pass.</a:t>
            </a:r>
          </a:p>
        </p:txBody>
      </p:sp>
      <p:sp>
        <p:nvSpPr>
          <p:cNvPr id="30" name="card"/>
          <p:cNvSpPr/>
          <p:nvPr/>
        </p:nvSpPr>
        <p:spPr>
          <a:xfrm>
            <a:off x="6675120" y="4709160"/>
            <a:ext cx="4937760" cy="82296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812280" y="4773168"/>
            <a:ext cx="4663440" cy="731520"/>
          </a:xfrm>
          <a:prstGeom prst="rect">
            <a:avLst/>
          </a:prstGeom>
          <a:noFill/>
        </p:spPr>
        <p:txBody>
          <a:bodyPr wrap="square" lIns="0" rIns="0" tIns="0" bIns="0" anchor="t">
            <a:spAutoFit/>
          </a:bodyPr>
          <a:lstStyle/>
          <a:p>
            <a:pPr algn="l"/>
            <a:r>
              <a:rPr sz="1100" b="0" i="0">
                <a:solidFill>
                  <a:srgbClr val="1B2430"/>
                </a:solidFill>
                <a:latin typeface="Calibri"/>
              </a:rPr>
              <a:t>no: new entry, metadata, README, sources, skill, IP catalog, board, governance value. An engineer reviews and answers the governance questions.</a:t>
            </a:r>
          </a:p>
        </p:txBody>
      </p:sp>
      <p:sp>
        <p:nvSpPr>
          <p:cNvPr id="32" name="TextBox 31"/>
          <p:cNvSpPr txBox="1"/>
          <p:nvPr/>
        </p:nvSpPr>
        <p:spPr>
          <a:xfrm>
            <a:off x="548640" y="5806440"/>
            <a:ext cx="5943600" cy="548640"/>
          </a:xfrm>
          <a:prstGeom prst="rect">
            <a:avLst/>
          </a:prstGeom>
          <a:noFill/>
        </p:spPr>
        <p:txBody>
          <a:bodyPr wrap="square" lIns="0" rIns="0" tIns="0" bIns="0" anchor="t">
            <a:spAutoFit/>
          </a:bodyPr>
          <a:lstStyle/>
          <a:p>
            <a:pPr algn="l"/>
            <a:r>
              <a:rPr sz="1200" b="0" i="1">
                <a:solidFill>
                  <a:srgbClr val="6C8EA4"/>
                </a:solidFill>
                <a:latin typeface="Calibri"/>
              </a:rPr>
              <a:t>The design gates (intent, decomposition, implementation review) approve the design, never the knowledge base.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The reuse ladder: the agent climbs down only with evidence</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14</a:t>
            </a:r>
          </a:p>
        </p:txBody>
      </p:sp>
      <p:sp>
        <p:nvSpPr>
          <p:cNvPr id="5" name="rung"/>
          <p:cNvSpPr/>
          <p:nvPr/>
        </p:nvSpPr>
        <p:spPr>
          <a:xfrm>
            <a:off x="548640" y="1371600"/>
            <a:ext cx="11064240" cy="777240"/>
          </a:xfrm>
          <a:prstGeom prst="roundRect">
            <a:avLst>
              <a:gd name="adj" fmla="val 10000"/>
            </a:avLst>
          </a:prstGeom>
          <a:solidFill>
            <a:srgbClr val="1C729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444752"/>
            <a:ext cx="3200400" cy="320040"/>
          </a:xfrm>
          <a:prstGeom prst="rect">
            <a:avLst/>
          </a:prstGeom>
          <a:noFill/>
        </p:spPr>
        <p:txBody>
          <a:bodyPr wrap="square" lIns="0" rIns="0" tIns="0" bIns="0" anchor="t">
            <a:spAutoFit/>
          </a:bodyPr>
          <a:lstStyle/>
          <a:p>
            <a:pPr algn="l"/>
            <a:r>
              <a:rPr sz="1400" b="1" i="0">
                <a:solidFill>
                  <a:srgbClr val="FFFFFF"/>
                </a:solidFill>
                <a:latin typeface="Calibri"/>
              </a:rPr>
              <a:t>1  Verified design</a:t>
            </a:r>
          </a:p>
        </p:txBody>
      </p:sp>
      <p:sp>
        <p:nvSpPr>
          <p:cNvPr id="7" name="TextBox 6"/>
          <p:cNvSpPr txBox="1"/>
          <p:nvPr/>
        </p:nvSpPr>
        <p:spPr>
          <a:xfrm>
            <a:off x="731520" y="1755648"/>
            <a:ext cx="7132320" cy="365760"/>
          </a:xfrm>
          <a:prstGeom prst="rect">
            <a:avLst/>
          </a:prstGeom>
          <a:noFill/>
        </p:spPr>
        <p:txBody>
          <a:bodyPr wrap="square" lIns="0" rIns="0" tIns="0" bIns="0" anchor="t">
            <a:spAutoFit/>
          </a:bodyPr>
          <a:lstStyle/>
          <a:p>
            <a:pPr algn="l"/>
            <a:r>
              <a:rPr sz="1100" b="0" i="0">
                <a:solidFill>
                  <a:srgbClr val="FFFFFF"/>
                </a:solidFill>
                <a:latin typeface="Calibri"/>
              </a:rPr>
              <a:t>becomes the donor; its hierarchy, constraints and registers seed the decomposition</a:t>
            </a:r>
          </a:p>
        </p:txBody>
      </p:sp>
      <p:sp>
        <p:nvSpPr>
          <p:cNvPr id="8" name="TextBox 7"/>
          <p:cNvSpPr txBox="1"/>
          <p:nvPr/>
        </p:nvSpPr>
        <p:spPr>
          <a:xfrm>
            <a:off x="7955279" y="1600200"/>
            <a:ext cx="3474720" cy="365760"/>
          </a:xfrm>
          <a:prstGeom prst="rect">
            <a:avLst/>
          </a:prstGeom>
          <a:noFill/>
        </p:spPr>
        <p:txBody>
          <a:bodyPr wrap="square" lIns="0" rIns="0" tIns="0" bIns="0" anchor="t">
            <a:spAutoFit/>
          </a:bodyPr>
          <a:lstStyle/>
          <a:p>
            <a:pPr algn="r"/>
            <a:r>
              <a:rPr sz="1000" b="0" i="1">
                <a:solidFill>
                  <a:srgbClr val="FFFFFF"/>
                </a:solidFill>
                <a:latin typeface="Calibri"/>
              </a:rPr>
              <a:t>kb_find_designs, kb_get_entry, kb_get_registers</a:t>
            </a:r>
          </a:p>
        </p:txBody>
      </p:sp>
      <p:sp>
        <p:nvSpPr>
          <p:cNvPr id="9" name="rung"/>
          <p:cNvSpPr/>
          <p:nvPr/>
        </p:nvSpPr>
        <p:spPr>
          <a:xfrm>
            <a:off x="1371600" y="2240280"/>
            <a:ext cx="10241280" cy="777240"/>
          </a:xfrm>
          <a:prstGeom prst="roundRect">
            <a:avLst>
              <a:gd name="adj" fmla="val 10000"/>
            </a:avLst>
          </a:prstGeom>
          <a:solidFill>
            <a:srgbClr val="2A7FA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54480" y="2313432"/>
            <a:ext cx="3200400" cy="320040"/>
          </a:xfrm>
          <a:prstGeom prst="rect">
            <a:avLst/>
          </a:prstGeom>
          <a:noFill/>
        </p:spPr>
        <p:txBody>
          <a:bodyPr wrap="square" lIns="0" rIns="0" tIns="0" bIns="0" anchor="t">
            <a:spAutoFit/>
          </a:bodyPr>
          <a:lstStyle/>
          <a:p>
            <a:pPr algn="l"/>
            <a:r>
              <a:rPr sz="1400" b="1" i="0">
                <a:solidFill>
                  <a:srgbClr val="FFFFFF"/>
                </a:solidFill>
                <a:latin typeface="Calibri"/>
              </a:rPr>
              <a:t>2  Reusable module</a:t>
            </a:r>
          </a:p>
        </p:txBody>
      </p:sp>
      <p:sp>
        <p:nvSpPr>
          <p:cNvPr id="11" name="TextBox 10"/>
          <p:cNvSpPr txBox="1"/>
          <p:nvPr/>
        </p:nvSpPr>
        <p:spPr>
          <a:xfrm>
            <a:off x="1554480" y="2624328"/>
            <a:ext cx="6309359" cy="365760"/>
          </a:xfrm>
          <a:prstGeom prst="rect">
            <a:avLst/>
          </a:prstGeom>
          <a:noFill/>
        </p:spPr>
        <p:txBody>
          <a:bodyPr wrap="square" lIns="0" rIns="0" tIns="0" bIns="0" anchor="t">
            <a:spAutoFit/>
          </a:bodyPr>
          <a:lstStyle/>
          <a:p>
            <a:pPr algn="l"/>
            <a:r>
              <a:rPr sz="1100" b="0" i="0">
                <a:solidFill>
                  <a:srgbClr val="FFFFFF"/>
                </a:solidFill>
                <a:latin typeface="Calibri"/>
              </a:rPr>
              <a:t>instantiated with the attribution header naming the entry and commit</a:t>
            </a:r>
          </a:p>
        </p:txBody>
      </p:sp>
      <p:sp>
        <p:nvSpPr>
          <p:cNvPr id="12" name="TextBox 11"/>
          <p:cNvSpPr txBox="1"/>
          <p:nvPr/>
        </p:nvSpPr>
        <p:spPr>
          <a:xfrm>
            <a:off x="7955279" y="2468880"/>
            <a:ext cx="3474720" cy="365760"/>
          </a:xfrm>
          <a:prstGeom prst="rect">
            <a:avLst/>
          </a:prstGeom>
          <a:noFill/>
        </p:spPr>
        <p:txBody>
          <a:bodyPr wrap="square" lIns="0" rIns="0" tIns="0" bIns="0" anchor="t">
            <a:spAutoFit/>
          </a:bodyPr>
          <a:lstStyle/>
          <a:p>
            <a:pPr algn="r"/>
            <a:r>
              <a:rPr sz="1000" b="0" i="1">
                <a:solidFill>
                  <a:srgbClr val="FFFFFF"/>
                </a:solidFill>
                <a:latin typeface="Calibri"/>
              </a:rPr>
              <a:t>kb_find_modules, kb_read_file</a:t>
            </a:r>
          </a:p>
        </p:txBody>
      </p:sp>
      <p:sp>
        <p:nvSpPr>
          <p:cNvPr id="13" name="rung"/>
          <p:cNvSpPr/>
          <p:nvPr/>
        </p:nvSpPr>
        <p:spPr>
          <a:xfrm>
            <a:off x="2194560" y="3108960"/>
            <a:ext cx="9418319" cy="777240"/>
          </a:xfrm>
          <a:prstGeom prst="roundRect">
            <a:avLst>
              <a:gd name="adj" fmla="val 10000"/>
            </a:avLst>
          </a:prstGeom>
          <a:solidFill>
            <a:srgbClr val="4A90A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377440" y="3182112"/>
            <a:ext cx="3200400" cy="320040"/>
          </a:xfrm>
          <a:prstGeom prst="rect">
            <a:avLst/>
          </a:prstGeom>
          <a:noFill/>
        </p:spPr>
        <p:txBody>
          <a:bodyPr wrap="square" lIns="0" rIns="0" tIns="0" bIns="0" anchor="t">
            <a:spAutoFit/>
          </a:bodyPr>
          <a:lstStyle/>
          <a:p>
            <a:pPr algn="l"/>
            <a:r>
              <a:rPr sz="1400" b="1" i="0">
                <a:solidFill>
                  <a:srgbClr val="FFFFFF"/>
                </a:solidFill>
                <a:latin typeface="Calibri"/>
              </a:rPr>
              <a:t>3  Pattern</a:t>
            </a:r>
          </a:p>
        </p:txBody>
      </p:sp>
      <p:sp>
        <p:nvSpPr>
          <p:cNvPr id="15" name="TextBox 14"/>
          <p:cNvSpPr txBox="1"/>
          <p:nvPr/>
        </p:nvSpPr>
        <p:spPr>
          <a:xfrm>
            <a:off x="2377440" y="3493008"/>
            <a:ext cx="5486399" cy="365760"/>
          </a:xfrm>
          <a:prstGeom prst="rect">
            <a:avLst/>
          </a:prstGeom>
          <a:noFill/>
        </p:spPr>
        <p:txBody>
          <a:bodyPr wrap="square" lIns="0" rIns="0" tIns="0" bIns="0" anchor="t">
            <a:spAutoFit/>
          </a:bodyPr>
          <a:lstStyle/>
          <a:p>
            <a:pPr algn="l"/>
            <a:r>
              <a:rPr sz="1100" b="0" i="0">
                <a:solidFill>
                  <a:srgbClr val="FFFFFF"/>
                </a:solidFill>
                <a:latin typeface="Calibri"/>
              </a:rPr>
              <a:t>shapes a new block; anti-patterns checked on CDC, reset, handshake</a:t>
            </a:r>
          </a:p>
        </p:txBody>
      </p:sp>
      <p:sp>
        <p:nvSpPr>
          <p:cNvPr id="16" name="TextBox 15"/>
          <p:cNvSpPr txBox="1"/>
          <p:nvPr/>
        </p:nvSpPr>
        <p:spPr>
          <a:xfrm>
            <a:off x="7955279" y="3337560"/>
            <a:ext cx="3474720" cy="365760"/>
          </a:xfrm>
          <a:prstGeom prst="rect">
            <a:avLst/>
          </a:prstGeom>
          <a:noFill/>
        </p:spPr>
        <p:txBody>
          <a:bodyPr wrap="square" lIns="0" rIns="0" tIns="0" bIns="0" anchor="t">
            <a:spAutoFit/>
          </a:bodyPr>
          <a:lstStyle/>
          <a:p>
            <a:pPr algn="r"/>
            <a:r>
              <a:rPr sz="1000" b="0" i="1">
                <a:solidFill>
                  <a:srgbClr val="FFFFFF"/>
                </a:solidFill>
                <a:latin typeface="Calibri"/>
              </a:rPr>
              <a:t>kb_find_patterns, kb_check_antipatterns</a:t>
            </a:r>
          </a:p>
        </p:txBody>
      </p:sp>
      <p:sp>
        <p:nvSpPr>
          <p:cNvPr id="17" name="rung"/>
          <p:cNvSpPr/>
          <p:nvPr/>
        </p:nvSpPr>
        <p:spPr>
          <a:xfrm>
            <a:off x="3017520" y="3977639"/>
            <a:ext cx="8595359" cy="777240"/>
          </a:xfrm>
          <a:prstGeom prst="roundRect">
            <a:avLst>
              <a:gd name="adj" fmla="val 10000"/>
            </a:avLst>
          </a:prstGeom>
          <a:solidFill>
            <a:srgbClr val="6BA2B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200400" y="4050791"/>
            <a:ext cx="3200400" cy="320040"/>
          </a:xfrm>
          <a:prstGeom prst="rect">
            <a:avLst/>
          </a:prstGeom>
          <a:noFill/>
        </p:spPr>
        <p:txBody>
          <a:bodyPr wrap="square" lIns="0" rIns="0" tIns="0" bIns="0" anchor="t">
            <a:spAutoFit/>
          </a:bodyPr>
          <a:lstStyle/>
          <a:p>
            <a:pPr algn="l"/>
            <a:r>
              <a:rPr sz="1400" b="1" i="0">
                <a:solidFill>
                  <a:srgbClr val="FFFFFF"/>
                </a:solidFill>
                <a:latin typeface="Calibri"/>
              </a:rPr>
              <a:t>4  IP core</a:t>
            </a:r>
          </a:p>
        </p:txBody>
      </p:sp>
      <p:sp>
        <p:nvSpPr>
          <p:cNvPr id="19" name="TextBox 18"/>
          <p:cNvSpPr txBox="1"/>
          <p:nvPr/>
        </p:nvSpPr>
        <p:spPr>
          <a:xfrm>
            <a:off x="3200400" y="4361688"/>
            <a:ext cx="4663439" cy="365760"/>
          </a:xfrm>
          <a:prstGeom prst="rect">
            <a:avLst/>
          </a:prstGeom>
          <a:noFill/>
        </p:spPr>
        <p:txBody>
          <a:bodyPr wrap="square" lIns="0" rIns="0" tIns="0" bIns="0" anchor="t">
            <a:spAutoFit/>
          </a:bodyPr>
          <a:lstStyle/>
          <a:p>
            <a:pPr algn="l"/>
            <a:r>
              <a:rPr sz="1100" b="0" i="0">
                <a:solidFill>
                  <a:srgbClr val="FFFFFF"/>
                </a:solidFill>
                <a:latin typeface="Calibri"/>
              </a:rPr>
              <a:t>generated with the parameters a captured design used on this family</a:t>
            </a:r>
          </a:p>
        </p:txBody>
      </p:sp>
      <p:sp>
        <p:nvSpPr>
          <p:cNvPr id="20" name="TextBox 19"/>
          <p:cNvSpPr txBox="1"/>
          <p:nvPr/>
        </p:nvSpPr>
        <p:spPr>
          <a:xfrm>
            <a:off x="7955279" y="4206240"/>
            <a:ext cx="3474720" cy="365760"/>
          </a:xfrm>
          <a:prstGeom prst="rect">
            <a:avLst/>
          </a:prstGeom>
          <a:noFill/>
        </p:spPr>
        <p:txBody>
          <a:bodyPr wrap="square" lIns="0" rIns="0" tIns="0" bIns="0" anchor="t">
            <a:spAutoFit/>
          </a:bodyPr>
          <a:lstStyle/>
          <a:p>
            <a:pPr algn="r"/>
            <a:r>
              <a:rPr sz="1000" b="0" i="1">
                <a:solidFill>
                  <a:srgbClr val="FFFFFF"/>
                </a:solidFill>
                <a:latin typeface="Calibri"/>
              </a:rPr>
              <a:t>kb_find_ips, kb_get_ip, ipgen</a:t>
            </a:r>
          </a:p>
        </p:txBody>
      </p:sp>
      <p:sp>
        <p:nvSpPr>
          <p:cNvPr id="21" name="rung"/>
          <p:cNvSpPr/>
          <p:nvPr/>
        </p:nvSpPr>
        <p:spPr>
          <a:xfrm>
            <a:off x="3840480" y="4846320"/>
            <a:ext cx="7772400" cy="777240"/>
          </a:xfrm>
          <a:prstGeom prst="roundRect">
            <a:avLst>
              <a:gd name="adj" fmla="val 10000"/>
            </a:avLst>
          </a:prstGeom>
          <a:solidFill>
            <a:srgbClr val="E0A45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023360" y="4919472"/>
            <a:ext cx="3200400" cy="320040"/>
          </a:xfrm>
          <a:prstGeom prst="rect">
            <a:avLst/>
          </a:prstGeom>
          <a:noFill/>
        </p:spPr>
        <p:txBody>
          <a:bodyPr wrap="square" lIns="0" rIns="0" tIns="0" bIns="0" anchor="t">
            <a:spAutoFit/>
          </a:bodyPr>
          <a:lstStyle/>
          <a:p>
            <a:pPr algn="l"/>
            <a:r>
              <a:rPr sz="1400" b="1" i="0">
                <a:solidFill>
                  <a:srgbClr val="FFFFFF"/>
                </a:solidFill>
                <a:latin typeface="Calibri"/>
              </a:rPr>
              <a:t>5  New block</a:t>
            </a:r>
          </a:p>
        </p:txBody>
      </p:sp>
      <p:sp>
        <p:nvSpPr>
          <p:cNvPr id="23" name="TextBox 22"/>
          <p:cNvSpPr txBox="1"/>
          <p:nvPr/>
        </p:nvSpPr>
        <p:spPr>
          <a:xfrm>
            <a:off x="4023360" y="5230368"/>
            <a:ext cx="3840480" cy="365760"/>
          </a:xfrm>
          <a:prstGeom prst="rect">
            <a:avLst/>
          </a:prstGeom>
          <a:noFill/>
        </p:spPr>
        <p:txBody>
          <a:bodyPr wrap="square" lIns="0" rIns="0" tIns="0" bIns="0" anchor="t">
            <a:spAutoFit/>
          </a:bodyPr>
          <a:lstStyle/>
          <a:p>
            <a:pPr algn="l"/>
            <a:r>
              <a:rPr sz="1100" b="0" i="0">
                <a:solidFill>
                  <a:srgbClr val="FFFFFF"/>
                </a:solidFill>
                <a:latin typeface="Calibri"/>
              </a:rPr>
              <a:t>written in arch2code with hand RTL inside generated regions</a:t>
            </a:r>
          </a:p>
        </p:txBody>
      </p:sp>
      <p:sp>
        <p:nvSpPr>
          <p:cNvPr id="24" name="TextBox 23"/>
          <p:cNvSpPr txBox="1"/>
          <p:nvPr/>
        </p:nvSpPr>
        <p:spPr>
          <a:xfrm>
            <a:off x="7955279" y="5074920"/>
            <a:ext cx="3474720" cy="365760"/>
          </a:xfrm>
          <a:prstGeom prst="rect">
            <a:avLst/>
          </a:prstGeom>
          <a:noFill/>
        </p:spPr>
        <p:txBody>
          <a:bodyPr wrap="square" lIns="0" rIns="0" tIns="0" bIns="0" anchor="t">
            <a:spAutoFit/>
          </a:bodyPr>
          <a:lstStyle/>
          <a:p>
            <a:pPr algn="r"/>
            <a:r>
              <a:rPr sz="1000" b="0" i="1">
                <a:solidFill>
                  <a:srgbClr val="FFFFFF"/>
                </a:solidFill>
                <a:latin typeface="Calibri"/>
              </a:rPr>
              <a:t>design-architecture, rtl skills</a:t>
            </a:r>
          </a:p>
        </p:txBody>
      </p:sp>
      <p:sp>
        <p:nvSpPr>
          <p:cNvPr id="25" name="card"/>
          <p:cNvSpPr/>
          <p:nvPr/>
        </p:nvSpPr>
        <p:spPr>
          <a:xfrm>
            <a:off x="548640" y="5760720"/>
            <a:ext cx="11064240" cy="54864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5852160"/>
            <a:ext cx="10607040" cy="365760"/>
          </a:xfrm>
          <a:prstGeom prst="rect">
            <a:avLst/>
          </a:prstGeom>
          <a:noFill/>
        </p:spPr>
        <p:txBody>
          <a:bodyPr wrap="square" lIns="0" rIns="0" tIns="0" bIns="0" anchor="t">
            <a:spAutoFit/>
          </a:bodyPr>
          <a:lstStyle/>
          <a:p>
            <a:pPr algn="l"/>
            <a:r>
              <a:rPr sz="1200" b="0" i="0">
                <a:solidFill>
                  <a:srgbClr val="1B2430"/>
                </a:solidFill>
                <a:latin typeface="Calibri"/>
              </a:rPr>
              <a:t>Rejected candidates are listed with the reason (interface mismatch, maturity below reviewed, licence, family); a draft entry is listed but never selected.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A worked trace: stage 3 of the pilot in eight tool calls</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15</a:t>
            </a:r>
          </a:p>
        </p:txBody>
      </p:sp>
      <p:cxnSp>
        <p:nvCxnSpPr>
          <p:cNvPr id="5" name="Connector 4"/>
          <p:cNvCxnSpPr/>
          <p:nvPr/>
        </p:nvCxnSpPr>
        <p:spPr>
          <a:xfrm>
            <a:off x="786384" y="1691640"/>
            <a:ext cx="0" cy="274320"/>
          </a:xfrm>
          <a:prstGeom prst="line">
            <a:avLst/>
          </a:prstGeom>
          <a:ln w="12700">
            <a:solidFill>
              <a:srgbClr val="6C8EA4"/>
            </a:solidFill>
          </a:ln>
        </p:spPr>
        <p:style>
          <a:lnRef idx="2">
            <a:schemeClr val="accent1"/>
          </a:lnRef>
          <a:fillRef idx="0">
            <a:schemeClr val="accent1"/>
          </a:fillRef>
          <a:effectRef idx="1">
            <a:schemeClr val="accent1"/>
          </a:effectRef>
          <a:fontRef idx="minor">
            <a:schemeClr val="tx1"/>
          </a:fontRef>
        </p:style>
      </p:cxnSp>
      <p:sp>
        <p:nvSpPr>
          <p:cNvPr id="6" name="icon"/>
          <p:cNvSpPr/>
          <p:nvPr/>
        </p:nvSpPr>
        <p:spPr>
          <a:xfrm>
            <a:off x="640080" y="1399032"/>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1344168"/>
            <a:ext cx="2194560" cy="365760"/>
          </a:xfrm>
          <a:prstGeom prst="rect">
            <a:avLst/>
          </a:prstGeom>
          <a:noFill/>
        </p:spPr>
        <p:txBody>
          <a:bodyPr wrap="square" lIns="0" rIns="0" tIns="0" bIns="0" anchor="t">
            <a:spAutoFit/>
          </a:bodyPr>
          <a:lstStyle/>
          <a:p>
            <a:pPr algn="l"/>
            <a:r>
              <a:rPr sz="1300" b="1" i="0">
                <a:solidFill>
                  <a:srgbClr val="1C7293"/>
                </a:solidFill>
                <a:latin typeface="Calibri"/>
              </a:rPr>
              <a:t>kb_get_entry</a:t>
            </a:r>
          </a:p>
        </p:txBody>
      </p:sp>
      <p:sp>
        <p:nvSpPr>
          <p:cNvPr id="8" name="TextBox 7"/>
          <p:cNvSpPr txBox="1"/>
          <p:nvPr/>
        </p:nvSpPr>
        <p:spPr>
          <a:xfrm>
            <a:off x="3291840" y="1371600"/>
            <a:ext cx="4572000" cy="457200"/>
          </a:xfrm>
          <a:prstGeom prst="rect">
            <a:avLst/>
          </a:prstGeom>
          <a:noFill/>
        </p:spPr>
        <p:txBody>
          <a:bodyPr wrap="square" lIns="0" rIns="0" tIns="0" bIns="0" anchor="t">
            <a:spAutoFit/>
          </a:bodyPr>
          <a:lstStyle/>
          <a:p>
            <a:pPr algn="l"/>
            <a:r>
              <a:rPr sz="1150" b="0" i="0">
                <a:solidFill>
                  <a:srgbClr val="1B2430"/>
                </a:solidFill>
                <a:latin typeface="Calibri"/>
              </a:rPr>
              <a:t>cpnx_gsrd: RISC-V RX, AXI4, LPDDR4, TSE MAC, APB fabric, dual-boot glue</a:t>
            </a:r>
          </a:p>
        </p:txBody>
      </p:sp>
      <p:cxnSp>
        <p:nvCxnSpPr>
          <p:cNvPr id="9" name="Connector 8"/>
          <p:cNvCxnSpPr/>
          <p:nvPr/>
        </p:nvCxnSpPr>
        <p:spPr>
          <a:xfrm>
            <a:off x="786384" y="2258568"/>
            <a:ext cx="0" cy="274319"/>
          </a:xfrm>
          <a:prstGeom prst="line">
            <a:avLst/>
          </a:prstGeom>
          <a:ln w="12700">
            <a:solidFill>
              <a:srgbClr val="6C8EA4"/>
            </a:solidFill>
          </a:ln>
        </p:spPr>
        <p:style>
          <a:lnRef idx="2">
            <a:schemeClr val="accent1"/>
          </a:lnRef>
          <a:fillRef idx="0">
            <a:schemeClr val="accent1"/>
          </a:fillRef>
          <a:effectRef idx="1">
            <a:schemeClr val="accent1"/>
          </a:effectRef>
          <a:fontRef idx="minor">
            <a:schemeClr val="tx1"/>
          </a:fontRef>
        </p:style>
      </p:cxnSp>
      <p:sp>
        <p:nvSpPr>
          <p:cNvPr id="10" name="icon"/>
          <p:cNvSpPr/>
          <p:nvPr/>
        </p:nvSpPr>
        <p:spPr>
          <a:xfrm>
            <a:off x="640080" y="1965960"/>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1911095"/>
            <a:ext cx="2194560" cy="365760"/>
          </a:xfrm>
          <a:prstGeom prst="rect">
            <a:avLst/>
          </a:prstGeom>
          <a:noFill/>
        </p:spPr>
        <p:txBody>
          <a:bodyPr wrap="square" lIns="0" rIns="0" tIns="0" bIns="0" anchor="t">
            <a:spAutoFit/>
          </a:bodyPr>
          <a:lstStyle/>
          <a:p>
            <a:pPr algn="l"/>
            <a:r>
              <a:rPr sz="1300" b="1" i="0">
                <a:solidFill>
                  <a:srgbClr val="1C7293"/>
                </a:solidFill>
                <a:latin typeface="Calibri"/>
              </a:rPr>
              <a:t>kb_get_hierarchy</a:t>
            </a:r>
          </a:p>
        </p:txBody>
      </p:sp>
      <p:sp>
        <p:nvSpPr>
          <p:cNvPr id="12" name="TextBox 11"/>
          <p:cNvSpPr txBox="1"/>
          <p:nvPr/>
        </p:nvSpPr>
        <p:spPr>
          <a:xfrm>
            <a:off x="3291840" y="1938527"/>
            <a:ext cx="4572000" cy="457200"/>
          </a:xfrm>
          <a:prstGeom prst="rect">
            <a:avLst/>
          </a:prstGeom>
          <a:noFill/>
        </p:spPr>
        <p:txBody>
          <a:bodyPr wrap="square" lIns="0" rIns="0" tIns="0" bIns="0" anchor="t">
            <a:spAutoFit/>
          </a:bodyPr>
          <a:lstStyle/>
          <a:p>
            <a:pPr algn="l"/>
            <a:r>
              <a:rPr sz="1150" b="0" i="0">
                <a:solidFill>
                  <a:srgbClr val="1B2430"/>
                </a:solidFill>
                <a:latin typeface="Calibri"/>
              </a:rPr>
              <a:t>axi4_to_apb_bridge_inst: the bridge the custom window hangs from</a:t>
            </a:r>
          </a:p>
        </p:txBody>
      </p:sp>
      <p:cxnSp>
        <p:nvCxnSpPr>
          <p:cNvPr id="13" name="Connector 12"/>
          <p:cNvCxnSpPr/>
          <p:nvPr/>
        </p:nvCxnSpPr>
        <p:spPr>
          <a:xfrm>
            <a:off x="786384" y="2825496"/>
            <a:ext cx="0" cy="274319"/>
          </a:xfrm>
          <a:prstGeom prst="line">
            <a:avLst/>
          </a:prstGeom>
          <a:ln w="12700">
            <a:solidFill>
              <a:srgbClr val="6C8EA4"/>
            </a:solidFill>
          </a:ln>
        </p:spPr>
        <p:style>
          <a:lnRef idx="2">
            <a:schemeClr val="accent1"/>
          </a:lnRef>
          <a:fillRef idx="0">
            <a:schemeClr val="accent1"/>
          </a:fillRef>
          <a:effectRef idx="1">
            <a:schemeClr val="accent1"/>
          </a:effectRef>
          <a:fontRef idx="minor">
            <a:schemeClr val="tx1"/>
          </a:fontRef>
        </p:style>
      </p:cxnSp>
      <p:sp>
        <p:nvSpPr>
          <p:cNvPr id="14" name="icon"/>
          <p:cNvSpPr/>
          <p:nvPr/>
        </p:nvSpPr>
        <p:spPr>
          <a:xfrm>
            <a:off x="640080" y="2532888"/>
            <a:ext cx="292608" cy="292608"/>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97280" y="2478024"/>
            <a:ext cx="2194560" cy="365760"/>
          </a:xfrm>
          <a:prstGeom prst="rect">
            <a:avLst/>
          </a:prstGeom>
          <a:noFill/>
        </p:spPr>
        <p:txBody>
          <a:bodyPr wrap="square" lIns="0" rIns="0" tIns="0" bIns="0" anchor="t">
            <a:spAutoFit/>
          </a:bodyPr>
          <a:lstStyle/>
          <a:p>
            <a:pPr algn="l"/>
            <a:r>
              <a:rPr sz="1300" b="1" i="0">
                <a:solidFill>
                  <a:srgbClr val="1C7293"/>
                </a:solidFill>
                <a:latin typeface="Calibri"/>
              </a:rPr>
              <a:t>kb_get_constraints</a:t>
            </a:r>
          </a:p>
        </p:txBody>
      </p:sp>
      <p:sp>
        <p:nvSpPr>
          <p:cNvPr id="16" name="TextBox 15"/>
          <p:cNvSpPr txBox="1"/>
          <p:nvPr/>
        </p:nvSpPr>
        <p:spPr>
          <a:xfrm>
            <a:off x="3291840" y="2505456"/>
            <a:ext cx="4572000" cy="457200"/>
          </a:xfrm>
          <a:prstGeom prst="rect">
            <a:avLst/>
          </a:prstGeom>
          <a:noFill/>
        </p:spPr>
        <p:txBody>
          <a:bodyPr wrap="square" lIns="0" rIns="0" tIns="0" bIns="0" anchor="t">
            <a:spAutoFit/>
          </a:bodyPr>
          <a:lstStyle/>
          <a:p>
            <a:pPr algn="l"/>
            <a:r>
              <a:rPr sz="1150" b="0" i="0">
                <a:solidFill>
                  <a:srgbClr val="1B2430"/>
                </a:solidFill>
                <a:latin typeface="Calibri"/>
              </a:rPr>
              <a:t>axi_clk, cpu_clk, lpddr4 clocks from the PLL; periods not captured</a:t>
            </a:r>
          </a:p>
        </p:txBody>
      </p:sp>
      <p:cxnSp>
        <p:nvCxnSpPr>
          <p:cNvPr id="17" name="Connector 16"/>
          <p:cNvCxnSpPr/>
          <p:nvPr/>
        </p:nvCxnSpPr>
        <p:spPr>
          <a:xfrm>
            <a:off x="786384" y="3392423"/>
            <a:ext cx="0" cy="274321"/>
          </a:xfrm>
          <a:prstGeom prst="line">
            <a:avLst/>
          </a:prstGeom>
          <a:ln w="12700">
            <a:solidFill>
              <a:srgbClr val="6C8EA4"/>
            </a:solidFill>
          </a:ln>
        </p:spPr>
        <p:style>
          <a:lnRef idx="2">
            <a:schemeClr val="accent1"/>
          </a:lnRef>
          <a:fillRef idx="0">
            <a:schemeClr val="accent1"/>
          </a:fillRef>
          <a:effectRef idx="1">
            <a:schemeClr val="accent1"/>
          </a:effectRef>
          <a:fontRef idx="minor">
            <a:schemeClr val="tx1"/>
          </a:fontRef>
        </p:style>
      </p:cxnSp>
      <p:sp>
        <p:nvSpPr>
          <p:cNvPr id="18" name="icon"/>
          <p:cNvSpPr/>
          <p:nvPr/>
        </p:nvSpPr>
        <p:spPr>
          <a:xfrm>
            <a:off x="640080" y="3099815"/>
            <a:ext cx="292608" cy="292608"/>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97280" y="3044951"/>
            <a:ext cx="2194560" cy="365760"/>
          </a:xfrm>
          <a:prstGeom prst="rect">
            <a:avLst/>
          </a:prstGeom>
          <a:noFill/>
        </p:spPr>
        <p:txBody>
          <a:bodyPr wrap="square" lIns="0" rIns="0" tIns="0" bIns="0" anchor="t">
            <a:spAutoFit/>
          </a:bodyPr>
          <a:lstStyle/>
          <a:p>
            <a:pPr algn="l"/>
            <a:r>
              <a:rPr sz="1300" b="1" i="0">
                <a:solidFill>
                  <a:srgbClr val="1C7293"/>
                </a:solidFill>
                <a:latin typeface="Calibri"/>
              </a:rPr>
              <a:t>kb_get_flow</a:t>
            </a:r>
          </a:p>
        </p:txBody>
      </p:sp>
      <p:sp>
        <p:nvSpPr>
          <p:cNvPr id="20" name="TextBox 19"/>
          <p:cNvSpPr txBox="1"/>
          <p:nvPr/>
        </p:nvSpPr>
        <p:spPr>
          <a:xfrm>
            <a:off x="3291840" y="3072383"/>
            <a:ext cx="4572000" cy="457200"/>
          </a:xfrm>
          <a:prstGeom prst="rect">
            <a:avLst/>
          </a:prstGeom>
          <a:noFill/>
        </p:spPr>
        <p:txBody>
          <a:bodyPr wrap="square" lIns="0" rIns="0" tIns="0" bIns="0" anchor="t">
            <a:spAutoFit/>
          </a:bodyPr>
          <a:lstStyle/>
          <a:p>
            <a:pPr algn="l"/>
            <a:r>
              <a:rPr sz="1150" b="0" i="0">
                <a:solidFill>
                  <a:srgbClr val="1B2430"/>
                </a:solidFill>
                <a:latin typeface="Calibri"/>
              </a:rPr>
              <a:t>LUT 35 465, FF 26 091, EBR 80, DSP 4; no timing baseline</a:t>
            </a:r>
          </a:p>
        </p:txBody>
      </p:sp>
      <p:cxnSp>
        <p:nvCxnSpPr>
          <p:cNvPr id="21" name="Connector 20"/>
          <p:cNvCxnSpPr/>
          <p:nvPr/>
        </p:nvCxnSpPr>
        <p:spPr>
          <a:xfrm>
            <a:off x="786384" y="3959352"/>
            <a:ext cx="0" cy="274320"/>
          </a:xfrm>
          <a:prstGeom prst="line">
            <a:avLst/>
          </a:prstGeom>
          <a:ln w="12700">
            <a:solidFill>
              <a:srgbClr val="6C8EA4"/>
            </a:solidFill>
          </a:ln>
        </p:spPr>
        <p:style>
          <a:lnRef idx="2">
            <a:schemeClr val="accent1"/>
          </a:lnRef>
          <a:fillRef idx="0">
            <a:schemeClr val="accent1"/>
          </a:fillRef>
          <a:effectRef idx="1">
            <a:schemeClr val="accent1"/>
          </a:effectRef>
          <a:fontRef idx="minor">
            <a:schemeClr val="tx1"/>
          </a:fontRef>
        </p:style>
      </p:cxnSp>
      <p:sp>
        <p:nvSpPr>
          <p:cNvPr id="22" name="icon"/>
          <p:cNvSpPr/>
          <p:nvPr/>
        </p:nvSpPr>
        <p:spPr>
          <a:xfrm>
            <a:off x="640080" y="3666744"/>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97280" y="3611879"/>
            <a:ext cx="2194560" cy="365760"/>
          </a:xfrm>
          <a:prstGeom prst="rect">
            <a:avLst/>
          </a:prstGeom>
          <a:noFill/>
        </p:spPr>
        <p:txBody>
          <a:bodyPr wrap="square" lIns="0" rIns="0" tIns="0" bIns="0" anchor="t">
            <a:spAutoFit/>
          </a:bodyPr>
          <a:lstStyle/>
          <a:p>
            <a:pPr algn="l"/>
            <a:r>
              <a:rPr sz="1300" b="1" i="0">
                <a:solidFill>
                  <a:srgbClr val="1C7293"/>
                </a:solidFill>
                <a:latin typeface="Calibri"/>
              </a:rPr>
              <a:t>kb_get_registers</a:t>
            </a:r>
          </a:p>
        </p:txBody>
      </p:sp>
      <p:sp>
        <p:nvSpPr>
          <p:cNvPr id="24" name="TextBox 23"/>
          <p:cNvSpPr txBox="1"/>
          <p:nvPr/>
        </p:nvSpPr>
        <p:spPr>
          <a:xfrm>
            <a:off x="3291840" y="3639311"/>
            <a:ext cx="4572000" cy="457200"/>
          </a:xfrm>
          <a:prstGeom prst="rect">
            <a:avLst/>
          </a:prstGeom>
          <a:noFill/>
        </p:spPr>
        <p:txBody>
          <a:bodyPr wrap="square" lIns="0" rIns="0" tIns="0" bIns="0" anchor="t">
            <a:spAutoFit/>
          </a:bodyPr>
          <a:lstStyle/>
          <a:p>
            <a:pPr algn="l"/>
            <a:r>
              <a:rPr sz="1150" b="0" i="0">
                <a:solidFill>
                  <a:srgbClr val="1B2430"/>
                </a:solidFill>
                <a:latin typeface="Calibri"/>
              </a:rPr>
              <a:t>190 registers in 5 blocks; system_gpio is the evidence source for the GPIO registers</a:t>
            </a:r>
          </a:p>
        </p:txBody>
      </p:sp>
      <p:cxnSp>
        <p:nvCxnSpPr>
          <p:cNvPr id="25" name="Connector 24"/>
          <p:cNvCxnSpPr/>
          <p:nvPr/>
        </p:nvCxnSpPr>
        <p:spPr>
          <a:xfrm>
            <a:off x="786384" y="4526280"/>
            <a:ext cx="0" cy="274320"/>
          </a:xfrm>
          <a:prstGeom prst="line">
            <a:avLst/>
          </a:prstGeom>
          <a:ln w="12700">
            <a:solidFill>
              <a:srgbClr val="6C8EA4"/>
            </a:solidFill>
          </a:ln>
        </p:spPr>
        <p:style>
          <a:lnRef idx="2">
            <a:schemeClr val="accent1"/>
          </a:lnRef>
          <a:fillRef idx="0">
            <a:schemeClr val="accent1"/>
          </a:fillRef>
          <a:effectRef idx="1">
            <a:schemeClr val="accent1"/>
          </a:effectRef>
          <a:fontRef idx="minor">
            <a:schemeClr val="tx1"/>
          </a:fontRef>
        </p:style>
      </p:cxnSp>
      <p:sp>
        <p:nvSpPr>
          <p:cNvPr id="26" name="icon"/>
          <p:cNvSpPr/>
          <p:nvPr/>
        </p:nvSpPr>
        <p:spPr>
          <a:xfrm>
            <a:off x="640080" y="4233672"/>
            <a:ext cx="292608" cy="292608"/>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97280" y="4178807"/>
            <a:ext cx="2194560" cy="365760"/>
          </a:xfrm>
          <a:prstGeom prst="rect">
            <a:avLst/>
          </a:prstGeom>
          <a:noFill/>
        </p:spPr>
        <p:txBody>
          <a:bodyPr wrap="square" lIns="0" rIns="0" tIns="0" bIns="0" anchor="t">
            <a:spAutoFit/>
          </a:bodyPr>
          <a:lstStyle/>
          <a:p>
            <a:pPr algn="l"/>
            <a:r>
              <a:rPr sz="1300" b="1" i="0">
                <a:solidFill>
                  <a:srgbClr val="1C7293"/>
                </a:solidFill>
                <a:latin typeface="Calibri"/>
              </a:rPr>
              <a:t>kb_get_entry (board)</a:t>
            </a:r>
          </a:p>
        </p:txBody>
      </p:sp>
      <p:sp>
        <p:nvSpPr>
          <p:cNvPr id="28" name="TextBox 27"/>
          <p:cNvSpPr txBox="1"/>
          <p:nvPr/>
        </p:nvSpPr>
        <p:spPr>
          <a:xfrm>
            <a:off x="3291840" y="4206240"/>
            <a:ext cx="4572000" cy="457200"/>
          </a:xfrm>
          <a:prstGeom prst="rect">
            <a:avLst/>
          </a:prstGeom>
          <a:noFill/>
        </p:spPr>
        <p:txBody>
          <a:bodyPr wrap="square" lIns="0" rIns="0" tIns="0" bIns="0" anchor="t">
            <a:spAutoFit/>
          </a:bodyPr>
          <a:lstStyle/>
          <a:p>
            <a:pPr algn="l"/>
            <a:r>
              <a:rPr sz="1150" b="0" i="0">
                <a:solidFill>
                  <a:srgbClr val="1B2430"/>
                </a:solidFill>
                <a:latin typeface="Calibri"/>
              </a:rPr>
              <a:t>pin map, clocks, bank voltages; no JTAG or programming facts</a:t>
            </a:r>
          </a:p>
        </p:txBody>
      </p:sp>
      <p:cxnSp>
        <p:nvCxnSpPr>
          <p:cNvPr id="29" name="Connector 28"/>
          <p:cNvCxnSpPr/>
          <p:nvPr/>
        </p:nvCxnSpPr>
        <p:spPr>
          <a:xfrm>
            <a:off x="786384" y="5093208"/>
            <a:ext cx="0" cy="274320"/>
          </a:xfrm>
          <a:prstGeom prst="line">
            <a:avLst/>
          </a:prstGeom>
          <a:ln w="12700">
            <a:solidFill>
              <a:srgbClr val="6C8EA4"/>
            </a:solidFill>
          </a:ln>
        </p:spPr>
        <p:style>
          <a:lnRef idx="2">
            <a:schemeClr val="accent1"/>
          </a:lnRef>
          <a:fillRef idx="0">
            <a:schemeClr val="accent1"/>
          </a:fillRef>
          <a:effectRef idx="1">
            <a:schemeClr val="accent1"/>
          </a:effectRef>
          <a:fontRef idx="minor">
            <a:schemeClr val="tx1"/>
          </a:fontRef>
        </p:style>
      </p:cxnSp>
      <p:sp>
        <p:nvSpPr>
          <p:cNvPr id="30" name="icon"/>
          <p:cNvSpPr/>
          <p:nvPr/>
        </p:nvSpPr>
        <p:spPr>
          <a:xfrm>
            <a:off x="640080" y="4800600"/>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 y="4745736"/>
            <a:ext cx="2194560" cy="365760"/>
          </a:xfrm>
          <a:prstGeom prst="rect">
            <a:avLst/>
          </a:prstGeom>
          <a:noFill/>
        </p:spPr>
        <p:txBody>
          <a:bodyPr wrap="square" lIns="0" rIns="0" tIns="0" bIns="0" anchor="t">
            <a:spAutoFit/>
          </a:bodyPr>
          <a:lstStyle/>
          <a:p>
            <a:pPr algn="l"/>
            <a:r>
              <a:rPr sz="1300" b="1" i="0">
                <a:solidFill>
                  <a:srgbClr val="1C7293"/>
                </a:solidFill>
                <a:latin typeface="Calibri"/>
              </a:rPr>
              <a:t>kb_find_ips</a:t>
            </a:r>
          </a:p>
        </p:txBody>
      </p:sp>
      <p:sp>
        <p:nvSpPr>
          <p:cNvPr id="32" name="TextBox 31"/>
          <p:cNvSpPr txBox="1"/>
          <p:nvPr/>
        </p:nvSpPr>
        <p:spPr>
          <a:xfrm>
            <a:off x="3291840" y="4773168"/>
            <a:ext cx="4572000" cy="457200"/>
          </a:xfrm>
          <a:prstGeom prst="rect">
            <a:avLst/>
          </a:prstGeom>
          <a:noFill/>
        </p:spPr>
        <p:txBody>
          <a:bodyPr wrap="square" lIns="0" rIns="0" tIns="0" bIns="0" anchor="t">
            <a:spAutoFit/>
          </a:bodyPr>
          <a:lstStyle/>
          <a:p>
            <a:pPr algn="l"/>
            <a:r>
              <a:rPr sz="1150" b="0" i="0">
                <a:solidFill>
                  <a:srgbClr val="1B2430"/>
                </a:solidFill>
                <a:latin typeface="Calibri"/>
              </a:rPr>
              <a:t>gpio 1.8.1 and gp_timer 1.5.0 selected as register-layout references, not instantiated</a:t>
            </a:r>
          </a:p>
        </p:txBody>
      </p:sp>
      <p:sp>
        <p:nvSpPr>
          <p:cNvPr id="33" name="icon"/>
          <p:cNvSpPr/>
          <p:nvPr/>
        </p:nvSpPr>
        <p:spPr>
          <a:xfrm>
            <a:off x="640080" y="5367528"/>
            <a:ext cx="292608" cy="292608"/>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97280" y="5312664"/>
            <a:ext cx="2194560" cy="365760"/>
          </a:xfrm>
          <a:prstGeom prst="rect">
            <a:avLst/>
          </a:prstGeom>
          <a:noFill/>
        </p:spPr>
        <p:txBody>
          <a:bodyPr wrap="square" lIns="0" rIns="0" tIns="0" bIns="0" anchor="t">
            <a:spAutoFit/>
          </a:bodyPr>
          <a:lstStyle/>
          <a:p>
            <a:pPr algn="l"/>
            <a:r>
              <a:rPr sz="1300" b="1" i="0">
                <a:solidFill>
                  <a:srgbClr val="1C7293"/>
                </a:solidFill>
                <a:latin typeface="Calibri"/>
              </a:rPr>
              <a:t>kb_find_skills</a:t>
            </a:r>
          </a:p>
        </p:txBody>
      </p:sp>
      <p:sp>
        <p:nvSpPr>
          <p:cNvPr id="35" name="TextBox 34"/>
          <p:cNvSpPr txBox="1"/>
          <p:nvPr/>
        </p:nvSpPr>
        <p:spPr>
          <a:xfrm>
            <a:off x="3291840" y="5340096"/>
            <a:ext cx="4572000" cy="457200"/>
          </a:xfrm>
          <a:prstGeom prst="rect">
            <a:avLst/>
          </a:prstGeom>
          <a:noFill/>
        </p:spPr>
        <p:txBody>
          <a:bodyPr wrap="square" lIns="0" rIns="0" tIns="0" bIns="0" anchor="t">
            <a:spAutoFit/>
          </a:bodyPr>
          <a:lstStyle/>
          <a:p>
            <a:pPr algn="l"/>
            <a:r>
              <a:rPr sz="1150" b="0" i="0">
                <a:solidFill>
                  <a:srgbClr val="1B2430"/>
                </a:solidFill>
                <a:latin typeface="Calibri"/>
              </a:rPr>
              <a:t>no recorded procedure yet for registers, APB, timers</a:t>
            </a:r>
          </a:p>
        </p:txBody>
      </p:sp>
      <p:sp>
        <p:nvSpPr>
          <p:cNvPr id="36" name="card"/>
          <p:cNvSpPr/>
          <p:nvPr/>
        </p:nvSpPr>
        <p:spPr>
          <a:xfrm>
            <a:off x="8229600" y="1325880"/>
            <a:ext cx="3383280" cy="210312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12480" y="1417320"/>
            <a:ext cx="3017520" cy="320040"/>
          </a:xfrm>
          <a:prstGeom prst="rect">
            <a:avLst/>
          </a:prstGeom>
          <a:noFill/>
        </p:spPr>
        <p:txBody>
          <a:bodyPr wrap="square" lIns="0" rIns="0" tIns="0" bIns="0" anchor="t">
            <a:spAutoFit/>
          </a:bodyPr>
          <a:lstStyle/>
          <a:p>
            <a:pPr algn="l"/>
            <a:r>
              <a:rPr sz="1400" b="1" i="0">
                <a:solidFill>
                  <a:srgbClr val="02C39A"/>
                </a:solidFill>
                <a:latin typeface="Calibri"/>
              </a:rPr>
              <a:t>Found</a:t>
            </a:r>
          </a:p>
        </p:txBody>
      </p:sp>
      <p:sp>
        <p:nvSpPr>
          <p:cNvPr id="38" name="TextBox 37"/>
          <p:cNvSpPr txBox="1"/>
          <p:nvPr/>
        </p:nvSpPr>
        <p:spPr>
          <a:xfrm>
            <a:off x="8412480" y="1783080"/>
            <a:ext cx="3017520" cy="1554480"/>
          </a:xfrm>
          <a:prstGeom prst="rect">
            <a:avLst/>
          </a:prstGeom>
          <a:noFill/>
        </p:spPr>
        <p:txBody>
          <a:bodyPr wrap="square" lIns="0" rIns="0" tIns="0" bIns="0">
            <a:spAutoFit/>
          </a:bodyPr>
          <a:lstStyle/>
          <a:p>
            <a:pPr marL="201168" indent="-201168">
              <a:spcAft>
                <a:spcPts val="400"/>
              </a:spcAft>
              <a:buChar char="•"/>
            </a:pPr>
            <a:r>
              <a:rPr sz="1150">
                <a:solidFill>
                  <a:srgbClr val="1B2430"/>
                </a:solidFill>
                <a:latin typeface="Calibri"/>
              </a:rPr>
              <a:t>Donor topology and the bridge to hang the window from</a:t>
            </a:r>
          </a:p>
          <a:p>
            <a:pPr marL="201168" indent="-201168">
              <a:spcAft>
                <a:spcPts val="400"/>
              </a:spcAft>
              <a:buChar char="•"/>
            </a:pPr>
            <a:r>
              <a:rPr sz="1150">
                <a:solidFill>
                  <a:srgbClr val="1B2430"/>
                </a:solidFill>
                <a:latin typeface="Calibri"/>
              </a:rPr>
              <a:t>Resource baseline for the resource ratio</a:t>
            </a:r>
          </a:p>
          <a:p>
            <a:pPr marL="201168" indent="-201168">
              <a:spcAft>
                <a:spcPts val="400"/>
              </a:spcAft>
              <a:buChar char="•"/>
            </a:pPr>
            <a:r>
              <a:rPr sz="1150">
                <a:solidFill>
                  <a:srgbClr val="1B2430"/>
                </a:solidFill>
                <a:latin typeface="Calibri"/>
              </a:rPr>
              <a:t>Register layouts to cite as evidence</a:t>
            </a:r>
          </a:p>
        </p:txBody>
      </p:sp>
      <p:sp>
        <p:nvSpPr>
          <p:cNvPr id="39" name="card"/>
          <p:cNvSpPr/>
          <p:nvPr/>
        </p:nvSpPr>
        <p:spPr>
          <a:xfrm>
            <a:off x="8229600" y="3611880"/>
            <a:ext cx="3383280" cy="22402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412480" y="3703320"/>
            <a:ext cx="3017520" cy="320040"/>
          </a:xfrm>
          <a:prstGeom prst="rect">
            <a:avLst/>
          </a:prstGeom>
          <a:noFill/>
        </p:spPr>
        <p:txBody>
          <a:bodyPr wrap="square" lIns="0" rIns="0" tIns="0" bIns="0" anchor="t">
            <a:spAutoFit/>
          </a:bodyPr>
          <a:lstStyle/>
          <a:p>
            <a:pPr algn="l"/>
            <a:r>
              <a:rPr sz="1400" b="1" i="0">
                <a:solidFill>
                  <a:srgbClr val="D9534F"/>
                </a:solidFill>
                <a:latin typeface="Calibri"/>
              </a:rPr>
              <a:t>Gaps logged for the engineer</a:t>
            </a:r>
          </a:p>
        </p:txBody>
      </p:sp>
      <p:sp>
        <p:nvSpPr>
          <p:cNvPr id="41" name="TextBox 40"/>
          <p:cNvSpPr txBox="1"/>
          <p:nvPr/>
        </p:nvSpPr>
        <p:spPr>
          <a:xfrm>
            <a:off x="8412480" y="4069080"/>
            <a:ext cx="3017520" cy="1737360"/>
          </a:xfrm>
          <a:prstGeom prst="rect">
            <a:avLst/>
          </a:prstGeom>
          <a:noFill/>
        </p:spPr>
        <p:txBody>
          <a:bodyPr wrap="square" lIns="0" rIns="0" tIns="0" bIns="0">
            <a:spAutoFit/>
          </a:bodyPr>
          <a:lstStyle/>
          <a:p>
            <a:pPr marL="201168" indent="-201168">
              <a:spcAft>
                <a:spcPts val="400"/>
              </a:spcAft>
              <a:buChar char="•"/>
            </a:pPr>
            <a:r>
              <a:rPr sz="1150">
                <a:solidFill>
                  <a:srgbClr val="1B2430"/>
                </a:solidFill>
                <a:latin typeface="Calibri"/>
              </a:rPr>
              <a:t>Clock periods (read from the PLL configuration at stage 4)</a:t>
            </a:r>
          </a:p>
          <a:p>
            <a:pPr marL="201168" indent="-201168">
              <a:spcAft>
                <a:spcPts val="400"/>
              </a:spcAft>
              <a:buChar char="•"/>
            </a:pPr>
            <a:r>
              <a:rPr sz="1150">
                <a:solidFill>
                  <a:srgbClr val="1B2430"/>
                </a:solidFill>
                <a:latin typeface="Calibri"/>
              </a:rPr>
              <a:t>Timing baseline Fmax</a:t>
            </a:r>
          </a:p>
          <a:p>
            <a:pPr marL="201168" indent="-201168">
              <a:spcAft>
                <a:spcPts val="400"/>
              </a:spcAft>
              <a:buChar char="•"/>
            </a:pPr>
            <a:r>
              <a:rPr sz="1150">
                <a:solidFill>
                  <a:srgbClr val="1B2430"/>
                </a:solidFill>
                <a:latin typeface="Calibri"/>
              </a:rPr>
              <a:t>JTAG chain and cable of the evaluation board</a:t>
            </a:r>
          </a:p>
          <a:p>
            <a:pPr marL="201168" indent="-201168">
              <a:spcAft>
                <a:spcPts val="400"/>
              </a:spcAft>
              <a:buChar char="•"/>
            </a:pPr>
            <a:r>
              <a:rPr sz="1150">
                <a:solidFill>
                  <a:srgbClr val="1B2430"/>
                </a:solidFill>
                <a:latin typeface="Calibri"/>
              </a:rPr>
              <a:t>Seven donor cores not installed locally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Skills: a procedure recorded once, installed everywhere</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16</a:t>
            </a:r>
          </a:p>
        </p:txBody>
      </p:sp>
      <p:sp>
        <p:nvSpPr>
          <p:cNvPr id="5" name="card"/>
          <p:cNvSpPr/>
          <p:nvPr/>
        </p:nvSpPr>
        <p:spPr>
          <a:xfrm>
            <a:off x="548640" y="1463040"/>
            <a:ext cx="2651760" cy="23774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p:cNvSpPr/>
          <p:nvPr/>
        </p:nvSpPr>
        <p:spPr>
          <a:xfrm>
            <a:off x="1554480" y="1645920"/>
            <a:ext cx="640080" cy="64008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latin typeface="Cambria"/>
              </a:rPr>
              <a:t>1</a:t>
            </a:r>
          </a:p>
        </p:txBody>
      </p:sp>
      <p:sp>
        <p:nvSpPr>
          <p:cNvPr id="7" name="TextBox 6"/>
          <p:cNvSpPr txBox="1"/>
          <p:nvPr/>
        </p:nvSpPr>
        <p:spPr>
          <a:xfrm>
            <a:off x="731520" y="2423160"/>
            <a:ext cx="2286000" cy="365760"/>
          </a:xfrm>
          <a:prstGeom prst="rect">
            <a:avLst/>
          </a:prstGeom>
          <a:noFill/>
        </p:spPr>
        <p:txBody>
          <a:bodyPr wrap="square" lIns="0" rIns="0" tIns="0" bIns="0" anchor="t">
            <a:spAutoFit/>
          </a:bodyPr>
          <a:lstStyle/>
          <a:p>
            <a:pPr algn="ctr"/>
            <a:r>
              <a:rPr sz="1600" b="1" i="0">
                <a:solidFill>
                  <a:srgbClr val="1B2430"/>
                </a:solidFill>
                <a:latin typeface="Calibri"/>
              </a:rPr>
              <a:t>Record</a:t>
            </a:r>
          </a:p>
        </p:txBody>
      </p:sp>
      <p:sp>
        <p:nvSpPr>
          <p:cNvPr id="8" name="TextBox 7"/>
          <p:cNvSpPr txBox="1"/>
          <p:nvPr/>
        </p:nvSpPr>
        <p:spPr>
          <a:xfrm>
            <a:off x="731520" y="2788920"/>
            <a:ext cx="2286000" cy="1005840"/>
          </a:xfrm>
          <a:prstGeom prst="rect">
            <a:avLst/>
          </a:prstGeom>
          <a:noFill/>
        </p:spPr>
        <p:txBody>
          <a:bodyPr wrap="square" lIns="0" rIns="0" tIns="0" bIns="0" anchor="t">
            <a:spAutoFit/>
          </a:bodyPr>
          <a:lstStyle/>
          <a:p>
            <a:pPr algn="ctr"/>
            <a:r>
              <a:rPr sz="1100" b="0" i="0">
                <a:solidFill>
                  <a:srgbClr val="1B2430"/>
                </a:solidFill>
                <a:latin typeface="Calibri"/>
              </a:rPr>
              <a:t>the engineer writes the procedure in the session (kb_author_write_skill) or by hand in the design folder</a:t>
            </a:r>
          </a:p>
        </p:txBody>
      </p:sp>
      <p:cxnSp>
        <p:nvCxnSpPr>
          <p:cNvPr id="9" name="Connector 8"/>
          <p:cNvCxnSpPr/>
          <p:nvPr/>
        </p:nvCxnSpPr>
        <p:spPr>
          <a:xfrm>
            <a:off x="3218688" y="2651760"/>
            <a:ext cx="146304"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card"/>
          <p:cNvSpPr/>
          <p:nvPr/>
        </p:nvSpPr>
        <p:spPr>
          <a:xfrm>
            <a:off x="3383280" y="1463040"/>
            <a:ext cx="2651760" cy="23774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con"/>
          <p:cNvSpPr/>
          <p:nvPr/>
        </p:nvSpPr>
        <p:spPr>
          <a:xfrm>
            <a:off x="4389120" y="1645920"/>
            <a:ext cx="640080" cy="6400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latin typeface="Cambria"/>
              </a:rPr>
              <a:t>2</a:t>
            </a:r>
          </a:p>
        </p:txBody>
      </p:sp>
      <p:sp>
        <p:nvSpPr>
          <p:cNvPr id="12" name="TextBox 11"/>
          <p:cNvSpPr txBox="1"/>
          <p:nvPr/>
        </p:nvSpPr>
        <p:spPr>
          <a:xfrm>
            <a:off x="3566160" y="2423160"/>
            <a:ext cx="2286000" cy="365760"/>
          </a:xfrm>
          <a:prstGeom prst="rect">
            <a:avLst/>
          </a:prstGeom>
          <a:noFill/>
        </p:spPr>
        <p:txBody>
          <a:bodyPr wrap="square" lIns="0" rIns="0" tIns="0" bIns="0" anchor="t">
            <a:spAutoFit/>
          </a:bodyPr>
          <a:lstStyle/>
          <a:p>
            <a:pPr algn="ctr"/>
            <a:r>
              <a:rPr sz="1600" b="1" i="0">
                <a:solidFill>
                  <a:srgbClr val="1B2430"/>
                </a:solidFill>
                <a:latin typeface="Calibri"/>
              </a:rPr>
              <a:t>Review</a:t>
            </a:r>
          </a:p>
        </p:txBody>
      </p:sp>
      <p:sp>
        <p:nvSpPr>
          <p:cNvPr id="13" name="TextBox 12"/>
          <p:cNvSpPr txBox="1"/>
          <p:nvPr/>
        </p:nvSpPr>
        <p:spPr>
          <a:xfrm>
            <a:off x="3566160" y="2788920"/>
            <a:ext cx="2286000" cy="1005840"/>
          </a:xfrm>
          <a:prstGeom prst="rect">
            <a:avLst/>
          </a:prstGeom>
          <a:noFill/>
        </p:spPr>
        <p:txBody>
          <a:bodyPr wrap="square" lIns="0" rIns="0" tIns="0" bIns="0" anchor="t">
            <a:spAutoFit/>
          </a:bodyPr>
          <a:lstStyle/>
          <a:p>
            <a:pPr algn="ctr"/>
            <a:r>
              <a:rPr sz="1100" b="0" i="0">
                <a:solidFill>
                  <a:srgbClr val="1B2430"/>
                </a:solidFill>
                <a:latin typeface="Calibri"/>
              </a:rPr>
              <a:t>a reviewer marks it reviewed with the review date; drafts are listed but not installed</a:t>
            </a:r>
          </a:p>
        </p:txBody>
      </p:sp>
      <p:cxnSp>
        <p:nvCxnSpPr>
          <p:cNvPr id="14" name="Connector 13"/>
          <p:cNvCxnSpPr/>
          <p:nvPr/>
        </p:nvCxnSpPr>
        <p:spPr>
          <a:xfrm>
            <a:off x="6053328" y="2651760"/>
            <a:ext cx="146304"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card"/>
          <p:cNvSpPr/>
          <p:nvPr/>
        </p:nvSpPr>
        <p:spPr>
          <a:xfrm>
            <a:off x="6217920" y="1463040"/>
            <a:ext cx="2651760" cy="23774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
          <p:cNvSpPr/>
          <p:nvPr/>
        </p:nvSpPr>
        <p:spPr>
          <a:xfrm>
            <a:off x="7223760" y="1645920"/>
            <a:ext cx="640080" cy="6400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latin typeface="Cambria"/>
              </a:rPr>
              <a:t>3</a:t>
            </a:r>
          </a:p>
        </p:txBody>
      </p:sp>
      <p:sp>
        <p:nvSpPr>
          <p:cNvPr id="17" name="TextBox 16"/>
          <p:cNvSpPr txBox="1"/>
          <p:nvPr/>
        </p:nvSpPr>
        <p:spPr>
          <a:xfrm>
            <a:off x="6400800" y="2423160"/>
            <a:ext cx="2286000" cy="365760"/>
          </a:xfrm>
          <a:prstGeom prst="rect">
            <a:avLst/>
          </a:prstGeom>
          <a:noFill/>
        </p:spPr>
        <p:txBody>
          <a:bodyPr wrap="square" lIns="0" rIns="0" tIns="0" bIns="0" anchor="t">
            <a:spAutoFit/>
          </a:bodyPr>
          <a:lstStyle/>
          <a:p>
            <a:pPr algn="ctr"/>
            <a:r>
              <a:rPr sz="1600" b="1" i="0">
                <a:solidFill>
                  <a:srgbClr val="1B2430"/>
                </a:solidFill>
                <a:latin typeface="Calibri"/>
              </a:rPr>
              <a:t>Install</a:t>
            </a:r>
          </a:p>
        </p:txBody>
      </p:sp>
      <p:sp>
        <p:nvSpPr>
          <p:cNvPr id="18" name="TextBox 17"/>
          <p:cNvSpPr txBox="1"/>
          <p:nvPr/>
        </p:nvSpPr>
        <p:spPr>
          <a:xfrm>
            <a:off x="6400800" y="2788920"/>
            <a:ext cx="2286000" cy="1005840"/>
          </a:xfrm>
          <a:prstGeom prst="rect">
            <a:avLst/>
          </a:prstGeom>
          <a:noFill/>
        </p:spPr>
        <p:txBody>
          <a:bodyPr wrap="square" lIns="0" rIns="0" tIns="0" bIns="0" anchor="t">
            <a:spAutoFit/>
          </a:bodyPr>
          <a:lstStyle/>
          <a:p>
            <a:pPr algn="ctr"/>
            <a:r>
              <a:rPr sz="1100" b="0" i="0">
                <a:solidFill>
                  <a:srgbClr val="1B2430"/>
                </a:solidFill>
                <a:latin typeface="Calibri"/>
              </a:rPr>
              <a:t>the bundle installer offers all, a selection or none; kb-skills manages them later</a:t>
            </a:r>
          </a:p>
        </p:txBody>
      </p:sp>
      <p:cxnSp>
        <p:nvCxnSpPr>
          <p:cNvPr id="19" name="Connector 18"/>
          <p:cNvCxnSpPr/>
          <p:nvPr/>
        </p:nvCxnSpPr>
        <p:spPr>
          <a:xfrm>
            <a:off x="8887967" y="2651760"/>
            <a:ext cx="146305"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card"/>
          <p:cNvSpPr/>
          <p:nvPr/>
        </p:nvSpPr>
        <p:spPr>
          <a:xfrm>
            <a:off x="9052560" y="1463040"/>
            <a:ext cx="2651760" cy="237744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con"/>
          <p:cNvSpPr/>
          <p:nvPr/>
        </p:nvSpPr>
        <p:spPr>
          <a:xfrm>
            <a:off x="10058400" y="1645920"/>
            <a:ext cx="640080" cy="64008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latin typeface="Cambria"/>
              </a:rPr>
              <a:t>4</a:t>
            </a:r>
          </a:p>
        </p:txBody>
      </p:sp>
      <p:sp>
        <p:nvSpPr>
          <p:cNvPr id="22" name="TextBox 21"/>
          <p:cNvSpPr txBox="1"/>
          <p:nvPr/>
        </p:nvSpPr>
        <p:spPr>
          <a:xfrm>
            <a:off x="9235440" y="2423160"/>
            <a:ext cx="2286000" cy="365760"/>
          </a:xfrm>
          <a:prstGeom prst="rect">
            <a:avLst/>
          </a:prstGeom>
          <a:noFill/>
        </p:spPr>
        <p:txBody>
          <a:bodyPr wrap="square" lIns="0" rIns="0" tIns="0" bIns="0" anchor="t">
            <a:spAutoFit/>
          </a:bodyPr>
          <a:lstStyle/>
          <a:p>
            <a:pPr algn="ctr"/>
            <a:r>
              <a:rPr sz="1600" b="1" i="0">
                <a:solidFill>
                  <a:srgbClr val="1B2430"/>
                </a:solidFill>
                <a:latin typeface="Calibri"/>
              </a:rPr>
              <a:t>Reuse</a:t>
            </a:r>
          </a:p>
        </p:txBody>
      </p:sp>
      <p:sp>
        <p:nvSpPr>
          <p:cNvPr id="23" name="TextBox 22"/>
          <p:cNvSpPr txBox="1"/>
          <p:nvPr/>
        </p:nvSpPr>
        <p:spPr>
          <a:xfrm>
            <a:off x="9235440" y="2788920"/>
            <a:ext cx="2286000" cy="1005840"/>
          </a:xfrm>
          <a:prstGeom prst="rect">
            <a:avLst/>
          </a:prstGeom>
          <a:noFill/>
        </p:spPr>
        <p:txBody>
          <a:bodyPr wrap="square" lIns="0" rIns="0" tIns="0" bIns="0" anchor="t">
            <a:spAutoFit/>
          </a:bodyPr>
          <a:lstStyle/>
          <a:p>
            <a:pPr algn="ctr"/>
            <a:r>
              <a:rPr sz="1100" b="0" i="0">
                <a:solidFill>
                  <a:srgbClr val="1B2430"/>
                </a:solidFill>
                <a:latin typeface="Calibri"/>
              </a:rPr>
              <a:t>kb_find_skills surfaces it at stage 3; Claude Code loads it as &lt;design&gt;-&lt;skill&gt;</a:t>
            </a:r>
          </a:p>
        </p:txBody>
      </p:sp>
      <p:sp>
        <p:nvSpPr>
          <p:cNvPr id="24" name="card"/>
          <p:cNvSpPr/>
          <p:nvPr/>
        </p:nvSpPr>
        <p:spPr>
          <a:xfrm>
            <a:off x="548640" y="4206240"/>
            <a:ext cx="11064240" cy="192024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4315968"/>
            <a:ext cx="4572000" cy="320040"/>
          </a:xfrm>
          <a:prstGeom prst="rect">
            <a:avLst/>
          </a:prstGeom>
          <a:noFill/>
        </p:spPr>
        <p:txBody>
          <a:bodyPr wrap="square" lIns="0" rIns="0" tIns="0" bIns="0" anchor="t">
            <a:spAutoFit/>
          </a:bodyPr>
          <a:lstStyle/>
          <a:p>
            <a:pPr algn="l"/>
            <a:r>
              <a:rPr sz="1400" b="1" i="0">
                <a:solidFill>
                  <a:srgbClr val="1C7293"/>
                </a:solidFill>
                <a:latin typeface="Calibri"/>
              </a:rPr>
              <a:t>What a skill looks like</a:t>
            </a:r>
          </a:p>
        </p:txBody>
      </p:sp>
      <p:sp>
        <p:nvSpPr>
          <p:cNvPr id="26" name="TextBox 25"/>
          <p:cNvSpPr txBox="1"/>
          <p:nvPr/>
        </p:nvSpPr>
        <p:spPr>
          <a:xfrm>
            <a:off x="777240" y="4663440"/>
            <a:ext cx="10607040" cy="1371600"/>
          </a:xfrm>
          <a:prstGeom prst="rect">
            <a:avLst/>
          </a:prstGeom>
          <a:noFill/>
        </p:spPr>
        <p:txBody>
          <a:bodyPr wrap="square" lIns="0" rIns="0" tIns="0" bIns="0" anchor="t">
            <a:spAutoFit/>
          </a:bodyPr>
          <a:lstStyle/>
          <a:p>
            <a:pPr algn="l"/>
            <a:r>
              <a:rPr sz="1100" b="0" i="0">
                <a:solidFill>
                  <a:srgbClr val="1B2430"/>
                </a:solidFill>
                <a:latin typeface="Calibri"/>
              </a:rPr>
              <a:t>designs/cpnx_gsrd/skills/add-apb-peripheral/SKILL.md</a:t>
            </a:r>
          </a:p>
          <a:p>
            <a:pPr algn="l"/>
            <a:r>
              <a:rPr sz="1100" b="0" i="0">
                <a:solidFill>
                  <a:srgbClr val="1B2430"/>
                </a:solidFill>
                <a:latin typeface="Calibri"/>
              </a:rPr>
              <a:t>---</a:t>
            </a:r>
          </a:p>
          <a:p>
            <a:pPr algn="l"/>
            <a:r>
              <a:rPr sz="1100" b="0" i="0">
                <a:solidFill>
                  <a:srgbClr val="1B2430"/>
                </a:solidFill>
                <a:latin typeface="Calibri"/>
              </a:rPr>
              <a:t>name: add-apb-peripheral</a:t>
            </a:r>
          </a:p>
          <a:p>
            <a:pPr algn="l"/>
            <a:r>
              <a:rPr sz="1100" b="0" i="0">
                <a:solidFill>
                  <a:srgbClr val="1B2430"/>
                </a:solidFill>
                <a:latin typeface="Calibri"/>
              </a:rPr>
              <a:t>description: add an APB peripheral to the GSRD behind the AXI4-to-APB bridge with a new address segment and interrupt line</a:t>
            </a:r>
          </a:p>
          <a:p>
            <a:pPr algn="l"/>
            <a:r>
              <a:rPr sz="1100" b="0" i="0">
                <a:solidFill>
                  <a:srgbClr val="1B2430"/>
                </a:solidFill>
                <a:latin typeface="Calibri"/>
              </a:rPr>
              <a:t>---</a:t>
            </a:r>
          </a:p>
          <a:p>
            <a:pPr algn="l"/>
            <a:r>
              <a:rPr sz="1100" b="0" i="0">
                <a:solidFill>
                  <a:srgbClr val="1B2430"/>
                </a:solidFill>
                <a:latin typeface="Calibri"/>
              </a:rPr>
              <a:t>## Steps   1. kb_get_registers for the existing peripherals ...   2. propel_add_ip with the parameters of ...   3. ...</a:t>
            </a:r>
          </a:p>
          <a:p>
            <a:pPr algn="l"/>
            <a:r>
              <a:rPr sz="1100" b="0" i="0">
                <a:solidFill>
                  <a:srgbClr val="1B2430"/>
                </a:solidFill>
                <a:latin typeface="Calibri"/>
              </a:rPr>
              <a:t>## Evidence   cpnx_gsrd/soc_primary_gsrd/lib/.../component.xml:88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arch2code: one specification, everything else generated</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17</a:t>
            </a:r>
          </a:p>
        </p:txBody>
      </p:sp>
      <p:sp>
        <p:nvSpPr>
          <p:cNvPr id="5" name="yaml"/>
          <p:cNvSpPr/>
          <p:nvPr/>
        </p:nvSpPr>
        <p:spPr>
          <a:xfrm>
            <a:off x="548640" y="2377440"/>
            <a:ext cx="2743200" cy="1828800"/>
          </a:xfrm>
          <a:prstGeom prst="roundRect">
            <a:avLst/>
          </a:prstGeom>
          <a:solidFill>
            <a:srgbClr val="0F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2606040"/>
            <a:ext cx="2743200" cy="457200"/>
          </a:xfrm>
          <a:prstGeom prst="rect">
            <a:avLst/>
          </a:prstGeom>
          <a:noFill/>
        </p:spPr>
        <p:txBody>
          <a:bodyPr wrap="square" lIns="0" rIns="0" tIns="0" bIns="0" anchor="t">
            <a:spAutoFit/>
          </a:bodyPr>
          <a:lstStyle/>
          <a:p>
            <a:pPr algn="ctr"/>
            <a:r>
              <a:rPr sz="1800" b="1" i="0">
                <a:solidFill>
                  <a:srgbClr val="FFFFFF"/>
                </a:solidFill>
                <a:latin typeface="Calibri"/>
              </a:rPr>
              <a:t>Project YAML</a:t>
            </a:r>
          </a:p>
        </p:txBody>
      </p:sp>
      <p:sp>
        <p:nvSpPr>
          <p:cNvPr id="7" name="TextBox 6"/>
          <p:cNvSpPr txBox="1"/>
          <p:nvPr/>
        </p:nvSpPr>
        <p:spPr>
          <a:xfrm>
            <a:off x="685800" y="3108960"/>
            <a:ext cx="2468880" cy="1005840"/>
          </a:xfrm>
          <a:prstGeom prst="rect">
            <a:avLst/>
          </a:prstGeom>
          <a:noFill/>
        </p:spPr>
        <p:txBody>
          <a:bodyPr wrap="square" lIns="0" rIns="0" tIns="0" bIns="0" anchor="t">
            <a:spAutoFit/>
          </a:bodyPr>
          <a:lstStyle/>
          <a:p>
            <a:pPr algn="ctr"/>
            <a:r>
              <a:rPr sz="1200" b="0" i="0">
                <a:solidFill>
                  <a:srgbClr val="9BD3C4"/>
                </a:solidFill>
                <a:latin typeface="Calibri"/>
              </a:rPr>
              <a:t>blocks, instances, connections,</a:t>
            </a:r>
          </a:p>
          <a:p>
            <a:pPr algn="ctr"/>
            <a:r>
              <a:rPr sz="1200" b="0" i="0">
                <a:solidFill>
                  <a:srgbClr val="9BD3C4"/>
                </a:solidFill>
                <a:latin typeface="Calibri"/>
              </a:rPr>
              <a:t>interfaces, registers, memories,</a:t>
            </a:r>
          </a:p>
          <a:p>
            <a:pPr algn="ctr"/>
            <a:r>
              <a:rPr sz="1200" b="0" i="0">
                <a:solidFill>
                  <a:srgbClr val="9BD3C4"/>
                </a:solidFill>
                <a:latin typeface="Calibri"/>
              </a:rPr>
              <a:t>constants and types</a:t>
            </a:r>
          </a:p>
        </p:txBody>
      </p:sp>
      <p:cxnSp>
        <p:nvCxnSpPr>
          <p:cNvPr id="8" name="Connector 7"/>
          <p:cNvCxnSpPr/>
          <p:nvPr/>
        </p:nvCxnSpPr>
        <p:spPr>
          <a:xfrm flipV="1">
            <a:off x="3291840" y="1554480"/>
            <a:ext cx="1280160" cy="173736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card"/>
          <p:cNvSpPr/>
          <p:nvPr/>
        </p:nvSpPr>
        <p:spPr>
          <a:xfrm>
            <a:off x="4572000" y="1280160"/>
            <a:ext cx="7040880" cy="603504"/>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54880" y="1344168"/>
            <a:ext cx="2743200" cy="274320"/>
          </a:xfrm>
          <a:prstGeom prst="rect">
            <a:avLst/>
          </a:prstGeom>
          <a:noFill/>
        </p:spPr>
        <p:txBody>
          <a:bodyPr wrap="square" lIns="0" rIns="0" tIns="0" bIns="0" anchor="t">
            <a:spAutoFit/>
          </a:bodyPr>
          <a:lstStyle/>
          <a:p>
            <a:pPr algn="l"/>
            <a:r>
              <a:rPr sz="1250" b="1" i="0">
                <a:solidFill>
                  <a:srgbClr val="E0A458"/>
                </a:solidFill>
                <a:latin typeface="Calibri"/>
              </a:rPr>
              <a:t>RTL skeletons and packages</a:t>
            </a:r>
          </a:p>
        </p:txBody>
      </p:sp>
      <p:sp>
        <p:nvSpPr>
          <p:cNvPr id="11" name="TextBox 10"/>
          <p:cNvSpPr txBox="1"/>
          <p:nvPr/>
        </p:nvSpPr>
        <p:spPr>
          <a:xfrm>
            <a:off x="7498079" y="1353312"/>
            <a:ext cx="4023360" cy="502920"/>
          </a:xfrm>
          <a:prstGeom prst="rect">
            <a:avLst/>
          </a:prstGeom>
          <a:noFill/>
        </p:spPr>
        <p:txBody>
          <a:bodyPr wrap="square" lIns="0" rIns="0" tIns="0" bIns="0" anchor="t">
            <a:spAutoFit/>
          </a:bodyPr>
          <a:lstStyle/>
          <a:p>
            <a:pPr algn="l"/>
            <a:r>
              <a:rPr sz="1050" b="0" i="0">
                <a:solidFill>
                  <a:srgbClr val="1B2430"/>
                </a:solidFill>
                <a:latin typeface="Calibri"/>
              </a:rPr>
              <a:t>ports, instances and wiring generated; bodies hand-written inside the regions</a:t>
            </a:r>
          </a:p>
        </p:txBody>
      </p:sp>
      <p:cxnSp>
        <p:nvCxnSpPr>
          <p:cNvPr id="12" name="Connector 11"/>
          <p:cNvCxnSpPr/>
          <p:nvPr/>
        </p:nvCxnSpPr>
        <p:spPr>
          <a:xfrm flipV="1">
            <a:off x="3291840" y="2267711"/>
            <a:ext cx="1280160" cy="1024129"/>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card"/>
          <p:cNvSpPr/>
          <p:nvPr/>
        </p:nvSpPr>
        <p:spPr>
          <a:xfrm>
            <a:off x="4572000" y="1993391"/>
            <a:ext cx="7040880" cy="603504"/>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2057399"/>
            <a:ext cx="2743200" cy="274320"/>
          </a:xfrm>
          <a:prstGeom prst="rect">
            <a:avLst/>
          </a:prstGeom>
          <a:noFill/>
        </p:spPr>
        <p:txBody>
          <a:bodyPr wrap="square" lIns="0" rIns="0" tIns="0" bIns="0" anchor="t">
            <a:spAutoFit/>
          </a:bodyPr>
          <a:lstStyle/>
          <a:p>
            <a:pPr algn="l"/>
            <a:r>
              <a:rPr sz="1250" b="1" i="0">
                <a:solidFill>
                  <a:srgbClr val="E0A458"/>
                </a:solidFill>
                <a:latin typeface="Calibri"/>
              </a:rPr>
              <a:t>Register decode</a:t>
            </a:r>
          </a:p>
        </p:txBody>
      </p:sp>
      <p:sp>
        <p:nvSpPr>
          <p:cNvPr id="15" name="TextBox 14"/>
          <p:cNvSpPr txBox="1"/>
          <p:nvPr/>
        </p:nvSpPr>
        <p:spPr>
          <a:xfrm>
            <a:off x="7498079" y="2066543"/>
            <a:ext cx="4023360" cy="502920"/>
          </a:xfrm>
          <a:prstGeom prst="rect">
            <a:avLst/>
          </a:prstGeom>
          <a:noFill/>
        </p:spPr>
        <p:txBody>
          <a:bodyPr wrap="square" lIns="0" rIns="0" tIns="0" bIns="0" anchor="t">
            <a:spAutoFit/>
          </a:bodyPr>
          <a:lstStyle/>
          <a:p>
            <a:pPr algn="l"/>
            <a:r>
              <a:rPr sz="1050" b="0" i="0">
                <a:solidFill>
                  <a:srgbClr val="1B2430"/>
                </a:solidFill>
                <a:latin typeface="Calibri"/>
              </a:rPr>
              <a:t>APB routers and register handlers in RTL and SystemC; firmware headers with the same offsets</a:t>
            </a:r>
          </a:p>
        </p:txBody>
      </p:sp>
      <p:cxnSp>
        <p:nvCxnSpPr>
          <p:cNvPr id="16" name="Connector 15"/>
          <p:cNvCxnSpPr/>
          <p:nvPr/>
        </p:nvCxnSpPr>
        <p:spPr>
          <a:xfrm flipV="1">
            <a:off x="3291840" y="2980944"/>
            <a:ext cx="1280160" cy="310896"/>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card"/>
          <p:cNvSpPr/>
          <p:nvPr/>
        </p:nvSpPr>
        <p:spPr>
          <a:xfrm>
            <a:off x="4572000" y="2706624"/>
            <a:ext cx="7040880" cy="603504"/>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754880" y="2770632"/>
            <a:ext cx="2743200" cy="274320"/>
          </a:xfrm>
          <a:prstGeom prst="rect">
            <a:avLst/>
          </a:prstGeom>
          <a:noFill/>
        </p:spPr>
        <p:txBody>
          <a:bodyPr wrap="square" lIns="0" rIns="0" tIns="0" bIns="0" anchor="t">
            <a:spAutoFit/>
          </a:bodyPr>
          <a:lstStyle/>
          <a:p>
            <a:pPr algn="l"/>
            <a:r>
              <a:rPr sz="1250" b="1" i="0">
                <a:solidFill>
                  <a:srgbClr val="E0A458"/>
                </a:solidFill>
                <a:latin typeface="Calibri"/>
              </a:rPr>
              <a:t>SystemC models and stubs</a:t>
            </a:r>
          </a:p>
        </p:txBody>
      </p:sp>
      <p:sp>
        <p:nvSpPr>
          <p:cNvPr id="19" name="TextBox 18"/>
          <p:cNvSpPr txBox="1"/>
          <p:nvPr/>
        </p:nvSpPr>
        <p:spPr>
          <a:xfrm>
            <a:off x="7498079" y="2779776"/>
            <a:ext cx="4023360" cy="502920"/>
          </a:xfrm>
          <a:prstGeom prst="rect">
            <a:avLst/>
          </a:prstGeom>
          <a:noFill/>
        </p:spPr>
        <p:txBody>
          <a:bodyPr wrap="square" lIns="0" rIns="0" tIns="0" bIns="0" anchor="t">
            <a:spAutoFit/>
          </a:bodyPr>
          <a:lstStyle/>
          <a:p>
            <a:pPr algn="l"/>
            <a:r>
              <a:rPr sz="1050" b="0" i="0">
                <a:solidFill>
                  <a:srgbClr val="1B2430"/>
                </a:solidFill>
                <a:latin typeface="Calibri"/>
              </a:rPr>
              <a:t>block models with channels; stubs for IP and SoC blocks generated from the ports</a:t>
            </a:r>
          </a:p>
        </p:txBody>
      </p:sp>
      <p:cxnSp>
        <p:nvCxnSpPr>
          <p:cNvPr id="20" name="Connector 19"/>
          <p:cNvCxnSpPr/>
          <p:nvPr/>
        </p:nvCxnSpPr>
        <p:spPr>
          <a:xfrm>
            <a:off x="3291840" y="3291840"/>
            <a:ext cx="1280160" cy="402336"/>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card"/>
          <p:cNvSpPr/>
          <p:nvPr/>
        </p:nvSpPr>
        <p:spPr>
          <a:xfrm>
            <a:off x="4572000" y="3419856"/>
            <a:ext cx="7040880" cy="603504"/>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3483863"/>
            <a:ext cx="2743200" cy="274320"/>
          </a:xfrm>
          <a:prstGeom prst="rect">
            <a:avLst/>
          </a:prstGeom>
          <a:noFill/>
        </p:spPr>
        <p:txBody>
          <a:bodyPr wrap="square" lIns="0" rIns="0" tIns="0" bIns="0" anchor="t">
            <a:spAutoFit/>
          </a:bodyPr>
          <a:lstStyle/>
          <a:p>
            <a:pPr algn="l"/>
            <a:r>
              <a:rPr sz="1250" b="1" i="0">
                <a:solidFill>
                  <a:srgbClr val="E0A458"/>
                </a:solidFill>
                <a:latin typeface="Calibri"/>
              </a:rPr>
              <a:t>UVM and testbench skeletons</a:t>
            </a:r>
          </a:p>
        </p:txBody>
      </p:sp>
      <p:sp>
        <p:nvSpPr>
          <p:cNvPr id="23" name="TextBox 22"/>
          <p:cNvSpPr txBox="1"/>
          <p:nvPr/>
        </p:nvSpPr>
        <p:spPr>
          <a:xfrm>
            <a:off x="7498079" y="3493008"/>
            <a:ext cx="4023360" cy="502920"/>
          </a:xfrm>
          <a:prstGeom prst="rect">
            <a:avLst/>
          </a:prstGeom>
          <a:noFill/>
        </p:spPr>
        <p:txBody>
          <a:bodyPr wrap="square" lIns="0" rIns="0" tIns="0" bIns="0" anchor="t">
            <a:spAutoFit/>
          </a:bodyPr>
          <a:lstStyle/>
          <a:p>
            <a:pPr algn="l"/>
            <a:r>
              <a:rPr sz="1050" b="0" i="0">
                <a:solidFill>
                  <a:srgbClr val="1B2430"/>
                </a:solidFill>
                <a:latin typeface="Calibri"/>
              </a:rPr>
              <a:t>Config, External and Testbench scaffolds; Verilator co-simulation wrappers</a:t>
            </a:r>
          </a:p>
        </p:txBody>
      </p:sp>
      <p:cxnSp>
        <p:nvCxnSpPr>
          <p:cNvPr id="24" name="Connector 23"/>
          <p:cNvCxnSpPr/>
          <p:nvPr/>
        </p:nvCxnSpPr>
        <p:spPr>
          <a:xfrm>
            <a:off x="3291840" y="3291840"/>
            <a:ext cx="1280160" cy="1115567"/>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card"/>
          <p:cNvSpPr/>
          <p:nvPr/>
        </p:nvSpPr>
        <p:spPr>
          <a:xfrm>
            <a:off x="4572000" y="4133087"/>
            <a:ext cx="7040880" cy="603504"/>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4197096"/>
            <a:ext cx="2743200" cy="274320"/>
          </a:xfrm>
          <a:prstGeom prst="rect">
            <a:avLst/>
          </a:prstGeom>
          <a:noFill/>
        </p:spPr>
        <p:txBody>
          <a:bodyPr wrap="square" lIns="0" rIns="0" tIns="0" bIns="0" anchor="t">
            <a:spAutoFit/>
          </a:bodyPr>
          <a:lstStyle/>
          <a:p>
            <a:pPr algn="l"/>
            <a:r>
              <a:rPr sz="1250" b="1" i="0">
                <a:solidFill>
                  <a:srgbClr val="E0A458"/>
                </a:solidFill>
                <a:latin typeface="Calibri"/>
              </a:rPr>
              <a:t>Firmware headers</a:t>
            </a:r>
          </a:p>
        </p:txBody>
      </p:sp>
      <p:sp>
        <p:nvSpPr>
          <p:cNvPr id="27" name="TextBox 26"/>
          <p:cNvSpPr txBox="1"/>
          <p:nvPr/>
        </p:nvSpPr>
        <p:spPr>
          <a:xfrm>
            <a:off x="7498079" y="4206240"/>
            <a:ext cx="4023360" cy="502920"/>
          </a:xfrm>
          <a:prstGeom prst="rect">
            <a:avLst/>
          </a:prstGeom>
          <a:noFill/>
        </p:spPr>
        <p:txBody>
          <a:bodyPr wrap="square" lIns="0" rIns="0" tIns="0" bIns="0" anchor="t">
            <a:spAutoFit/>
          </a:bodyPr>
          <a:lstStyle/>
          <a:p>
            <a:pPr algn="l"/>
            <a:r>
              <a:rPr sz="1050" b="0" i="0">
                <a:solidFill>
                  <a:srgbClr val="1B2430"/>
                </a:solidFill>
                <a:latin typeface="Calibri"/>
              </a:rPr>
              <a:t>BASE_ADDR and REG defines from the same address map</a:t>
            </a:r>
          </a:p>
        </p:txBody>
      </p:sp>
      <p:cxnSp>
        <p:nvCxnSpPr>
          <p:cNvPr id="28" name="Connector 27"/>
          <p:cNvCxnSpPr/>
          <p:nvPr/>
        </p:nvCxnSpPr>
        <p:spPr>
          <a:xfrm>
            <a:off x="3291840" y="3291840"/>
            <a:ext cx="1280160" cy="182880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card"/>
          <p:cNvSpPr/>
          <p:nvPr/>
        </p:nvSpPr>
        <p:spPr>
          <a:xfrm>
            <a:off x="4572000" y="4846320"/>
            <a:ext cx="7040880" cy="603504"/>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754880" y="4910328"/>
            <a:ext cx="2743200" cy="274320"/>
          </a:xfrm>
          <a:prstGeom prst="rect">
            <a:avLst/>
          </a:prstGeom>
          <a:noFill/>
        </p:spPr>
        <p:txBody>
          <a:bodyPr wrap="square" lIns="0" rIns="0" tIns="0" bIns="0" anchor="t">
            <a:spAutoFit/>
          </a:bodyPr>
          <a:lstStyle/>
          <a:p>
            <a:pPr algn="l"/>
            <a:r>
              <a:rPr sz="1250" b="1" i="0">
                <a:solidFill>
                  <a:srgbClr val="E0A458"/>
                </a:solidFill>
                <a:latin typeface="Calibri"/>
              </a:rPr>
              <a:t>Documentation and diagrams</a:t>
            </a:r>
          </a:p>
        </p:txBody>
      </p:sp>
      <p:sp>
        <p:nvSpPr>
          <p:cNvPr id="31" name="TextBox 30"/>
          <p:cNvSpPr txBox="1"/>
          <p:nvPr/>
        </p:nvSpPr>
        <p:spPr>
          <a:xfrm>
            <a:off x="7498079" y="4919472"/>
            <a:ext cx="4023360" cy="502920"/>
          </a:xfrm>
          <a:prstGeom prst="rect">
            <a:avLst/>
          </a:prstGeom>
          <a:noFill/>
        </p:spPr>
        <p:txBody>
          <a:bodyPr wrap="square" lIns="0" rIns="0" tIns="0" bIns="0" anchor="t">
            <a:spAutoFit/>
          </a:bodyPr>
          <a:lstStyle/>
          <a:p>
            <a:pPr algn="l"/>
            <a:r>
              <a:rPr sz="1050" b="0" i="0">
                <a:solidFill>
                  <a:srgbClr val="1B2430"/>
                </a:solidFill>
                <a:latin typeface="Calibri"/>
              </a:rPr>
              <a:t>block diagrams and documents from the database</a:t>
            </a:r>
          </a:p>
        </p:txBody>
      </p:sp>
      <p:cxnSp>
        <p:nvCxnSpPr>
          <p:cNvPr id="32" name="Connector 31"/>
          <p:cNvCxnSpPr/>
          <p:nvPr/>
        </p:nvCxnSpPr>
        <p:spPr>
          <a:xfrm>
            <a:off x="3291840" y="3291840"/>
            <a:ext cx="1280160" cy="2542032"/>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card"/>
          <p:cNvSpPr/>
          <p:nvPr/>
        </p:nvSpPr>
        <p:spPr>
          <a:xfrm>
            <a:off x="4572000" y="5559552"/>
            <a:ext cx="7040880" cy="603504"/>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754880" y="5623560"/>
            <a:ext cx="2743200" cy="274320"/>
          </a:xfrm>
          <a:prstGeom prst="rect">
            <a:avLst/>
          </a:prstGeom>
          <a:noFill/>
        </p:spPr>
        <p:txBody>
          <a:bodyPr wrap="square" lIns="0" rIns="0" tIns="0" bIns="0" anchor="t">
            <a:spAutoFit/>
          </a:bodyPr>
          <a:lstStyle/>
          <a:p>
            <a:pPr algn="l"/>
            <a:r>
              <a:rPr sz="1250" b="1" i="0">
                <a:solidFill>
                  <a:srgbClr val="E0A458"/>
                </a:solidFill>
                <a:latin typeface="Calibri"/>
              </a:rPr>
              <a:t>Build manifest</a:t>
            </a:r>
          </a:p>
        </p:txBody>
      </p:sp>
      <p:sp>
        <p:nvSpPr>
          <p:cNvPr id="35" name="TextBox 34"/>
          <p:cNvSpPr txBox="1"/>
          <p:nvPr/>
        </p:nvSpPr>
        <p:spPr>
          <a:xfrm>
            <a:off x="7498079" y="5632704"/>
            <a:ext cx="4023360" cy="502920"/>
          </a:xfrm>
          <a:prstGeom prst="rect">
            <a:avLst/>
          </a:prstGeom>
          <a:noFill/>
        </p:spPr>
        <p:txBody>
          <a:bodyPr wrap="square" lIns="0" rIns="0" tIns="0" bIns="0" anchor="t">
            <a:spAutoFit/>
          </a:bodyPr>
          <a:lstStyle/>
          <a:p>
            <a:pPr algn="l"/>
            <a:r>
              <a:rPr sz="1050" b="0" i="0">
                <a:solidFill>
                  <a:srgbClr val="1B2430"/>
                </a:solidFill>
                <a:latin typeface="Calibri"/>
              </a:rPr>
              <a:t>the make flow for model, co-simulation, Questa lint and regression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Simulate before you implement, then prove the registers</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18</a:t>
            </a:r>
          </a:p>
        </p:txBody>
      </p:sp>
      <p:sp>
        <p:nvSpPr>
          <p:cNvPr id="5" name="card"/>
          <p:cNvSpPr/>
          <p:nvPr/>
        </p:nvSpPr>
        <p:spPr>
          <a:xfrm>
            <a:off x="548640" y="1371600"/>
            <a:ext cx="2651760" cy="24688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p:cNvSpPr/>
          <p:nvPr/>
        </p:nvSpPr>
        <p:spPr>
          <a:xfrm>
            <a:off x="1554480" y="1554480"/>
            <a:ext cx="640080" cy="64008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latin typeface="Cambria"/>
              </a:rPr>
              <a:t>1</a:t>
            </a:r>
          </a:p>
        </p:txBody>
      </p:sp>
      <p:sp>
        <p:nvSpPr>
          <p:cNvPr id="7" name="TextBox 6"/>
          <p:cNvSpPr txBox="1"/>
          <p:nvPr/>
        </p:nvSpPr>
        <p:spPr>
          <a:xfrm>
            <a:off x="731520" y="2331720"/>
            <a:ext cx="2286000" cy="365760"/>
          </a:xfrm>
          <a:prstGeom prst="rect">
            <a:avLst/>
          </a:prstGeom>
          <a:noFill/>
        </p:spPr>
        <p:txBody>
          <a:bodyPr wrap="square" lIns="0" rIns="0" tIns="0" bIns="0" anchor="t">
            <a:spAutoFit/>
          </a:bodyPr>
          <a:lstStyle/>
          <a:p>
            <a:pPr algn="ctr"/>
            <a:r>
              <a:rPr sz="1500" b="1" i="0">
                <a:solidFill>
                  <a:srgbClr val="1B2430"/>
                </a:solidFill>
                <a:latin typeface="Calibri"/>
              </a:rPr>
              <a:t>Model simulation</a:t>
            </a:r>
          </a:p>
        </p:txBody>
      </p:sp>
      <p:sp>
        <p:nvSpPr>
          <p:cNvPr id="8" name="TextBox 7"/>
          <p:cNvSpPr txBox="1"/>
          <p:nvPr/>
        </p:nvSpPr>
        <p:spPr>
          <a:xfrm>
            <a:off x="731520" y="2697480"/>
            <a:ext cx="2286000" cy="1097280"/>
          </a:xfrm>
          <a:prstGeom prst="rect">
            <a:avLst/>
          </a:prstGeom>
          <a:noFill/>
        </p:spPr>
        <p:txBody>
          <a:bodyPr wrap="square" lIns="0" rIns="0" tIns="0" bIns="0" anchor="t">
            <a:spAutoFit/>
          </a:bodyPr>
          <a:lstStyle/>
          <a:p>
            <a:pPr algn="ctr"/>
            <a:r>
              <a:rPr sz="1100" b="0" i="0">
                <a:solidFill>
                  <a:srgbClr val="1B2430"/>
                </a:solidFill>
                <a:latin typeface="Calibri"/>
              </a:rPr>
              <a:t>generated models and stubs; run_model reports "No error" for the test the intent named</a:t>
            </a:r>
          </a:p>
        </p:txBody>
      </p:sp>
      <p:cxnSp>
        <p:nvCxnSpPr>
          <p:cNvPr id="9" name="Connector 8"/>
          <p:cNvCxnSpPr/>
          <p:nvPr/>
        </p:nvCxnSpPr>
        <p:spPr>
          <a:xfrm>
            <a:off x="3218688" y="2606040"/>
            <a:ext cx="146304"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card"/>
          <p:cNvSpPr/>
          <p:nvPr/>
        </p:nvSpPr>
        <p:spPr>
          <a:xfrm>
            <a:off x="3383280" y="1371600"/>
            <a:ext cx="2651760" cy="24688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con"/>
          <p:cNvSpPr/>
          <p:nvPr/>
        </p:nvSpPr>
        <p:spPr>
          <a:xfrm>
            <a:off x="4389120" y="1554480"/>
            <a:ext cx="640080" cy="64008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latin typeface="Cambria"/>
              </a:rPr>
              <a:t>2</a:t>
            </a:r>
          </a:p>
        </p:txBody>
      </p:sp>
      <p:sp>
        <p:nvSpPr>
          <p:cNvPr id="12" name="TextBox 11"/>
          <p:cNvSpPr txBox="1"/>
          <p:nvPr/>
        </p:nvSpPr>
        <p:spPr>
          <a:xfrm>
            <a:off x="3566160" y="2331720"/>
            <a:ext cx="2286000" cy="365760"/>
          </a:xfrm>
          <a:prstGeom prst="rect">
            <a:avLst/>
          </a:prstGeom>
          <a:noFill/>
        </p:spPr>
        <p:txBody>
          <a:bodyPr wrap="square" lIns="0" rIns="0" tIns="0" bIns="0" anchor="t">
            <a:spAutoFit/>
          </a:bodyPr>
          <a:lstStyle/>
          <a:p>
            <a:pPr algn="ctr"/>
            <a:r>
              <a:rPr sz="1500" b="1" i="0">
                <a:solidFill>
                  <a:srgbClr val="1B2430"/>
                </a:solidFill>
                <a:latin typeface="Calibri"/>
              </a:rPr>
              <a:t>Co-simulation</a:t>
            </a:r>
          </a:p>
        </p:txBody>
      </p:sp>
      <p:sp>
        <p:nvSpPr>
          <p:cNvPr id="13" name="TextBox 12"/>
          <p:cNvSpPr txBox="1"/>
          <p:nvPr/>
        </p:nvSpPr>
        <p:spPr>
          <a:xfrm>
            <a:off x="3566160" y="2697480"/>
            <a:ext cx="2286000" cy="1097280"/>
          </a:xfrm>
          <a:prstGeom prst="rect">
            <a:avLst/>
          </a:prstGeom>
          <a:noFill/>
        </p:spPr>
        <p:txBody>
          <a:bodyPr wrap="square" lIns="0" rIns="0" tIns="0" bIns="0" anchor="t">
            <a:spAutoFit/>
          </a:bodyPr>
          <a:lstStyle/>
          <a:p>
            <a:pPr algn="ctr"/>
            <a:r>
              <a:rPr sz="1100" b="0" i="0">
                <a:solidFill>
                  <a:srgbClr val="1B2430"/>
                </a:solidFill>
                <a:latin typeface="Calibri"/>
              </a:rPr>
              <a:t>hand-written RTL verilated in place of its model; run_cosim per block</a:t>
            </a:r>
          </a:p>
        </p:txBody>
      </p:sp>
      <p:cxnSp>
        <p:nvCxnSpPr>
          <p:cNvPr id="14" name="Connector 13"/>
          <p:cNvCxnSpPr/>
          <p:nvPr/>
        </p:nvCxnSpPr>
        <p:spPr>
          <a:xfrm>
            <a:off x="6053328" y="2606040"/>
            <a:ext cx="146304"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card"/>
          <p:cNvSpPr/>
          <p:nvPr/>
        </p:nvSpPr>
        <p:spPr>
          <a:xfrm>
            <a:off x="6217920" y="1371600"/>
            <a:ext cx="2651760" cy="24688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
          <p:cNvSpPr/>
          <p:nvPr/>
        </p:nvSpPr>
        <p:spPr>
          <a:xfrm>
            <a:off x="7223760" y="1554480"/>
            <a:ext cx="640080" cy="64008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latin typeface="Cambria"/>
              </a:rPr>
              <a:t>3</a:t>
            </a:r>
          </a:p>
        </p:txBody>
      </p:sp>
      <p:sp>
        <p:nvSpPr>
          <p:cNvPr id="17" name="TextBox 16"/>
          <p:cNvSpPr txBox="1"/>
          <p:nvPr/>
        </p:nvSpPr>
        <p:spPr>
          <a:xfrm>
            <a:off x="6400800" y="2331720"/>
            <a:ext cx="2286000" cy="365760"/>
          </a:xfrm>
          <a:prstGeom prst="rect">
            <a:avLst/>
          </a:prstGeom>
          <a:noFill/>
        </p:spPr>
        <p:txBody>
          <a:bodyPr wrap="square" lIns="0" rIns="0" tIns="0" bIns="0" anchor="t">
            <a:spAutoFit/>
          </a:bodyPr>
          <a:lstStyle/>
          <a:p>
            <a:pPr algn="ctr"/>
            <a:r>
              <a:rPr sz="1500" b="1" i="0">
                <a:solidFill>
                  <a:srgbClr val="1B2430"/>
                </a:solidFill>
                <a:latin typeface="Calibri"/>
              </a:rPr>
              <a:t>Tandem verification</a:t>
            </a:r>
          </a:p>
        </p:txBody>
      </p:sp>
      <p:sp>
        <p:nvSpPr>
          <p:cNvPr id="18" name="TextBox 17"/>
          <p:cNvSpPr txBox="1"/>
          <p:nvPr/>
        </p:nvSpPr>
        <p:spPr>
          <a:xfrm>
            <a:off x="6400800" y="2697480"/>
            <a:ext cx="2286000" cy="1097280"/>
          </a:xfrm>
          <a:prstGeom prst="rect">
            <a:avLst/>
          </a:prstGeom>
          <a:noFill/>
        </p:spPr>
        <p:txBody>
          <a:bodyPr wrap="square" lIns="0" rIns="0" tIns="0" bIns="0" anchor="t">
            <a:spAutoFit/>
          </a:bodyPr>
          <a:lstStyle/>
          <a:p>
            <a:pPr algn="ctr"/>
            <a:r>
              <a:rPr sz="1100" b="0" i="0">
                <a:solidFill>
                  <a:srgbClr val="1B2430"/>
                </a:solidFill>
                <a:latin typeface="Calibri"/>
              </a:rPr>
              <a:t>model and RTL side by side, transaction by transaction (Arch2Code Pro)</a:t>
            </a:r>
          </a:p>
        </p:txBody>
      </p:sp>
      <p:cxnSp>
        <p:nvCxnSpPr>
          <p:cNvPr id="19" name="Connector 18"/>
          <p:cNvCxnSpPr/>
          <p:nvPr/>
        </p:nvCxnSpPr>
        <p:spPr>
          <a:xfrm>
            <a:off x="8887967" y="2606040"/>
            <a:ext cx="146305"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card"/>
          <p:cNvSpPr/>
          <p:nvPr/>
        </p:nvSpPr>
        <p:spPr>
          <a:xfrm>
            <a:off x="9052560" y="1371600"/>
            <a:ext cx="2651760" cy="24688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con"/>
          <p:cNvSpPr/>
          <p:nvPr/>
        </p:nvSpPr>
        <p:spPr>
          <a:xfrm>
            <a:off x="10058400" y="1554480"/>
            <a:ext cx="640080" cy="64008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000" b="1" i="0">
                <a:solidFill>
                  <a:srgbClr val="FFFFFF"/>
                </a:solidFill>
                <a:latin typeface="Cambria"/>
              </a:rPr>
              <a:t>4</a:t>
            </a:r>
          </a:p>
        </p:txBody>
      </p:sp>
      <p:sp>
        <p:nvSpPr>
          <p:cNvPr id="22" name="TextBox 21"/>
          <p:cNvSpPr txBox="1"/>
          <p:nvPr/>
        </p:nvSpPr>
        <p:spPr>
          <a:xfrm>
            <a:off x="9235440" y="2331720"/>
            <a:ext cx="2286000" cy="365760"/>
          </a:xfrm>
          <a:prstGeom prst="rect">
            <a:avLst/>
          </a:prstGeom>
          <a:noFill/>
        </p:spPr>
        <p:txBody>
          <a:bodyPr wrap="square" lIns="0" rIns="0" tIns="0" bIns="0" anchor="t">
            <a:spAutoFit/>
          </a:bodyPr>
          <a:lstStyle/>
          <a:p>
            <a:pPr algn="ctr"/>
            <a:r>
              <a:rPr sz="1500" b="1" i="0">
                <a:solidFill>
                  <a:srgbClr val="1B2430"/>
                </a:solidFill>
                <a:latin typeface="Calibri"/>
              </a:rPr>
              <a:t>Register-access test</a:t>
            </a:r>
          </a:p>
        </p:txBody>
      </p:sp>
      <p:sp>
        <p:nvSpPr>
          <p:cNvPr id="23" name="TextBox 22"/>
          <p:cNvSpPr txBox="1"/>
          <p:nvPr/>
        </p:nvSpPr>
        <p:spPr>
          <a:xfrm>
            <a:off x="9235440" y="2697480"/>
            <a:ext cx="2286000" cy="1097280"/>
          </a:xfrm>
          <a:prstGeom prst="rect">
            <a:avLst/>
          </a:prstGeom>
          <a:noFill/>
        </p:spPr>
        <p:txBody>
          <a:bodyPr wrap="square" lIns="0" rIns="0" tIns="0" bIns="0" anchor="t">
            <a:spAutoFit/>
          </a:bodyPr>
          <a:lstStyle/>
          <a:p>
            <a:pPr algn="ctr"/>
            <a:r>
              <a:rPr sz="1100" b="0" i="0">
                <a:solidFill>
                  <a:srgbClr val="1B2430"/>
                </a:solidFill>
                <a:latin typeface="Calibri"/>
              </a:rPr>
              <a:t>every declared register read after reset and written back; evidence and unverified flags honoured</a:t>
            </a:r>
          </a:p>
        </p:txBody>
      </p:sp>
      <p:sp>
        <p:nvSpPr>
          <p:cNvPr id="24" name="card"/>
          <p:cNvSpPr/>
          <p:nvPr/>
        </p:nvSpPr>
        <p:spPr>
          <a:xfrm>
            <a:off x="548640" y="4160520"/>
            <a:ext cx="6949440" cy="201168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4251960"/>
            <a:ext cx="6583680" cy="320040"/>
          </a:xfrm>
          <a:prstGeom prst="rect">
            <a:avLst/>
          </a:prstGeom>
          <a:noFill/>
        </p:spPr>
        <p:txBody>
          <a:bodyPr wrap="square" lIns="0" rIns="0" tIns="0" bIns="0" anchor="t">
            <a:spAutoFit/>
          </a:bodyPr>
          <a:lstStyle/>
          <a:p>
            <a:pPr algn="l"/>
            <a:r>
              <a:rPr sz="1300" b="1" i="0">
                <a:solidFill>
                  <a:srgbClr val="1C7293"/>
                </a:solidFill>
                <a:latin typeface="Calibri"/>
              </a:rPr>
              <a:t>What the register-access test prints (examples/regAccess, co-simulation)</a:t>
            </a:r>
          </a:p>
        </p:txBody>
      </p:sp>
      <p:sp>
        <p:nvSpPr>
          <p:cNvPr id="26" name="TextBox 25"/>
          <p:cNvSpPr txBox="1"/>
          <p:nvPr/>
        </p:nvSpPr>
        <p:spPr>
          <a:xfrm>
            <a:off x="777240" y="4617720"/>
            <a:ext cx="6583680" cy="1463040"/>
          </a:xfrm>
          <a:prstGeom prst="rect">
            <a:avLst/>
          </a:prstGeom>
          <a:noFill/>
        </p:spPr>
        <p:txBody>
          <a:bodyPr wrap="square" lIns="0" rIns="0" tIns="0" bIns="0" anchor="t">
            <a:spAutoFit/>
          </a:bodyPr>
          <a:lstStyle/>
          <a:p>
            <a:pPr algn="l"/>
            <a:r>
              <a:rPr sz="1150" b="0" i="0">
                <a:solidFill>
                  <a:srgbClr val="1B2430"/>
                </a:solidFill>
                <a:latin typeface="Courier New"/>
              </a:rPr>
              <a:t>regaccess uBlockA.rwUn0A[0] @0x8 reset 0x34abcdef pass</a:t>
            </a:r>
          </a:p>
          <a:p>
            <a:pPr algn="l"/>
            <a:r>
              <a:rPr sz="1150" b="0" i="0">
                <a:solidFill>
                  <a:srgbClr val="1B2430"/>
                </a:solidFill>
                <a:latin typeface="Courier New"/>
              </a:rPr>
              <a:t>regaccess uBlockA.rwUn0A[0] @0x8 write 0x5a3c0ff0 readback pass</a:t>
            </a:r>
          </a:p>
          <a:p>
            <a:pPr algn="l"/>
            <a:r>
              <a:rPr sz="1150" b="0" i="0">
                <a:solidFill>
                  <a:srgbClr val="1B2430"/>
                </a:solidFill>
                <a:latin typeface="Courier New"/>
              </a:rPr>
              <a:t>regaccess uBlockA.extA @0x18 write 0x5a3c0ff0 readback 0x0 unverified</a:t>
            </a:r>
          </a:p>
          <a:p>
            <a:pPr algn="l"/>
            <a:r>
              <a:rPr sz="1150" b="0" i="0">
                <a:solidFill>
                  <a:srgbClr val="1B2430"/>
                </a:solidFill>
                <a:latin typeface="Courier New"/>
              </a:rPr>
              <a:t>regaccess uBlockB.rwUn0B @0x1000000 reset 0xabcd pass</a:t>
            </a:r>
          </a:p>
          <a:p>
            <a:pPr algn="l"/>
            <a:r>
              <a:rPr sz="1150" b="0" i="0">
                <a:solidFill>
                  <a:srgbClr val="1B2430"/>
                </a:solidFill>
                <a:latin typeface="Courier New"/>
              </a:rPr>
              <a:t>regaccess regaccess_cpu_apbReg: 9 words, 0 mismatches</a:t>
            </a:r>
          </a:p>
        </p:txBody>
      </p:sp>
      <p:sp>
        <p:nvSpPr>
          <p:cNvPr id="27" name="card"/>
          <p:cNvSpPr/>
          <p:nvPr/>
        </p:nvSpPr>
        <p:spPr>
          <a:xfrm>
            <a:off x="7772400" y="4160520"/>
            <a:ext cx="3840480" cy="5943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955279" y="4178808"/>
            <a:ext cx="822960" cy="548640"/>
          </a:xfrm>
          <a:prstGeom prst="rect">
            <a:avLst/>
          </a:prstGeom>
          <a:noFill/>
        </p:spPr>
        <p:txBody>
          <a:bodyPr wrap="square" lIns="0" rIns="0" tIns="0" bIns="0" anchor="ctr">
            <a:spAutoFit/>
          </a:bodyPr>
          <a:lstStyle/>
          <a:p>
            <a:pPr algn="l"/>
            <a:r>
              <a:rPr sz="2400" b="1" i="0">
                <a:solidFill>
                  <a:srgbClr val="02C39A"/>
                </a:solidFill>
                <a:latin typeface="Cambria"/>
              </a:rPr>
              <a:t>9</a:t>
            </a:r>
          </a:p>
        </p:txBody>
      </p:sp>
      <p:sp>
        <p:nvSpPr>
          <p:cNvPr id="29" name="TextBox 28"/>
          <p:cNvSpPr txBox="1"/>
          <p:nvPr/>
        </p:nvSpPr>
        <p:spPr>
          <a:xfrm>
            <a:off x="8869680" y="4206240"/>
            <a:ext cx="2651760" cy="502920"/>
          </a:xfrm>
          <a:prstGeom prst="rect">
            <a:avLst/>
          </a:prstGeom>
          <a:noFill/>
        </p:spPr>
        <p:txBody>
          <a:bodyPr wrap="square" lIns="0" rIns="0" tIns="0" bIns="0" anchor="ctr">
            <a:spAutoFit/>
          </a:bodyPr>
          <a:lstStyle/>
          <a:p>
            <a:pPr algn="l"/>
            <a:r>
              <a:rPr sz="1200" b="0" i="0">
                <a:solidFill>
                  <a:srgbClr val="1B2430"/>
                </a:solidFill>
                <a:latin typeface="Calibri"/>
              </a:rPr>
              <a:t>bus words walked</a:t>
            </a:r>
          </a:p>
        </p:txBody>
      </p:sp>
      <p:sp>
        <p:nvSpPr>
          <p:cNvPr id="30" name="card"/>
          <p:cNvSpPr/>
          <p:nvPr/>
        </p:nvSpPr>
        <p:spPr>
          <a:xfrm>
            <a:off x="7772400" y="4846320"/>
            <a:ext cx="3840480" cy="5943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55279" y="4864608"/>
            <a:ext cx="822960" cy="548640"/>
          </a:xfrm>
          <a:prstGeom prst="rect">
            <a:avLst/>
          </a:prstGeom>
          <a:noFill/>
        </p:spPr>
        <p:txBody>
          <a:bodyPr wrap="square" lIns="0" rIns="0" tIns="0" bIns="0" anchor="ctr">
            <a:spAutoFit/>
          </a:bodyPr>
          <a:lstStyle/>
          <a:p>
            <a:pPr algn="l"/>
            <a:r>
              <a:rPr sz="2400" b="1" i="0">
                <a:solidFill>
                  <a:srgbClr val="02C39A"/>
                </a:solidFill>
                <a:latin typeface="Cambria"/>
              </a:rPr>
              <a:t>0</a:t>
            </a:r>
          </a:p>
        </p:txBody>
      </p:sp>
      <p:sp>
        <p:nvSpPr>
          <p:cNvPr id="32" name="TextBox 31"/>
          <p:cNvSpPr txBox="1"/>
          <p:nvPr/>
        </p:nvSpPr>
        <p:spPr>
          <a:xfrm>
            <a:off x="8869680" y="4892040"/>
            <a:ext cx="2651760" cy="502920"/>
          </a:xfrm>
          <a:prstGeom prst="rect">
            <a:avLst/>
          </a:prstGeom>
          <a:noFill/>
        </p:spPr>
        <p:txBody>
          <a:bodyPr wrap="square" lIns="0" rIns="0" tIns="0" bIns="0" anchor="ctr">
            <a:spAutoFit/>
          </a:bodyPr>
          <a:lstStyle/>
          <a:p>
            <a:pPr algn="l"/>
            <a:r>
              <a:rPr sz="1200" b="0" i="0">
                <a:solidFill>
                  <a:srgbClr val="1B2430"/>
                </a:solidFill>
                <a:latin typeface="Calibri"/>
              </a:rPr>
              <a:t>mismatches</a:t>
            </a:r>
          </a:p>
        </p:txBody>
      </p:sp>
      <p:sp>
        <p:nvSpPr>
          <p:cNvPr id="33" name="card"/>
          <p:cNvSpPr/>
          <p:nvPr/>
        </p:nvSpPr>
        <p:spPr>
          <a:xfrm>
            <a:off x="7772400" y="5532120"/>
            <a:ext cx="3840480" cy="5943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955279" y="5550408"/>
            <a:ext cx="822960" cy="548640"/>
          </a:xfrm>
          <a:prstGeom prst="rect">
            <a:avLst/>
          </a:prstGeom>
          <a:noFill/>
        </p:spPr>
        <p:txBody>
          <a:bodyPr wrap="square" lIns="0" rIns="0" tIns="0" bIns="0" anchor="ctr">
            <a:spAutoFit/>
          </a:bodyPr>
          <a:lstStyle/>
          <a:p>
            <a:pPr algn="l"/>
            <a:r>
              <a:rPr sz="2400" b="1" i="0">
                <a:solidFill>
                  <a:srgbClr val="02C39A"/>
                </a:solidFill>
                <a:latin typeface="Cambria"/>
              </a:rPr>
              <a:t>1</a:t>
            </a:r>
          </a:p>
        </p:txBody>
      </p:sp>
      <p:sp>
        <p:nvSpPr>
          <p:cNvPr id="35" name="TextBox 34"/>
          <p:cNvSpPr txBox="1"/>
          <p:nvPr/>
        </p:nvSpPr>
        <p:spPr>
          <a:xfrm>
            <a:off x="8869680" y="5577840"/>
            <a:ext cx="2651760" cy="502920"/>
          </a:xfrm>
          <a:prstGeom prst="rect">
            <a:avLst/>
          </a:prstGeom>
          <a:noFill/>
        </p:spPr>
        <p:txBody>
          <a:bodyPr wrap="square" lIns="0" rIns="0" tIns="0" bIns="0" anchor="ctr">
            <a:spAutoFit/>
          </a:bodyPr>
          <a:lstStyle/>
          <a:p>
            <a:pPr algn="l"/>
            <a:r>
              <a:rPr sz="1200" b="0" i="0">
                <a:solidFill>
                  <a:srgbClr val="1B2430"/>
                </a:solidFill>
                <a:latin typeface="Calibri"/>
              </a:rPr>
              <a:t>unverified register, reported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The SoC branch: one wrapper block, one custom window</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19</a:t>
            </a:r>
          </a:p>
        </p:txBody>
      </p:sp>
      <p:sp>
        <p:nvSpPr>
          <p:cNvPr id="5" name="wrapper"/>
          <p:cNvSpPr/>
          <p:nvPr/>
        </p:nvSpPr>
        <p:spPr>
          <a:xfrm>
            <a:off x="731520" y="1463040"/>
            <a:ext cx="4754880" cy="4023360"/>
          </a:xfrm>
          <a:prstGeom prst="roundRect">
            <a:avLst>
              <a:gd name="adj" fmla="val 4000"/>
            </a:avLst>
          </a:prstGeom>
          <a:solidFill>
            <a:srgbClr val="EEF3F6"/>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1554480"/>
            <a:ext cx="4389120" cy="320040"/>
          </a:xfrm>
          <a:prstGeom prst="rect">
            <a:avLst/>
          </a:prstGeom>
          <a:noFill/>
        </p:spPr>
        <p:txBody>
          <a:bodyPr wrap="square" lIns="0" rIns="0" tIns="0" bIns="0" anchor="t">
            <a:spAutoFit/>
          </a:bodyPr>
          <a:lstStyle/>
          <a:p>
            <a:pPr algn="l"/>
            <a:r>
              <a:rPr sz="1300" b="1" i="0">
                <a:solidFill>
                  <a:srgbClr val="1C7293"/>
                </a:solidFill>
                <a:latin typeface="Calibri"/>
              </a:rPr>
              <a:t>socSubsystem (arch2code wrapper block)</a:t>
            </a:r>
          </a:p>
        </p:txBody>
      </p:sp>
      <p:sp>
        <p:nvSpPr>
          <p:cNvPr id="7" name="propel"/>
          <p:cNvSpPr/>
          <p:nvPr/>
        </p:nvSpPr>
        <p:spPr>
          <a:xfrm>
            <a:off x="1005840" y="2011680"/>
            <a:ext cx="4206240" cy="1463040"/>
          </a:xfrm>
          <a:prstGeom prst="roundRect">
            <a:avLst>
              <a:gd name="adj" fmla="val 6000"/>
            </a:avLst>
          </a:prstGeom>
          <a:solidFill>
            <a:srgbClr val="FFFFFF"/>
          </a:solidFill>
          <a:ln w="12700">
            <a:solidFill>
              <a:srgbClr val="6C8EA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97280" y="2148840"/>
            <a:ext cx="4023360" cy="1188720"/>
          </a:xfrm>
          <a:prstGeom prst="rect">
            <a:avLst/>
          </a:prstGeom>
          <a:noFill/>
        </p:spPr>
        <p:txBody>
          <a:bodyPr wrap="square" lIns="0" rIns="0" tIns="0" bIns="0" anchor="t">
            <a:spAutoFit/>
          </a:bodyPr>
          <a:lstStyle/>
          <a:p>
            <a:pPr algn="ctr"/>
            <a:r>
              <a:rPr sz="1150" b="0" i="0">
                <a:solidFill>
                  <a:srgbClr val="1B2430"/>
                </a:solidFill>
                <a:latin typeface="Calibri"/>
              </a:rPr>
              <a:t>Propel-generated SoC top</a:t>
            </a:r>
          </a:p>
          <a:p>
            <a:pPr algn="ctr"/>
            <a:r>
              <a:rPr sz="1150" b="0" i="0">
                <a:solidFill>
                  <a:srgbClr val="1B2430"/>
                </a:solidFill>
                <a:latin typeface="Calibri"/>
              </a:rPr>
              <a:t>RISC-V, interconnect, memory, peripherals</a:t>
            </a:r>
          </a:p>
          <a:p>
            <a:pPr algn="ctr"/>
            <a:r>
              <a:rPr sz="1150" b="0" i="0">
                <a:solidFill>
                  <a:srgbClr val="1B2430"/>
                </a:solidFill>
                <a:latin typeface="Calibri"/>
              </a:rPr>
              <a:t>instantiated outside the generated regions</a:t>
            </a:r>
          </a:p>
        </p:txBody>
      </p:sp>
      <p:sp>
        <p:nvSpPr>
          <p:cNvPr id="9" name="stub"/>
          <p:cNvSpPr/>
          <p:nvPr/>
        </p:nvSpPr>
        <p:spPr>
          <a:xfrm>
            <a:off x="1005840" y="3749039"/>
            <a:ext cx="4206240" cy="1463040"/>
          </a:xfrm>
          <a:prstGeom prst="roundRect">
            <a:avLst>
              <a:gd name="adj" fmla="val 6000"/>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97280" y="3931920"/>
            <a:ext cx="4023360" cy="1097280"/>
          </a:xfrm>
          <a:prstGeom prst="rect">
            <a:avLst/>
          </a:prstGeom>
          <a:noFill/>
        </p:spPr>
        <p:txBody>
          <a:bodyPr wrap="square" lIns="0" rIns="0" tIns="0" bIns="0" anchor="t">
            <a:spAutoFit/>
          </a:bodyPr>
          <a:lstStyle/>
          <a:p>
            <a:pPr algn="ctr"/>
            <a:r>
              <a:rPr sz="1150" b="0" i="0">
                <a:solidFill>
                  <a:srgbClr val="FFFFFF"/>
                </a:solidFill>
                <a:latin typeface="Calibri"/>
              </a:rPr>
              <a:t>Generated stub: bus-master transactor</a:t>
            </a:r>
          </a:p>
          <a:p>
            <a:pPr algn="ctr"/>
            <a:r>
              <a:rPr sz="1150" b="0" i="0">
                <a:solidFill>
                  <a:srgbClr val="FFFFFF"/>
                </a:solidFill>
                <a:latin typeface="Calibri"/>
              </a:rPr>
              <a:t>runs the register-access test over the window</a:t>
            </a:r>
          </a:p>
          <a:p>
            <a:pPr algn="ctr"/>
            <a:r>
              <a:rPr sz="1150" b="0" i="0">
                <a:solidFill>
                  <a:srgbClr val="FFFFFF"/>
                </a:solidFill>
                <a:latin typeface="Calibri"/>
              </a:rPr>
              <a:t>(mdlStub: userBus: {regAccess: true})</a:t>
            </a:r>
          </a:p>
        </p:txBody>
      </p:sp>
      <p:sp>
        <p:nvSpPr>
          <p:cNvPr id="11" name="window"/>
          <p:cNvSpPr/>
          <p:nvPr/>
        </p:nvSpPr>
        <p:spPr>
          <a:xfrm>
            <a:off x="6035040" y="2834640"/>
            <a:ext cx="1371600" cy="1280160"/>
          </a:xfrm>
          <a:prstGeom prst="roundRect">
            <a:avLst>
              <a:gd name="adj" fmla="val 6000"/>
            </a:avLst>
          </a:prstGeom>
          <a:solidFill>
            <a:srgbClr val="0F2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35040" y="2926080"/>
            <a:ext cx="1371600" cy="1097280"/>
          </a:xfrm>
          <a:prstGeom prst="rect">
            <a:avLst/>
          </a:prstGeom>
          <a:noFill/>
        </p:spPr>
        <p:txBody>
          <a:bodyPr wrap="square" lIns="0" rIns="0" tIns="0" bIns="0" anchor="t">
            <a:spAutoFit/>
          </a:bodyPr>
          <a:lstStyle/>
          <a:p>
            <a:pPr algn="ctr"/>
            <a:r>
              <a:rPr sz="950" b="1" i="0">
                <a:solidFill>
                  <a:srgbClr val="FFFFFF"/>
                </a:solidFill>
                <a:latin typeface="Calibri"/>
              </a:rPr>
              <a:t>custom window</a:t>
            </a:r>
          </a:p>
          <a:p>
            <a:pPr algn="ctr"/>
            <a:r>
              <a:rPr sz="950" b="1" i="0">
                <a:solidFill>
                  <a:srgbClr val="FFFFFF"/>
                </a:solidFill>
                <a:latin typeface="Calibri"/>
              </a:rPr>
              <a:t>USER_WINDOW_BASE</a:t>
            </a:r>
          </a:p>
          <a:p>
            <a:pPr algn="ctr"/>
            <a:r>
              <a:rPr sz="950" b="1" i="0">
                <a:solidFill>
                  <a:srgbClr val="FFFFFF"/>
                </a:solidFill>
                <a:latin typeface="Calibri"/>
              </a:rPr>
              <a:t>USER_WINDOW_SIZE</a:t>
            </a:r>
          </a:p>
        </p:txBody>
      </p:sp>
      <p:cxnSp>
        <p:nvCxnSpPr>
          <p:cNvPr id="13" name="Connector 12"/>
          <p:cNvCxnSpPr/>
          <p:nvPr/>
        </p:nvCxnSpPr>
        <p:spPr>
          <a:xfrm>
            <a:off x="5486400" y="3474720"/>
            <a:ext cx="548640" cy="0"/>
          </a:xfrm>
          <a:prstGeom prst="line">
            <a:avLst/>
          </a:prstGeom>
          <a:ln w="22225">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06640" y="3474720"/>
            <a:ext cx="548639" cy="0"/>
          </a:xfrm>
          <a:prstGeom prst="line">
            <a:avLst/>
          </a:prstGeom>
          <a:ln w="22225">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94960" y="2514600"/>
            <a:ext cx="2651760" cy="274320"/>
          </a:xfrm>
          <a:prstGeom prst="rect">
            <a:avLst/>
          </a:prstGeom>
          <a:noFill/>
        </p:spPr>
        <p:txBody>
          <a:bodyPr wrap="square" lIns="0" rIns="0" tIns="0" bIns="0" anchor="t">
            <a:spAutoFit/>
          </a:bodyPr>
          <a:lstStyle/>
          <a:p>
            <a:pPr algn="ctr"/>
            <a:r>
              <a:rPr sz="1000" b="0" i="0">
                <a:solidFill>
                  <a:srgbClr val="6C8EA4"/>
                </a:solidFill>
                <a:latin typeface="Calibri"/>
              </a:rPr>
              <a:t>APB through the bridge</a:t>
            </a:r>
          </a:p>
        </p:txBody>
      </p:sp>
      <p:sp>
        <p:nvSpPr>
          <p:cNvPr id="16" name="custom"/>
          <p:cNvSpPr/>
          <p:nvPr/>
        </p:nvSpPr>
        <p:spPr>
          <a:xfrm>
            <a:off x="7955279" y="1463040"/>
            <a:ext cx="3657600" cy="4023360"/>
          </a:xfrm>
          <a:prstGeom prst="roundRect">
            <a:avLst>
              <a:gd name="adj" fmla="val 4000"/>
            </a:avLst>
          </a:prstGeom>
          <a:solidFill>
            <a:srgbClr val="EEF3F6"/>
          </a:solidFill>
          <a:ln w="19050">
            <a:solidFill>
              <a:srgbClr val="02C3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38160" y="1554480"/>
            <a:ext cx="3291840" cy="320040"/>
          </a:xfrm>
          <a:prstGeom prst="rect">
            <a:avLst/>
          </a:prstGeom>
          <a:noFill/>
        </p:spPr>
        <p:txBody>
          <a:bodyPr wrap="square" lIns="0" rIns="0" tIns="0" bIns="0" anchor="t">
            <a:spAutoFit/>
          </a:bodyPr>
          <a:lstStyle/>
          <a:p>
            <a:pPr algn="l"/>
            <a:r>
              <a:rPr sz="1300" b="1" i="0">
                <a:solidFill>
                  <a:srgbClr val="02C39A"/>
                </a:solidFill>
                <a:latin typeface="Calibri"/>
              </a:rPr>
              <a:t>Custom logic (arch2code blocks)</a:t>
            </a:r>
          </a:p>
        </p:txBody>
      </p:sp>
      <p:sp>
        <p:nvSpPr>
          <p:cNvPr id="18" name="router"/>
          <p:cNvSpPr/>
          <p:nvPr/>
        </p:nvSpPr>
        <p:spPr>
          <a:xfrm>
            <a:off x="8229600" y="2011680"/>
            <a:ext cx="3108960" cy="1005840"/>
          </a:xfrm>
          <a:prstGeom prst="roundRect">
            <a:avLst>
              <a:gd name="adj" fmla="val 8000"/>
            </a:avLst>
          </a:prstGeom>
          <a:solidFill>
            <a:srgbClr val="FFFFFF"/>
          </a:solidFill>
          <a:ln w="12700">
            <a:solidFill>
              <a:srgbClr val="6C8EA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21040" y="2148840"/>
            <a:ext cx="2926080" cy="731520"/>
          </a:xfrm>
          <a:prstGeom prst="rect">
            <a:avLst/>
          </a:prstGeom>
          <a:noFill/>
        </p:spPr>
        <p:txBody>
          <a:bodyPr wrap="square" lIns="0" rIns="0" tIns="0" bIns="0" anchor="t">
            <a:spAutoFit/>
          </a:bodyPr>
          <a:lstStyle/>
          <a:p>
            <a:pPr algn="ctr"/>
            <a:r>
              <a:rPr sz="1150" b="0" i="0">
                <a:solidFill>
                  <a:srgbClr val="1B2430"/>
                </a:solidFill>
                <a:latin typeface="Calibri"/>
              </a:rPr>
              <a:t>customRegs router (generated)</a:t>
            </a:r>
          </a:p>
          <a:p>
            <a:pPr algn="ctr"/>
            <a:r>
              <a:rPr sz="1150" b="0" i="0">
                <a:solidFill>
                  <a:srgbClr val="1B2430"/>
                </a:solidFill>
                <a:latin typeface="Calibri"/>
              </a:rPr>
              <a:t>decodes inside the window</a:t>
            </a:r>
          </a:p>
        </p:txBody>
      </p:sp>
      <p:sp>
        <p:nvSpPr>
          <p:cNvPr id="20" name="block"/>
          <p:cNvSpPr/>
          <p:nvPr/>
        </p:nvSpPr>
        <p:spPr>
          <a:xfrm>
            <a:off x="8229600" y="3291840"/>
            <a:ext cx="3108960" cy="1920240"/>
          </a:xfrm>
          <a:prstGeom prst="roundRect">
            <a:avLst>
              <a:gd name="adj" fmla="val 6000"/>
            </a:avLst>
          </a:prstGeom>
          <a:solidFill>
            <a:srgbClr val="FFFFFF"/>
          </a:solidFill>
          <a:ln w="12700">
            <a:solidFill>
              <a:srgbClr val="6C8EA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21040" y="3429000"/>
            <a:ext cx="2926080" cy="1645920"/>
          </a:xfrm>
          <a:prstGeom prst="rect">
            <a:avLst/>
          </a:prstGeom>
          <a:noFill/>
        </p:spPr>
        <p:txBody>
          <a:bodyPr wrap="square" lIns="0" rIns="0" tIns="0" bIns="0" anchor="t">
            <a:spAutoFit/>
          </a:bodyPr>
          <a:lstStyle/>
          <a:p>
            <a:pPr algn="ctr"/>
            <a:r>
              <a:rPr sz="1150" b="0" i="0">
                <a:solidFill>
                  <a:srgbClr val="1B2430"/>
                </a:solidFill>
                <a:latin typeface="Calibri"/>
              </a:rPr>
              <a:t>userTimer</a:t>
            </a:r>
          </a:p>
          <a:p>
            <a:pPr algn="ctr"/>
            <a:r>
              <a:rPr sz="1150" b="0" i="0">
                <a:solidFill>
                  <a:srgbClr val="1B2430"/>
                </a:solidFill>
                <a:latin typeface="Calibri"/>
              </a:rPr>
              <a:t>registers declared in YAML with evidence pointers; hand-written RTL inside generated regions; model simulated first, co-simulated after</a:t>
            </a:r>
          </a:p>
        </p:txBody>
      </p:sp>
      <p:sp>
        <p:nvSpPr>
          <p:cNvPr id="22" name="pill"/>
          <p:cNvSpPr/>
          <p:nvPr/>
        </p:nvSpPr>
        <p:spPr>
          <a:xfrm>
            <a:off x="731520" y="5669280"/>
            <a:ext cx="1486814" cy="3108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a:solidFill>
                  <a:srgbClr val="FFFFFF"/>
                </a:solidFill>
                <a:latin typeface="Calibri"/>
              </a:rPr>
              <a:t>YAML soc sections</a:t>
            </a:r>
          </a:p>
        </p:txBody>
      </p:sp>
      <p:cxnSp>
        <p:nvCxnSpPr>
          <p:cNvPr id="23" name="Connector 22"/>
          <p:cNvCxnSpPr/>
          <p:nvPr/>
        </p:nvCxnSpPr>
        <p:spPr>
          <a:xfrm>
            <a:off x="2245766" y="5824728"/>
            <a:ext cx="201168" cy="0"/>
          </a:xfrm>
          <a:prstGeom prst="line">
            <a:avLst/>
          </a:prstGeom>
          <a:ln w="1587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pill"/>
          <p:cNvSpPr/>
          <p:nvPr/>
        </p:nvSpPr>
        <p:spPr>
          <a:xfrm>
            <a:off x="2474366" y="5669280"/>
            <a:ext cx="1486814" cy="3108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a:solidFill>
                  <a:srgbClr val="FFFFFF"/>
                </a:solidFill>
                <a:latin typeface="Calibri"/>
              </a:rPr>
              <a:t>make soc-manifest</a:t>
            </a:r>
          </a:p>
        </p:txBody>
      </p:sp>
      <p:cxnSp>
        <p:nvCxnSpPr>
          <p:cNvPr id="25" name="Connector 24"/>
          <p:cNvCxnSpPr/>
          <p:nvPr/>
        </p:nvCxnSpPr>
        <p:spPr>
          <a:xfrm>
            <a:off x="3988612" y="5824728"/>
            <a:ext cx="201168" cy="0"/>
          </a:xfrm>
          <a:prstGeom prst="line">
            <a:avLst/>
          </a:prstGeom>
          <a:ln w="1587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pill"/>
          <p:cNvSpPr/>
          <p:nvPr/>
        </p:nvSpPr>
        <p:spPr>
          <a:xfrm>
            <a:off x="4217212" y="5669280"/>
            <a:ext cx="1201521" cy="310896"/>
          </a:xfrm>
          <a:prstGeom prst="roundRect">
            <a:avLst>
              <a:gd name="adj" fmla="val 50000"/>
            </a:avLst>
          </a:prstGeom>
          <a:solidFill>
            <a:srgbClr val="0F2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a:solidFill>
                  <a:srgbClr val="FFFFFF"/>
                </a:solidFill>
                <a:latin typeface="Calibri"/>
              </a:rPr>
              <a:t>manifest.json</a:t>
            </a:r>
          </a:p>
        </p:txBody>
      </p:sp>
      <p:cxnSp>
        <p:nvCxnSpPr>
          <p:cNvPr id="27" name="Connector 26"/>
          <p:cNvCxnSpPr/>
          <p:nvPr/>
        </p:nvCxnSpPr>
        <p:spPr>
          <a:xfrm>
            <a:off x="5446166" y="5824728"/>
            <a:ext cx="201168" cy="0"/>
          </a:xfrm>
          <a:prstGeom prst="line">
            <a:avLst/>
          </a:prstGeom>
          <a:ln w="1587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pill"/>
          <p:cNvSpPr/>
          <p:nvPr/>
        </p:nvSpPr>
        <p:spPr>
          <a:xfrm>
            <a:off x="5674766" y="5669280"/>
            <a:ext cx="1843430" cy="310896"/>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a:solidFill>
                  <a:srgbClr val="FFFFFF"/>
                </a:solidFill>
                <a:latin typeface="Calibri"/>
              </a:rPr>
              <a:t>propel_replay_manifest</a:t>
            </a:r>
          </a:p>
        </p:txBody>
      </p:sp>
      <p:cxnSp>
        <p:nvCxnSpPr>
          <p:cNvPr id="29" name="Connector 28"/>
          <p:cNvCxnSpPr/>
          <p:nvPr/>
        </p:nvCxnSpPr>
        <p:spPr>
          <a:xfrm>
            <a:off x="7545628" y="5824728"/>
            <a:ext cx="201168" cy="0"/>
          </a:xfrm>
          <a:prstGeom prst="line">
            <a:avLst/>
          </a:prstGeom>
          <a:ln w="1587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pill"/>
          <p:cNvSpPr/>
          <p:nvPr/>
        </p:nvSpPr>
        <p:spPr>
          <a:xfrm>
            <a:off x="7774228" y="5669280"/>
            <a:ext cx="1272844" cy="310896"/>
          </a:xfrm>
          <a:prstGeom prst="roundRect">
            <a:avLst>
              <a:gd name="adj" fmla="val 5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a:solidFill>
                  <a:srgbClr val="FFFFFF"/>
                </a:solidFill>
                <a:latin typeface="Calibri"/>
              </a:rPr>
              <a:t>Propel session</a:t>
            </a:r>
          </a:p>
        </p:txBody>
      </p:sp>
      <p:cxnSp>
        <p:nvCxnSpPr>
          <p:cNvPr id="31" name="Connector 30"/>
          <p:cNvCxnSpPr/>
          <p:nvPr/>
        </p:nvCxnSpPr>
        <p:spPr>
          <a:xfrm>
            <a:off x="9074505" y="5824728"/>
            <a:ext cx="201168" cy="0"/>
          </a:xfrm>
          <a:prstGeom prst="line">
            <a:avLst/>
          </a:prstGeom>
          <a:ln w="1587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pill"/>
          <p:cNvSpPr/>
          <p:nvPr/>
        </p:nvSpPr>
        <p:spPr>
          <a:xfrm>
            <a:off x="9303105" y="5669280"/>
            <a:ext cx="2200046" cy="310896"/>
          </a:xfrm>
          <a:prstGeom prst="roundRect">
            <a:avLst>
              <a:gd name="adj" fmla="val 50000"/>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a:solidFill>
                  <a:srgbClr val="FFFFFF"/>
                </a:solidFill>
                <a:latin typeface="Calibri"/>
              </a:rPr>
              <a:t>propel_compare_sbx_manifest</a:t>
            </a:r>
          </a:p>
        </p:txBody>
      </p:sp>
      <p:sp>
        <p:nvSpPr>
          <p:cNvPr id="33" name="TextBox 32"/>
          <p:cNvSpPr txBox="1"/>
          <p:nvPr/>
        </p:nvSpPr>
        <p:spPr>
          <a:xfrm>
            <a:off x="731520" y="6035040"/>
            <a:ext cx="10881360" cy="411480"/>
          </a:xfrm>
          <a:prstGeom prst="rect">
            <a:avLst/>
          </a:prstGeom>
          <a:noFill/>
        </p:spPr>
        <p:txBody>
          <a:bodyPr wrap="square" lIns="0" rIns="0" tIns="0" bIns="0" anchor="t">
            <a:spAutoFit/>
          </a:bodyPr>
          <a:lstStyle/>
          <a:p>
            <a:pPr algn="l"/>
            <a:r>
              <a:rPr sz="1050" b="0" i="1">
                <a:solidFill>
                  <a:srgbClr val="6C8EA4"/>
                </a:solidFill>
                <a:latin typeface="Calibri"/>
              </a:rPr>
              <a:t>P5: the SoC is declared in the YAML, the manifest is generated, lattice-cortex replays it into Propel and compares an existing .sbx against it; the window base and size reach the firmware headers, the Propel address segment and the manifest from the same declaration.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What you gain, and how it is measured</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20</a:t>
            </a:r>
          </a:p>
        </p:txBody>
      </p:sp>
      <p:sp>
        <p:nvSpPr>
          <p:cNvPr id="5" name="card"/>
          <p:cNvSpPr/>
          <p:nvPr/>
        </p:nvSpPr>
        <p:spPr>
          <a:xfrm>
            <a:off x="548640" y="1325880"/>
            <a:ext cx="5394960" cy="20116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p:cNvSpPr/>
          <p:nvPr/>
        </p:nvSpPr>
        <p:spPr>
          <a:xfrm>
            <a:off x="777240" y="1554480"/>
            <a:ext cx="594360" cy="59436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800" b="1" i="0">
                <a:solidFill>
                  <a:srgbClr val="FFFFFF"/>
                </a:solidFill>
                <a:latin typeface="Cambria"/>
              </a:rPr>
              <a:t>1</a:t>
            </a:r>
          </a:p>
        </p:txBody>
      </p:sp>
      <p:sp>
        <p:nvSpPr>
          <p:cNvPr id="7" name="TextBox 6"/>
          <p:cNvSpPr txBox="1"/>
          <p:nvPr/>
        </p:nvSpPr>
        <p:spPr>
          <a:xfrm>
            <a:off x="1554480" y="1627632"/>
            <a:ext cx="4206240" cy="411480"/>
          </a:xfrm>
          <a:prstGeom prst="rect">
            <a:avLst/>
          </a:prstGeom>
          <a:noFill/>
        </p:spPr>
        <p:txBody>
          <a:bodyPr wrap="square" lIns="0" rIns="0" tIns="0" bIns="0" anchor="t">
            <a:spAutoFit/>
          </a:bodyPr>
          <a:lstStyle/>
          <a:p>
            <a:pPr algn="l"/>
            <a:r>
              <a:rPr sz="1600" b="1" i="0">
                <a:solidFill>
                  <a:srgbClr val="1B2430"/>
                </a:solidFill>
                <a:latin typeface="Calibri"/>
              </a:rPr>
              <a:t>Facts instead of recollection</a:t>
            </a:r>
          </a:p>
        </p:txBody>
      </p:sp>
      <p:sp>
        <p:nvSpPr>
          <p:cNvPr id="8" name="TextBox 7"/>
          <p:cNvSpPr txBox="1"/>
          <p:nvPr/>
        </p:nvSpPr>
        <p:spPr>
          <a:xfrm>
            <a:off x="777240" y="2286000"/>
            <a:ext cx="4937760" cy="640080"/>
          </a:xfrm>
          <a:prstGeom prst="rect">
            <a:avLst/>
          </a:prstGeom>
          <a:noFill/>
        </p:spPr>
        <p:txBody>
          <a:bodyPr wrap="square" lIns="0" rIns="0" tIns="0" bIns="0" anchor="t">
            <a:spAutoFit/>
          </a:bodyPr>
          <a:lstStyle/>
          <a:p>
            <a:pPr algn="l"/>
            <a:r>
              <a:rPr sz="1200" b="0" i="0">
                <a:solidFill>
                  <a:srgbClr val="1B2430"/>
                </a:solidFill>
                <a:latin typeface="Calibri"/>
              </a:rPr>
              <a:t>Every value taken from the base carries a file and line; a register, a clock, a pin is cited, not remembered.</a:t>
            </a:r>
          </a:p>
        </p:txBody>
      </p:sp>
      <p:sp>
        <p:nvSpPr>
          <p:cNvPr id="9" name="TextBox 8"/>
          <p:cNvSpPr txBox="1"/>
          <p:nvPr/>
        </p:nvSpPr>
        <p:spPr>
          <a:xfrm>
            <a:off x="777240" y="2926080"/>
            <a:ext cx="4937760" cy="320040"/>
          </a:xfrm>
          <a:prstGeom prst="rect">
            <a:avLst/>
          </a:prstGeom>
          <a:noFill/>
        </p:spPr>
        <p:txBody>
          <a:bodyPr wrap="square" lIns="0" rIns="0" tIns="0" bIns="0" anchor="t">
            <a:spAutoFit/>
          </a:bodyPr>
          <a:lstStyle/>
          <a:p>
            <a:pPr algn="l"/>
            <a:r>
              <a:rPr sz="1050" b="0" i="1">
                <a:solidFill>
                  <a:srgbClr val="6C8EA4"/>
                </a:solidFill>
                <a:latin typeface="Calibri"/>
              </a:rPr>
              <a:t>measure: entries_selected, register_evidence</a:t>
            </a:r>
          </a:p>
        </p:txBody>
      </p:sp>
      <p:sp>
        <p:nvSpPr>
          <p:cNvPr id="10" name="card"/>
          <p:cNvSpPr/>
          <p:nvPr/>
        </p:nvSpPr>
        <p:spPr>
          <a:xfrm>
            <a:off x="6217920" y="1325880"/>
            <a:ext cx="5394960" cy="20116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con"/>
          <p:cNvSpPr/>
          <p:nvPr/>
        </p:nvSpPr>
        <p:spPr>
          <a:xfrm>
            <a:off x="6446520" y="1554480"/>
            <a:ext cx="594360" cy="59436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800" b="1" i="0">
                <a:solidFill>
                  <a:srgbClr val="FFFFFF"/>
                </a:solidFill>
                <a:latin typeface="Cambria"/>
              </a:rPr>
              <a:t>2</a:t>
            </a:r>
          </a:p>
        </p:txBody>
      </p:sp>
      <p:sp>
        <p:nvSpPr>
          <p:cNvPr id="12" name="TextBox 11"/>
          <p:cNvSpPr txBox="1"/>
          <p:nvPr/>
        </p:nvSpPr>
        <p:spPr>
          <a:xfrm>
            <a:off x="7223760" y="1627632"/>
            <a:ext cx="4206240" cy="411480"/>
          </a:xfrm>
          <a:prstGeom prst="rect">
            <a:avLst/>
          </a:prstGeom>
          <a:noFill/>
        </p:spPr>
        <p:txBody>
          <a:bodyPr wrap="square" lIns="0" rIns="0" tIns="0" bIns="0" anchor="t">
            <a:spAutoFit/>
          </a:bodyPr>
          <a:lstStyle/>
          <a:p>
            <a:pPr algn="l"/>
            <a:r>
              <a:rPr sz="1600" b="1" i="0">
                <a:solidFill>
                  <a:srgbClr val="1B2430"/>
                </a:solidFill>
                <a:latin typeface="Calibri"/>
              </a:rPr>
              <a:t>Fewer correction loops</a:t>
            </a:r>
          </a:p>
        </p:txBody>
      </p:sp>
      <p:sp>
        <p:nvSpPr>
          <p:cNvPr id="13" name="TextBox 12"/>
          <p:cNvSpPr txBox="1"/>
          <p:nvPr/>
        </p:nvSpPr>
        <p:spPr>
          <a:xfrm>
            <a:off x="6446520" y="2286000"/>
            <a:ext cx="4937760" cy="640080"/>
          </a:xfrm>
          <a:prstGeom prst="rect">
            <a:avLst/>
          </a:prstGeom>
          <a:noFill/>
        </p:spPr>
        <p:txBody>
          <a:bodyPr wrap="square" lIns="0" rIns="0" tIns="0" bIns="0" anchor="t">
            <a:spAutoFit/>
          </a:bodyPr>
          <a:lstStyle/>
          <a:p>
            <a:pPr algn="l"/>
            <a:r>
              <a:rPr sz="1200" b="0" i="0">
                <a:solidFill>
                  <a:srgbClr val="1B2430"/>
                </a:solidFill>
                <a:latin typeface="Calibri"/>
              </a:rPr>
              <a:t>Known-good IP parameters, constraints and anti-pattern checks catch the mistakes before synthesis.</a:t>
            </a:r>
          </a:p>
        </p:txBody>
      </p:sp>
      <p:sp>
        <p:nvSpPr>
          <p:cNvPr id="14" name="TextBox 13"/>
          <p:cNvSpPr txBox="1"/>
          <p:nvPr/>
        </p:nvSpPr>
        <p:spPr>
          <a:xfrm>
            <a:off x="6446520" y="2926080"/>
            <a:ext cx="4937760" cy="320040"/>
          </a:xfrm>
          <a:prstGeom prst="rect">
            <a:avLst/>
          </a:prstGeom>
          <a:noFill/>
        </p:spPr>
        <p:txBody>
          <a:bodyPr wrap="square" lIns="0" rIns="0" tIns="0" bIns="0" anchor="t">
            <a:spAutoFit/>
          </a:bodyPr>
          <a:lstStyle/>
          <a:p>
            <a:pPr algn="l"/>
            <a:r>
              <a:rPr sz="1050" b="0" i="1">
                <a:solidFill>
                  <a:srgbClr val="6C8EA4"/>
                </a:solidFill>
                <a:latin typeface="Calibri"/>
              </a:rPr>
              <a:t>measure: correction_iterations, lint_clean, timing_closure</a:t>
            </a:r>
          </a:p>
        </p:txBody>
      </p:sp>
      <p:sp>
        <p:nvSpPr>
          <p:cNvPr id="15" name="card"/>
          <p:cNvSpPr/>
          <p:nvPr/>
        </p:nvSpPr>
        <p:spPr>
          <a:xfrm>
            <a:off x="548640" y="3566160"/>
            <a:ext cx="5394960" cy="20116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
          <p:cNvSpPr/>
          <p:nvPr/>
        </p:nvSpPr>
        <p:spPr>
          <a:xfrm>
            <a:off x="777240" y="3794760"/>
            <a:ext cx="594360" cy="59436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800" b="1" i="0">
                <a:solidFill>
                  <a:srgbClr val="FFFFFF"/>
                </a:solidFill>
                <a:latin typeface="Cambria"/>
              </a:rPr>
              <a:t>3</a:t>
            </a:r>
          </a:p>
        </p:txBody>
      </p:sp>
      <p:sp>
        <p:nvSpPr>
          <p:cNvPr id="17" name="TextBox 16"/>
          <p:cNvSpPr txBox="1"/>
          <p:nvPr/>
        </p:nvSpPr>
        <p:spPr>
          <a:xfrm>
            <a:off x="1554480" y="3867912"/>
            <a:ext cx="4206240" cy="411480"/>
          </a:xfrm>
          <a:prstGeom prst="rect">
            <a:avLst/>
          </a:prstGeom>
          <a:noFill/>
        </p:spPr>
        <p:txBody>
          <a:bodyPr wrap="square" lIns="0" rIns="0" tIns="0" bIns="0" anchor="t">
            <a:spAutoFit/>
          </a:bodyPr>
          <a:lstStyle/>
          <a:p>
            <a:pPr algn="l"/>
            <a:r>
              <a:rPr sz="1600" b="1" i="0">
                <a:solidFill>
                  <a:srgbClr val="1B2430"/>
                </a:solidFill>
                <a:latin typeface="Calibri"/>
              </a:rPr>
              <a:t>A restartable record</a:t>
            </a:r>
          </a:p>
        </p:txBody>
      </p:sp>
      <p:sp>
        <p:nvSpPr>
          <p:cNvPr id="18" name="TextBox 17"/>
          <p:cNvSpPr txBox="1"/>
          <p:nvPr/>
        </p:nvSpPr>
        <p:spPr>
          <a:xfrm>
            <a:off x="777240" y="4526280"/>
            <a:ext cx="4937760" cy="640080"/>
          </a:xfrm>
          <a:prstGeom prst="rect">
            <a:avLst/>
          </a:prstGeom>
          <a:noFill/>
        </p:spPr>
        <p:txBody>
          <a:bodyPr wrap="square" lIns="0" rIns="0" tIns="0" bIns="0" anchor="t">
            <a:spAutoFit/>
          </a:bodyPr>
          <a:lstStyle/>
          <a:p>
            <a:pPr algn="l"/>
            <a:r>
              <a:rPr sz="1200" b="0" i="0">
                <a:solidFill>
                  <a:srgbClr val="1B2430"/>
                </a:solidFill>
                <a:latin typeface="Calibri"/>
              </a:rPr>
              <a:t>Any colleague or a later session continues from design/ without re-deriving the decisions.</a:t>
            </a:r>
          </a:p>
        </p:txBody>
      </p:sp>
      <p:sp>
        <p:nvSpPr>
          <p:cNvPr id="19" name="TextBox 18"/>
          <p:cNvSpPr txBox="1"/>
          <p:nvPr/>
        </p:nvSpPr>
        <p:spPr>
          <a:xfrm>
            <a:off x="777240" y="5166360"/>
            <a:ext cx="4937760" cy="320040"/>
          </a:xfrm>
          <a:prstGeom prst="rect">
            <a:avLst/>
          </a:prstGeom>
          <a:noFill/>
        </p:spPr>
        <p:txBody>
          <a:bodyPr wrap="square" lIns="0" rIns="0" tIns="0" bIns="0" anchor="t">
            <a:spAutoFit/>
          </a:bodyPr>
          <a:lstStyle/>
          <a:p>
            <a:pPr algn="l"/>
            <a:r>
              <a:rPr sz="1050" b="0" i="1">
                <a:solidFill>
                  <a:srgbClr val="6C8EA4"/>
                </a:solidFill>
                <a:latin typeface="Calibri"/>
              </a:rPr>
              <a:t>measure: records_complete, rules_followed</a:t>
            </a:r>
          </a:p>
        </p:txBody>
      </p:sp>
      <p:sp>
        <p:nvSpPr>
          <p:cNvPr id="20" name="card"/>
          <p:cNvSpPr/>
          <p:nvPr/>
        </p:nvSpPr>
        <p:spPr>
          <a:xfrm>
            <a:off x="6217920" y="3566160"/>
            <a:ext cx="5394960" cy="201168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con"/>
          <p:cNvSpPr/>
          <p:nvPr/>
        </p:nvSpPr>
        <p:spPr>
          <a:xfrm>
            <a:off x="6446520" y="3794760"/>
            <a:ext cx="594360" cy="59436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800" b="1" i="0">
                <a:solidFill>
                  <a:srgbClr val="FFFFFF"/>
                </a:solidFill>
                <a:latin typeface="Cambria"/>
              </a:rPr>
              <a:t>4</a:t>
            </a:r>
          </a:p>
        </p:txBody>
      </p:sp>
      <p:sp>
        <p:nvSpPr>
          <p:cNvPr id="22" name="TextBox 21"/>
          <p:cNvSpPr txBox="1"/>
          <p:nvPr/>
        </p:nvSpPr>
        <p:spPr>
          <a:xfrm>
            <a:off x="7223760" y="3867912"/>
            <a:ext cx="4206240" cy="411480"/>
          </a:xfrm>
          <a:prstGeom prst="rect">
            <a:avLst/>
          </a:prstGeom>
          <a:noFill/>
        </p:spPr>
        <p:txBody>
          <a:bodyPr wrap="square" lIns="0" rIns="0" tIns="0" bIns="0" anchor="t">
            <a:spAutoFit/>
          </a:bodyPr>
          <a:lstStyle/>
          <a:p>
            <a:pPr algn="l"/>
            <a:r>
              <a:rPr sz="1600" b="1" i="0">
                <a:solidFill>
                  <a:srgbClr val="1B2430"/>
                </a:solidFill>
                <a:latin typeface="Calibri"/>
              </a:rPr>
              <a:t>Generated boilerplate, simulated early</a:t>
            </a:r>
          </a:p>
        </p:txBody>
      </p:sp>
      <p:sp>
        <p:nvSpPr>
          <p:cNvPr id="23" name="TextBox 22"/>
          <p:cNvSpPr txBox="1"/>
          <p:nvPr/>
        </p:nvSpPr>
        <p:spPr>
          <a:xfrm>
            <a:off x="6446520" y="4526280"/>
            <a:ext cx="4937760" cy="640080"/>
          </a:xfrm>
          <a:prstGeom prst="rect">
            <a:avLst/>
          </a:prstGeom>
          <a:noFill/>
        </p:spPr>
        <p:txBody>
          <a:bodyPr wrap="square" lIns="0" rIns="0" tIns="0" bIns="0" anchor="t">
            <a:spAutoFit/>
          </a:bodyPr>
          <a:lstStyle/>
          <a:p>
            <a:pPr algn="l"/>
            <a:r>
              <a:rPr sz="1200" b="0" i="0">
                <a:solidFill>
                  <a:srgbClr val="1B2430"/>
                </a:solidFill>
                <a:latin typeface="Calibri"/>
              </a:rPr>
              <a:t>Skeletons, decode, models, stubs and headers from one YAML; the register-access test before Gate 3.</a:t>
            </a:r>
          </a:p>
        </p:txBody>
      </p:sp>
      <p:sp>
        <p:nvSpPr>
          <p:cNvPr id="24" name="TextBox 23"/>
          <p:cNvSpPr txBox="1"/>
          <p:nvPr/>
        </p:nvSpPr>
        <p:spPr>
          <a:xfrm>
            <a:off x="6446520" y="5166360"/>
            <a:ext cx="4937760" cy="320040"/>
          </a:xfrm>
          <a:prstGeom prst="rect">
            <a:avLst/>
          </a:prstGeom>
          <a:noFill/>
        </p:spPr>
        <p:txBody>
          <a:bodyPr wrap="square" lIns="0" rIns="0" tIns="0" bIns="0" anchor="t">
            <a:spAutoFit/>
          </a:bodyPr>
          <a:lstStyle/>
          <a:p>
            <a:pPr algn="l"/>
            <a:r>
              <a:rPr sz="1050" b="0" i="1">
                <a:solidFill>
                  <a:srgbClr val="6C8EA4"/>
                </a:solidFill>
                <a:latin typeface="Calibri"/>
              </a:rPr>
              <a:t>measure: simulation_pass, reg_access_pass</a:t>
            </a:r>
          </a:p>
        </p:txBody>
      </p:sp>
      <p:sp>
        <p:nvSpPr>
          <p:cNvPr id="25" name="TextBox 24"/>
          <p:cNvSpPr txBox="1"/>
          <p:nvPr/>
        </p:nvSpPr>
        <p:spPr>
          <a:xfrm>
            <a:off x="548640" y="5852160"/>
            <a:ext cx="11064240" cy="365760"/>
          </a:xfrm>
          <a:prstGeom prst="rect">
            <a:avLst/>
          </a:prstGeom>
          <a:noFill/>
        </p:spPr>
        <p:txBody>
          <a:bodyPr wrap="square" lIns="0" rIns="0" tIns="0" bIns="0" anchor="t">
            <a:spAutoFit/>
          </a:bodyPr>
          <a:lstStyle/>
          <a:p>
            <a:pPr algn="l"/>
            <a:r>
              <a:rPr sz="1200" b="0" i="1">
                <a:solidFill>
                  <a:srgbClr val="6C8EA4"/>
                </a:solidFill>
                <a:latin typeface="Calibri"/>
              </a:rPr>
              <a:t>Suite metric: knowledge-base lift = pass rate in kb mode minus pass rate in no_kb mode, per task tier.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What you give back, and how little it costs</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21</a:t>
            </a:r>
          </a:p>
        </p:txBody>
      </p:sp>
      <p:sp>
        <p:nvSpPr>
          <p:cNvPr id="5" name="icon"/>
          <p:cNvSpPr/>
          <p:nvPr/>
        </p:nvSpPr>
        <p:spPr>
          <a:xfrm>
            <a:off x="1508760" y="141732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400" b="1" i="0">
                <a:solidFill>
                  <a:srgbClr val="FFFFFF"/>
                </a:solidFill>
                <a:latin typeface="Cambria"/>
              </a:rPr>
              <a:t>1</a:t>
            </a:r>
          </a:p>
        </p:txBody>
      </p:sp>
      <p:sp>
        <p:nvSpPr>
          <p:cNvPr id="6" name="TextBox 5"/>
          <p:cNvSpPr txBox="1"/>
          <p:nvPr/>
        </p:nvSpPr>
        <p:spPr>
          <a:xfrm>
            <a:off x="548640" y="2286000"/>
            <a:ext cx="2651760" cy="365760"/>
          </a:xfrm>
          <a:prstGeom prst="rect">
            <a:avLst/>
          </a:prstGeom>
          <a:noFill/>
        </p:spPr>
        <p:txBody>
          <a:bodyPr wrap="square" lIns="0" rIns="0" tIns="0" bIns="0" anchor="t">
            <a:spAutoFit/>
          </a:bodyPr>
          <a:lstStyle/>
          <a:p>
            <a:pPr algn="ctr"/>
            <a:r>
              <a:rPr sz="1500" b="1" i="0">
                <a:solidFill>
                  <a:srgbClr val="1B2430"/>
                </a:solidFill>
                <a:latin typeface="Calibri"/>
              </a:rPr>
              <a:t>Run the flow</a:t>
            </a:r>
          </a:p>
        </p:txBody>
      </p:sp>
      <p:sp>
        <p:nvSpPr>
          <p:cNvPr id="7" name="TextBox 6"/>
          <p:cNvSpPr txBox="1"/>
          <p:nvPr/>
        </p:nvSpPr>
        <p:spPr>
          <a:xfrm>
            <a:off x="640080" y="2651760"/>
            <a:ext cx="2468880" cy="914400"/>
          </a:xfrm>
          <a:prstGeom prst="rect">
            <a:avLst/>
          </a:prstGeom>
          <a:noFill/>
        </p:spPr>
        <p:txBody>
          <a:bodyPr wrap="square" lIns="0" rIns="0" tIns="0" bIns="0" anchor="t">
            <a:spAutoFit/>
          </a:bodyPr>
          <a:lstStyle/>
          <a:p>
            <a:pPr algn="ctr"/>
            <a:r>
              <a:rPr sz="1150" b="0" i="0">
                <a:solidFill>
                  <a:srgbClr val="1B2430"/>
                </a:solidFill>
                <a:latin typeface="Calibri"/>
              </a:rPr>
              <a:t>the records under design/ are already most of the capture</a:t>
            </a:r>
          </a:p>
        </p:txBody>
      </p:sp>
      <p:cxnSp>
        <p:nvCxnSpPr>
          <p:cNvPr id="8" name="Connector 7"/>
          <p:cNvCxnSpPr/>
          <p:nvPr/>
        </p:nvCxnSpPr>
        <p:spPr>
          <a:xfrm>
            <a:off x="2377440" y="1783080"/>
            <a:ext cx="914400"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icon"/>
          <p:cNvSpPr/>
          <p:nvPr/>
        </p:nvSpPr>
        <p:spPr>
          <a:xfrm>
            <a:off x="4343400" y="141732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400" b="1" i="0">
                <a:solidFill>
                  <a:srgbClr val="FFFFFF"/>
                </a:solidFill>
                <a:latin typeface="Cambria"/>
              </a:rPr>
              <a:t>2</a:t>
            </a:r>
          </a:p>
        </p:txBody>
      </p:sp>
      <p:sp>
        <p:nvSpPr>
          <p:cNvPr id="10" name="TextBox 9"/>
          <p:cNvSpPr txBox="1"/>
          <p:nvPr/>
        </p:nvSpPr>
        <p:spPr>
          <a:xfrm>
            <a:off x="3383280" y="2286000"/>
            <a:ext cx="2651760" cy="365760"/>
          </a:xfrm>
          <a:prstGeom prst="rect">
            <a:avLst/>
          </a:prstGeom>
          <a:noFill/>
        </p:spPr>
        <p:txBody>
          <a:bodyPr wrap="square" lIns="0" rIns="0" tIns="0" bIns="0" anchor="t">
            <a:spAutoFit/>
          </a:bodyPr>
          <a:lstStyle/>
          <a:p>
            <a:pPr algn="ctr"/>
            <a:r>
              <a:rPr sz="1500" b="1" i="0">
                <a:solidFill>
                  <a:srgbClr val="1B2430"/>
                </a:solidFill>
                <a:latin typeface="Calibri"/>
              </a:rPr>
              <a:t>Answer at export</a:t>
            </a:r>
          </a:p>
        </p:txBody>
      </p:sp>
      <p:sp>
        <p:nvSpPr>
          <p:cNvPr id="11" name="TextBox 10"/>
          <p:cNvSpPr txBox="1"/>
          <p:nvPr/>
        </p:nvSpPr>
        <p:spPr>
          <a:xfrm>
            <a:off x="3474720" y="2651760"/>
            <a:ext cx="2468880" cy="914400"/>
          </a:xfrm>
          <a:prstGeom prst="rect">
            <a:avLst/>
          </a:prstGeom>
          <a:noFill/>
        </p:spPr>
        <p:txBody>
          <a:bodyPr wrap="square" lIns="0" rIns="0" tIns="0" bIns="0" anchor="t">
            <a:spAutoFit/>
          </a:bodyPr>
          <a:lstStyle/>
          <a:p>
            <a:pPr algn="ctr"/>
            <a:r>
              <a:rPr sz="1150" b="0" i="0">
                <a:solidFill>
                  <a:srgbClr val="1B2430"/>
                </a:solidFill>
                <a:latin typeface="Calibri"/>
              </a:rPr>
              <a:t>sources in or out, license findings, gaps accepted with reasons, deviations, proposed patterns</a:t>
            </a:r>
          </a:p>
        </p:txBody>
      </p:sp>
      <p:cxnSp>
        <p:nvCxnSpPr>
          <p:cNvPr id="12" name="Connector 11"/>
          <p:cNvCxnSpPr/>
          <p:nvPr/>
        </p:nvCxnSpPr>
        <p:spPr>
          <a:xfrm>
            <a:off x="5212080" y="1783080"/>
            <a:ext cx="914400"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icon"/>
          <p:cNvSpPr/>
          <p:nvPr/>
        </p:nvSpPr>
        <p:spPr>
          <a:xfrm>
            <a:off x="7178040" y="141732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400" b="1" i="0">
                <a:solidFill>
                  <a:srgbClr val="FFFFFF"/>
                </a:solidFill>
                <a:latin typeface="Cambria"/>
              </a:rPr>
              <a:t>3</a:t>
            </a:r>
          </a:p>
        </p:txBody>
      </p:sp>
      <p:sp>
        <p:nvSpPr>
          <p:cNvPr id="14" name="TextBox 13"/>
          <p:cNvSpPr txBox="1"/>
          <p:nvPr/>
        </p:nvSpPr>
        <p:spPr>
          <a:xfrm>
            <a:off x="6217920" y="2286000"/>
            <a:ext cx="2651760" cy="365760"/>
          </a:xfrm>
          <a:prstGeom prst="rect">
            <a:avLst/>
          </a:prstGeom>
          <a:noFill/>
        </p:spPr>
        <p:txBody>
          <a:bodyPr wrap="square" lIns="0" rIns="0" tIns="0" bIns="0" anchor="t">
            <a:spAutoFit/>
          </a:bodyPr>
          <a:lstStyle/>
          <a:p>
            <a:pPr algn="ctr"/>
            <a:r>
              <a:rPr sz="1500" b="1" i="0">
                <a:solidFill>
                  <a:srgbClr val="1B2430"/>
                </a:solidFill>
                <a:latin typeface="Calibri"/>
              </a:rPr>
              <a:t>Open the pull request</a:t>
            </a:r>
          </a:p>
        </p:txBody>
      </p:sp>
      <p:sp>
        <p:nvSpPr>
          <p:cNvPr id="15" name="TextBox 14"/>
          <p:cNvSpPr txBox="1"/>
          <p:nvPr/>
        </p:nvSpPr>
        <p:spPr>
          <a:xfrm>
            <a:off x="6309359" y="2651760"/>
            <a:ext cx="2468880" cy="914400"/>
          </a:xfrm>
          <a:prstGeom prst="rect">
            <a:avLst/>
          </a:prstGeom>
          <a:noFill/>
        </p:spPr>
        <p:txBody>
          <a:bodyPr wrap="square" lIns="0" rIns="0" tIns="0" bIns="0" anchor="t">
            <a:spAutoFit/>
          </a:bodyPr>
          <a:lstStyle/>
          <a:p>
            <a:pPr algn="ctr"/>
            <a:r>
              <a:rPr sz="1150" b="0" i="0">
                <a:solidFill>
                  <a:srgbClr val="1B2430"/>
                </a:solidFill>
                <a:latin typeface="Calibri"/>
              </a:rPr>
              <a:t>kb_author_submit opens it; a reviewer answers maturity and governance once</a:t>
            </a:r>
          </a:p>
        </p:txBody>
      </p:sp>
      <p:cxnSp>
        <p:nvCxnSpPr>
          <p:cNvPr id="16" name="Connector 15"/>
          <p:cNvCxnSpPr/>
          <p:nvPr/>
        </p:nvCxnSpPr>
        <p:spPr>
          <a:xfrm>
            <a:off x="8046720" y="1783080"/>
            <a:ext cx="914400" cy="0"/>
          </a:xfrm>
          <a:prstGeom prst="line">
            <a:avLst/>
          </a:prstGeom>
          <a:ln w="22225">
            <a:solidFill>
              <a:srgbClr val="6C8EA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icon"/>
          <p:cNvSpPr/>
          <p:nvPr/>
        </p:nvSpPr>
        <p:spPr>
          <a:xfrm>
            <a:off x="10012680" y="141732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400" b="1" i="0">
                <a:solidFill>
                  <a:srgbClr val="FFFFFF"/>
                </a:solidFill>
                <a:latin typeface="Cambria"/>
              </a:rPr>
              <a:t>4</a:t>
            </a:r>
          </a:p>
        </p:txBody>
      </p:sp>
      <p:sp>
        <p:nvSpPr>
          <p:cNvPr id="18" name="TextBox 17"/>
          <p:cNvSpPr txBox="1"/>
          <p:nvPr/>
        </p:nvSpPr>
        <p:spPr>
          <a:xfrm>
            <a:off x="9052560" y="2286000"/>
            <a:ext cx="2651760" cy="365760"/>
          </a:xfrm>
          <a:prstGeom prst="rect">
            <a:avLst/>
          </a:prstGeom>
          <a:noFill/>
        </p:spPr>
        <p:txBody>
          <a:bodyPr wrap="square" lIns="0" rIns="0" tIns="0" bIns="0" anchor="t">
            <a:spAutoFit/>
          </a:bodyPr>
          <a:lstStyle/>
          <a:p>
            <a:pPr algn="ctr"/>
            <a:r>
              <a:rPr sz="1500" b="1" i="0">
                <a:solidFill>
                  <a:srgbClr val="1B2430"/>
                </a:solidFill>
                <a:latin typeface="Calibri"/>
              </a:rPr>
              <a:t>Let it refresh</a:t>
            </a:r>
          </a:p>
        </p:txBody>
      </p:sp>
      <p:sp>
        <p:nvSpPr>
          <p:cNvPr id="19" name="TextBox 18"/>
          <p:cNvSpPr txBox="1"/>
          <p:nvPr/>
        </p:nvSpPr>
        <p:spPr>
          <a:xfrm>
            <a:off x="9144000" y="2651760"/>
            <a:ext cx="2468880" cy="914400"/>
          </a:xfrm>
          <a:prstGeom prst="rect">
            <a:avLst/>
          </a:prstGeom>
          <a:noFill/>
        </p:spPr>
        <p:txBody>
          <a:bodyPr wrap="square" lIns="0" rIns="0" tIns="0" bIns="0" anchor="t">
            <a:spAutoFit/>
          </a:bodyPr>
          <a:lstStyle/>
          <a:p>
            <a:pPr algn="ctr"/>
            <a:r>
              <a:rPr sz="1150" b="0" i="0">
                <a:solidFill>
                  <a:srgbClr val="1B2430"/>
                </a:solidFill>
                <a:latin typeface="Calibri"/>
              </a:rPr>
              <a:t>linked designs rescan daily; derived updates merge on their own</a:t>
            </a:r>
          </a:p>
        </p:txBody>
      </p:sp>
      <p:sp>
        <p:nvSpPr>
          <p:cNvPr id="20" name="icon"/>
          <p:cNvSpPr/>
          <p:nvPr/>
        </p:nvSpPr>
        <p:spPr>
          <a:xfrm>
            <a:off x="548640" y="384048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D</a:t>
            </a:r>
          </a:p>
        </p:txBody>
      </p:sp>
      <p:sp>
        <p:nvSpPr>
          <p:cNvPr id="21" name="TextBox 20"/>
          <p:cNvSpPr txBox="1"/>
          <p:nvPr/>
        </p:nvSpPr>
        <p:spPr>
          <a:xfrm>
            <a:off x="1234440" y="3822192"/>
            <a:ext cx="2880360" cy="274320"/>
          </a:xfrm>
          <a:prstGeom prst="rect">
            <a:avLst/>
          </a:prstGeom>
          <a:noFill/>
        </p:spPr>
        <p:txBody>
          <a:bodyPr wrap="square" lIns="0" rIns="0" tIns="0" bIns="0" anchor="t">
            <a:spAutoFit/>
          </a:bodyPr>
          <a:lstStyle/>
          <a:p>
            <a:pPr algn="l"/>
            <a:r>
              <a:rPr sz="1400" b="1" i="0">
                <a:solidFill>
                  <a:srgbClr val="1B2430"/>
                </a:solidFill>
                <a:latin typeface="Calibri"/>
              </a:rPr>
              <a:t>A design</a:t>
            </a:r>
          </a:p>
        </p:txBody>
      </p:sp>
      <p:sp>
        <p:nvSpPr>
          <p:cNvPr id="22" name="TextBox 21"/>
          <p:cNvSpPr txBox="1"/>
          <p:nvPr/>
        </p:nvSpPr>
        <p:spPr>
          <a:xfrm>
            <a:off x="1234440" y="4096512"/>
            <a:ext cx="2880360" cy="457200"/>
          </a:xfrm>
          <a:prstGeom prst="rect">
            <a:avLst/>
          </a:prstGeom>
          <a:noFill/>
        </p:spPr>
        <p:txBody>
          <a:bodyPr wrap="square" lIns="0" rIns="0" tIns="0" bIns="0" anchor="t">
            <a:spAutoFit/>
          </a:bodyPr>
          <a:lstStyle/>
          <a:p>
            <a:pPr algn="l"/>
            <a:r>
              <a:rPr sz="1150" b="0" i="0">
                <a:solidFill>
                  <a:srgbClr val="1B2430"/>
                </a:solidFill>
                <a:latin typeface="Calibri"/>
              </a:rPr>
              <a:t>becomes a donor for the next variant</a:t>
            </a:r>
          </a:p>
        </p:txBody>
      </p:sp>
      <p:sp>
        <p:nvSpPr>
          <p:cNvPr id="23" name="icon"/>
          <p:cNvSpPr/>
          <p:nvPr/>
        </p:nvSpPr>
        <p:spPr>
          <a:xfrm>
            <a:off x="4297679" y="384048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M</a:t>
            </a:r>
          </a:p>
        </p:txBody>
      </p:sp>
      <p:sp>
        <p:nvSpPr>
          <p:cNvPr id="24" name="TextBox 23"/>
          <p:cNvSpPr txBox="1"/>
          <p:nvPr/>
        </p:nvSpPr>
        <p:spPr>
          <a:xfrm>
            <a:off x="4983479" y="3822192"/>
            <a:ext cx="2880360" cy="274320"/>
          </a:xfrm>
          <a:prstGeom prst="rect">
            <a:avLst/>
          </a:prstGeom>
          <a:noFill/>
        </p:spPr>
        <p:txBody>
          <a:bodyPr wrap="square" lIns="0" rIns="0" tIns="0" bIns="0" anchor="t">
            <a:spAutoFit/>
          </a:bodyPr>
          <a:lstStyle/>
          <a:p>
            <a:pPr algn="l"/>
            <a:r>
              <a:rPr sz="1400" b="1" i="0">
                <a:solidFill>
                  <a:srgbClr val="1B2430"/>
                </a:solidFill>
                <a:latin typeface="Calibri"/>
              </a:rPr>
              <a:t>A module</a:t>
            </a:r>
          </a:p>
        </p:txBody>
      </p:sp>
      <p:sp>
        <p:nvSpPr>
          <p:cNvPr id="25" name="TextBox 24"/>
          <p:cNvSpPr txBox="1"/>
          <p:nvPr/>
        </p:nvSpPr>
        <p:spPr>
          <a:xfrm>
            <a:off x="4983479" y="4096512"/>
            <a:ext cx="2880360" cy="457200"/>
          </a:xfrm>
          <a:prstGeom prst="rect">
            <a:avLst/>
          </a:prstGeom>
          <a:noFill/>
        </p:spPr>
        <p:txBody>
          <a:bodyPr wrap="square" lIns="0" rIns="0" tIns="0" bIns="0" anchor="t">
            <a:spAutoFit/>
          </a:bodyPr>
          <a:lstStyle/>
          <a:p>
            <a:pPr algn="l"/>
            <a:r>
              <a:rPr sz="1150" b="0" i="0">
                <a:solidFill>
                  <a:srgbClr val="1B2430"/>
                </a:solidFill>
                <a:latin typeface="Calibri"/>
              </a:rPr>
              <a:t>marked reusable, instantiated with attribution</a:t>
            </a:r>
          </a:p>
        </p:txBody>
      </p:sp>
      <p:sp>
        <p:nvSpPr>
          <p:cNvPr id="26" name="icon"/>
          <p:cNvSpPr/>
          <p:nvPr/>
        </p:nvSpPr>
        <p:spPr>
          <a:xfrm>
            <a:off x="8046719" y="384048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P</a:t>
            </a:r>
          </a:p>
        </p:txBody>
      </p:sp>
      <p:sp>
        <p:nvSpPr>
          <p:cNvPr id="27" name="TextBox 26"/>
          <p:cNvSpPr txBox="1"/>
          <p:nvPr/>
        </p:nvSpPr>
        <p:spPr>
          <a:xfrm>
            <a:off x="8732519" y="3822192"/>
            <a:ext cx="2880360" cy="274320"/>
          </a:xfrm>
          <a:prstGeom prst="rect">
            <a:avLst/>
          </a:prstGeom>
          <a:noFill/>
        </p:spPr>
        <p:txBody>
          <a:bodyPr wrap="square" lIns="0" rIns="0" tIns="0" bIns="0" anchor="t">
            <a:spAutoFit/>
          </a:bodyPr>
          <a:lstStyle/>
          <a:p>
            <a:pPr algn="l"/>
            <a:r>
              <a:rPr sz="1400" b="1" i="0">
                <a:solidFill>
                  <a:srgbClr val="1B2430"/>
                </a:solidFill>
                <a:latin typeface="Calibri"/>
              </a:rPr>
              <a:t>A pattern</a:t>
            </a:r>
          </a:p>
        </p:txBody>
      </p:sp>
      <p:sp>
        <p:nvSpPr>
          <p:cNvPr id="28" name="TextBox 27"/>
          <p:cNvSpPr txBox="1"/>
          <p:nvPr/>
        </p:nvSpPr>
        <p:spPr>
          <a:xfrm>
            <a:off x="8732519" y="4096512"/>
            <a:ext cx="2880360" cy="457200"/>
          </a:xfrm>
          <a:prstGeom prst="rect">
            <a:avLst/>
          </a:prstGeom>
          <a:noFill/>
        </p:spPr>
        <p:txBody>
          <a:bodyPr wrap="square" lIns="0" rIns="0" tIns="0" bIns="0" anchor="t">
            <a:spAutoFit/>
          </a:bodyPr>
          <a:lstStyle/>
          <a:p>
            <a:pPr algn="l"/>
            <a:r>
              <a:rPr sz="1150" b="0" i="0">
                <a:solidFill>
                  <a:srgbClr val="1B2430"/>
                </a:solidFill>
                <a:latin typeface="Calibri"/>
              </a:rPr>
              <a:t>an idiom that worked, or an anti-pattern to check</a:t>
            </a:r>
          </a:p>
        </p:txBody>
      </p:sp>
      <p:sp>
        <p:nvSpPr>
          <p:cNvPr id="29" name="icon"/>
          <p:cNvSpPr/>
          <p:nvPr/>
        </p:nvSpPr>
        <p:spPr>
          <a:xfrm>
            <a:off x="548640" y="493776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S</a:t>
            </a:r>
          </a:p>
        </p:txBody>
      </p:sp>
      <p:sp>
        <p:nvSpPr>
          <p:cNvPr id="30" name="TextBox 29"/>
          <p:cNvSpPr txBox="1"/>
          <p:nvPr/>
        </p:nvSpPr>
        <p:spPr>
          <a:xfrm>
            <a:off x="1234440" y="4919472"/>
            <a:ext cx="2880360" cy="274320"/>
          </a:xfrm>
          <a:prstGeom prst="rect">
            <a:avLst/>
          </a:prstGeom>
          <a:noFill/>
        </p:spPr>
        <p:txBody>
          <a:bodyPr wrap="square" lIns="0" rIns="0" tIns="0" bIns="0" anchor="t">
            <a:spAutoFit/>
          </a:bodyPr>
          <a:lstStyle/>
          <a:p>
            <a:pPr algn="l"/>
            <a:r>
              <a:rPr sz="1400" b="1" i="0">
                <a:solidFill>
                  <a:srgbClr val="1B2430"/>
                </a:solidFill>
                <a:latin typeface="Calibri"/>
              </a:rPr>
              <a:t>A skill</a:t>
            </a:r>
          </a:p>
        </p:txBody>
      </p:sp>
      <p:sp>
        <p:nvSpPr>
          <p:cNvPr id="31" name="TextBox 30"/>
          <p:cNvSpPr txBox="1"/>
          <p:nvPr/>
        </p:nvSpPr>
        <p:spPr>
          <a:xfrm>
            <a:off x="1234440" y="5193792"/>
            <a:ext cx="2880360" cy="457200"/>
          </a:xfrm>
          <a:prstGeom prst="rect">
            <a:avLst/>
          </a:prstGeom>
          <a:noFill/>
        </p:spPr>
        <p:txBody>
          <a:bodyPr wrap="square" lIns="0" rIns="0" tIns="0" bIns="0" anchor="t">
            <a:spAutoFit/>
          </a:bodyPr>
          <a:lstStyle/>
          <a:p>
            <a:pPr algn="l"/>
            <a:r>
              <a:rPr sz="1150" b="0" i="0">
                <a:solidFill>
                  <a:srgbClr val="1B2430"/>
                </a:solidFill>
                <a:latin typeface="Calibri"/>
              </a:rPr>
              <a:t>a procedure the next engineer runs instead of rediscovering</a:t>
            </a:r>
          </a:p>
        </p:txBody>
      </p:sp>
      <p:sp>
        <p:nvSpPr>
          <p:cNvPr id="32" name="icon"/>
          <p:cNvSpPr/>
          <p:nvPr/>
        </p:nvSpPr>
        <p:spPr>
          <a:xfrm>
            <a:off x="4297679" y="493776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B</a:t>
            </a:r>
          </a:p>
        </p:txBody>
      </p:sp>
      <p:sp>
        <p:nvSpPr>
          <p:cNvPr id="33" name="TextBox 32"/>
          <p:cNvSpPr txBox="1"/>
          <p:nvPr/>
        </p:nvSpPr>
        <p:spPr>
          <a:xfrm>
            <a:off x="4983479" y="4919472"/>
            <a:ext cx="2880360" cy="274320"/>
          </a:xfrm>
          <a:prstGeom prst="rect">
            <a:avLst/>
          </a:prstGeom>
          <a:noFill/>
        </p:spPr>
        <p:txBody>
          <a:bodyPr wrap="square" lIns="0" rIns="0" tIns="0" bIns="0" anchor="t">
            <a:spAutoFit/>
          </a:bodyPr>
          <a:lstStyle/>
          <a:p>
            <a:pPr algn="l"/>
            <a:r>
              <a:rPr sz="1400" b="1" i="0">
                <a:solidFill>
                  <a:srgbClr val="1B2430"/>
                </a:solidFill>
                <a:latin typeface="Calibri"/>
              </a:rPr>
              <a:t>A board fact</a:t>
            </a:r>
          </a:p>
        </p:txBody>
      </p:sp>
      <p:sp>
        <p:nvSpPr>
          <p:cNvPr id="34" name="TextBox 33"/>
          <p:cNvSpPr txBox="1"/>
          <p:nvPr/>
        </p:nvSpPr>
        <p:spPr>
          <a:xfrm>
            <a:off x="4983479" y="5193792"/>
            <a:ext cx="2880360" cy="457200"/>
          </a:xfrm>
          <a:prstGeom prst="rect">
            <a:avLst/>
          </a:prstGeom>
          <a:noFill/>
        </p:spPr>
        <p:txBody>
          <a:bodyPr wrap="square" lIns="0" rIns="0" tIns="0" bIns="0" anchor="t">
            <a:spAutoFit/>
          </a:bodyPr>
          <a:lstStyle/>
          <a:p>
            <a:pPr algn="l"/>
            <a:r>
              <a:rPr sz="1150" b="0" i="0">
                <a:solidFill>
                  <a:srgbClr val="1B2430"/>
                </a:solidFill>
                <a:latin typeface="Calibri"/>
              </a:rPr>
              <a:t>the JTAG chain or pin that was missing from the entry</a:t>
            </a:r>
          </a:p>
        </p:txBody>
      </p:sp>
      <p:sp>
        <p:nvSpPr>
          <p:cNvPr id="35" name="icon"/>
          <p:cNvSpPr/>
          <p:nvPr/>
        </p:nvSpPr>
        <p:spPr>
          <a:xfrm>
            <a:off x="8046719" y="4937760"/>
            <a:ext cx="502920" cy="5029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a:solidFill>
                  <a:srgbClr val="FFFFFF"/>
                </a:solidFill>
                <a:latin typeface="Cambria"/>
              </a:rPr>
              <a:t>G</a:t>
            </a:r>
          </a:p>
        </p:txBody>
      </p:sp>
      <p:sp>
        <p:nvSpPr>
          <p:cNvPr id="36" name="TextBox 35"/>
          <p:cNvSpPr txBox="1"/>
          <p:nvPr/>
        </p:nvSpPr>
        <p:spPr>
          <a:xfrm>
            <a:off x="8732519" y="4919472"/>
            <a:ext cx="2880360" cy="274320"/>
          </a:xfrm>
          <a:prstGeom prst="rect">
            <a:avLst/>
          </a:prstGeom>
          <a:noFill/>
        </p:spPr>
        <p:txBody>
          <a:bodyPr wrap="square" lIns="0" rIns="0" tIns="0" bIns="0" anchor="t">
            <a:spAutoFit/>
          </a:bodyPr>
          <a:lstStyle/>
          <a:p>
            <a:pPr algn="l"/>
            <a:r>
              <a:rPr sz="1400" b="1" i="0">
                <a:solidFill>
                  <a:srgbClr val="1B2430"/>
                </a:solidFill>
                <a:latin typeface="Calibri"/>
              </a:rPr>
              <a:t>A gap</a:t>
            </a:r>
          </a:p>
        </p:txBody>
      </p:sp>
      <p:sp>
        <p:nvSpPr>
          <p:cNvPr id="37" name="TextBox 36"/>
          <p:cNvSpPr txBox="1"/>
          <p:nvPr/>
        </p:nvSpPr>
        <p:spPr>
          <a:xfrm>
            <a:off x="8732519" y="5193792"/>
            <a:ext cx="2880360" cy="457200"/>
          </a:xfrm>
          <a:prstGeom prst="rect">
            <a:avLst/>
          </a:prstGeom>
          <a:noFill/>
        </p:spPr>
        <p:txBody>
          <a:bodyPr wrap="square" lIns="0" rIns="0" tIns="0" bIns="0" anchor="t">
            <a:spAutoFit/>
          </a:bodyPr>
          <a:lstStyle/>
          <a:p>
            <a:pPr algn="l"/>
            <a:r>
              <a:rPr sz="1150" b="0" i="0">
                <a:solidFill>
                  <a:srgbClr val="1B2430"/>
                </a:solidFill>
                <a:latin typeface="Calibri"/>
              </a:rPr>
              <a:t>every logged gap is a request the maintainers can act 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Getting started in three steps</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22</a:t>
            </a:r>
          </a:p>
        </p:txBody>
      </p:sp>
      <p:sp>
        <p:nvSpPr>
          <p:cNvPr id="5" name="card"/>
          <p:cNvSpPr/>
          <p:nvPr/>
        </p:nvSpPr>
        <p:spPr>
          <a:xfrm>
            <a:off x="548640" y="1371600"/>
            <a:ext cx="3566160" cy="31089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p:cNvSpPr/>
          <p:nvPr/>
        </p:nvSpPr>
        <p:spPr>
          <a:xfrm>
            <a:off x="1965960" y="160020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400" b="1" i="0">
                <a:solidFill>
                  <a:srgbClr val="FFFFFF"/>
                </a:solidFill>
                <a:latin typeface="Cambria"/>
              </a:rPr>
              <a:t>1</a:t>
            </a:r>
          </a:p>
        </p:txBody>
      </p:sp>
      <p:sp>
        <p:nvSpPr>
          <p:cNvPr id="7" name="TextBox 6"/>
          <p:cNvSpPr txBox="1"/>
          <p:nvPr/>
        </p:nvSpPr>
        <p:spPr>
          <a:xfrm>
            <a:off x="731520" y="2514600"/>
            <a:ext cx="3200400" cy="457200"/>
          </a:xfrm>
          <a:prstGeom prst="rect">
            <a:avLst/>
          </a:prstGeom>
          <a:noFill/>
        </p:spPr>
        <p:txBody>
          <a:bodyPr wrap="square" lIns="0" rIns="0" tIns="0" bIns="0" anchor="t">
            <a:spAutoFit/>
          </a:bodyPr>
          <a:lstStyle/>
          <a:p>
            <a:pPr algn="ctr"/>
            <a:r>
              <a:rPr sz="1600" b="1" i="0">
                <a:solidFill>
                  <a:srgbClr val="1B2430"/>
                </a:solidFill>
                <a:latin typeface="Calibri"/>
              </a:rPr>
              <a:t>Install the bundle</a:t>
            </a:r>
          </a:p>
        </p:txBody>
      </p:sp>
      <p:sp>
        <p:nvSpPr>
          <p:cNvPr id="8" name="TextBox 7"/>
          <p:cNvSpPr txBox="1"/>
          <p:nvPr/>
        </p:nvSpPr>
        <p:spPr>
          <a:xfrm>
            <a:off x="777240" y="3017520"/>
            <a:ext cx="3108960" cy="1371600"/>
          </a:xfrm>
          <a:prstGeom prst="rect">
            <a:avLst/>
          </a:prstGeom>
          <a:noFill/>
        </p:spPr>
        <p:txBody>
          <a:bodyPr wrap="square" lIns="0" rIns="0" tIns="0" bIns="0" anchor="t">
            <a:spAutoFit/>
          </a:bodyPr>
          <a:lstStyle/>
          <a:p>
            <a:pPr algn="ctr"/>
            <a:r>
              <a:rPr sz="1150" b="0" i="0">
                <a:solidFill>
                  <a:srgbClr val="1B2430"/>
                </a:solidFill>
                <a:latin typeface="Calibri"/>
              </a:rPr>
              <a:t>Unzip lattice-prompt-0.2.0-win64.zip or the Linux tarball; run install.cmd or install.sh: arch2code, cortex-kb and lattice-cortex are registered. Install the Radiant server from its own package. Native simulation needs the toolchain described in the README.</a:t>
            </a:r>
          </a:p>
        </p:txBody>
      </p:sp>
      <p:sp>
        <p:nvSpPr>
          <p:cNvPr id="9" name="card"/>
          <p:cNvSpPr/>
          <p:nvPr/>
        </p:nvSpPr>
        <p:spPr>
          <a:xfrm>
            <a:off x="4297679" y="1371600"/>
            <a:ext cx="3566160" cy="31089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con"/>
          <p:cNvSpPr/>
          <p:nvPr/>
        </p:nvSpPr>
        <p:spPr>
          <a:xfrm>
            <a:off x="5714999" y="160020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400" b="1" i="0">
                <a:solidFill>
                  <a:srgbClr val="FFFFFF"/>
                </a:solidFill>
                <a:latin typeface="Cambria"/>
              </a:rPr>
              <a:t>2</a:t>
            </a:r>
          </a:p>
        </p:txBody>
      </p:sp>
      <p:sp>
        <p:nvSpPr>
          <p:cNvPr id="11" name="TextBox 10"/>
          <p:cNvSpPr txBox="1"/>
          <p:nvPr/>
        </p:nvSpPr>
        <p:spPr>
          <a:xfrm>
            <a:off x="4480559" y="2514600"/>
            <a:ext cx="3200400" cy="457200"/>
          </a:xfrm>
          <a:prstGeom prst="rect">
            <a:avLst/>
          </a:prstGeom>
          <a:noFill/>
        </p:spPr>
        <p:txBody>
          <a:bodyPr wrap="square" lIns="0" rIns="0" tIns="0" bIns="0" anchor="t">
            <a:spAutoFit/>
          </a:bodyPr>
          <a:lstStyle/>
          <a:p>
            <a:pPr algn="ctr"/>
            <a:r>
              <a:rPr sz="1600" b="1" i="0">
                <a:solidFill>
                  <a:srgbClr val="1B2430"/>
                </a:solidFill>
                <a:latin typeface="Calibri"/>
              </a:rPr>
              <a:t>Open a project and state the intent</a:t>
            </a:r>
          </a:p>
        </p:txBody>
      </p:sp>
      <p:sp>
        <p:nvSpPr>
          <p:cNvPr id="12" name="TextBox 11"/>
          <p:cNvSpPr txBox="1"/>
          <p:nvPr/>
        </p:nvSpPr>
        <p:spPr>
          <a:xfrm>
            <a:off x="4526279" y="3017520"/>
            <a:ext cx="3108960" cy="1371600"/>
          </a:xfrm>
          <a:prstGeom prst="rect">
            <a:avLst/>
          </a:prstGeom>
          <a:noFill/>
        </p:spPr>
        <p:txBody>
          <a:bodyPr wrap="square" lIns="0" rIns="0" tIns="0" bIns="0" anchor="t">
            <a:spAutoFit/>
          </a:bodyPr>
          <a:lstStyle/>
          <a:p>
            <a:pPr algn="ctr"/>
            <a:r>
              <a:rPr sz="1150" b="0" i="0">
                <a:solidFill>
                  <a:srgbClr val="1B2430"/>
                </a:solidFill>
                <a:latin typeface="Calibri"/>
              </a:rPr>
              <a:t>bin/new-project creates the project; make agents-setup deploys the rules and the knowledge-base skills. Say what it must do; the intake questionnaire covers the rest.</a:t>
            </a:r>
          </a:p>
        </p:txBody>
      </p:sp>
      <p:sp>
        <p:nvSpPr>
          <p:cNvPr id="13" name="card"/>
          <p:cNvSpPr/>
          <p:nvPr/>
        </p:nvSpPr>
        <p:spPr>
          <a:xfrm>
            <a:off x="8046719" y="1371600"/>
            <a:ext cx="3566160" cy="3108960"/>
          </a:xfrm>
          <a:prstGeom prst="roundRect">
            <a:avLst>
              <a:gd name="adj" fmla="val 6000"/>
            </a:avLst>
          </a:prstGeom>
          <a:solidFill>
            <a:srgbClr val="EEF3F6"/>
          </a:solidFill>
          <a:ln>
            <a:noFill/>
          </a:ln>
          <a:effectLst>
            <a:outerShdw blurRad="50800" dist="12700" dir="5400000"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
          <p:cNvSpPr/>
          <p:nvPr/>
        </p:nvSpPr>
        <p:spPr>
          <a:xfrm>
            <a:off x="9464040" y="1600200"/>
            <a:ext cx="731520" cy="7315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2400" b="1" i="0">
                <a:solidFill>
                  <a:srgbClr val="FFFFFF"/>
                </a:solidFill>
                <a:latin typeface="Cambria"/>
              </a:rPr>
              <a:t>3</a:t>
            </a:r>
          </a:p>
        </p:txBody>
      </p:sp>
      <p:sp>
        <p:nvSpPr>
          <p:cNvPr id="15" name="TextBox 14"/>
          <p:cNvSpPr txBox="1"/>
          <p:nvPr/>
        </p:nvSpPr>
        <p:spPr>
          <a:xfrm>
            <a:off x="8229599" y="2514600"/>
            <a:ext cx="3200400" cy="457200"/>
          </a:xfrm>
          <a:prstGeom prst="rect">
            <a:avLst/>
          </a:prstGeom>
          <a:noFill/>
        </p:spPr>
        <p:txBody>
          <a:bodyPr wrap="square" lIns="0" rIns="0" tIns="0" bIns="0" anchor="t">
            <a:spAutoFit/>
          </a:bodyPr>
          <a:lstStyle/>
          <a:p>
            <a:pPr algn="ctr"/>
            <a:r>
              <a:rPr sz="1600" b="1" i="0">
                <a:solidFill>
                  <a:srgbClr val="1B2430"/>
                </a:solidFill>
                <a:latin typeface="Calibri"/>
              </a:rPr>
              <a:t>Finish with capture</a:t>
            </a:r>
          </a:p>
        </p:txBody>
      </p:sp>
      <p:sp>
        <p:nvSpPr>
          <p:cNvPr id="16" name="TextBox 15"/>
          <p:cNvSpPr txBox="1"/>
          <p:nvPr/>
        </p:nvSpPr>
        <p:spPr>
          <a:xfrm>
            <a:off x="8275319" y="3017520"/>
            <a:ext cx="3108960" cy="1371600"/>
          </a:xfrm>
          <a:prstGeom prst="rect">
            <a:avLst/>
          </a:prstGeom>
          <a:noFill/>
        </p:spPr>
        <p:txBody>
          <a:bodyPr wrap="square" lIns="0" rIns="0" tIns="0" bIns="0" anchor="t">
            <a:spAutoFit/>
          </a:bodyPr>
          <a:lstStyle/>
          <a:p>
            <a:pPr algn="ctr"/>
            <a:r>
              <a:rPr sz="1150" b="0" i="0">
                <a:solidFill>
                  <a:srgbClr val="1B2430"/>
                </a:solidFill>
                <a:latin typeface="Calibri"/>
              </a:rPr>
              <a:t>Stage 13 runs the authoring tools; answer the export questions; the pull request is reviewed once. Your design is now the next engineer's starting point.</a:t>
            </a:r>
          </a:p>
        </p:txBody>
      </p:sp>
      <p:sp>
        <p:nvSpPr>
          <p:cNvPr id="17" name="card"/>
          <p:cNvSpPr/>
          <p:nvPr/>
        </p:nvSpPr>
        <p:spPr>
          <a:xfrm>
            <a:off x="548640" y="4709160"/>
            <a:ext cx="11064240" cy="146304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7240" y="4800600"/>
            <a:ext cx="3657600" cy="320040"/>
          </a:xfrm>
          <a:prstGeom prst="rect">
            <a:avLst/>
          </a:prstGeom>
          <a:noFill/>
        </p:spPr>
        <p:txBody>
          <a:bodyPr wrap="square" lIns="0" rIns="0" tIns="0" bIns="0" anchor="t">
            <a:spAutoFit/>
          </a:bodyPr>
          <a:lstStyle/>
          <a:p>
            <a:pPr algn="l"/>
            <a:r>
              <a:rPr sz="1400" b="1" i="0">
                <a:solidFill>
                  <a:srgbClr val="1C7293"/>
                </a:solidFill>
                <a:latin typeface="Calibri"/>
              </a:rPr>
              <a:t>Where things live</a:t>
            </a:r>
          </a:p>
        </p:txBody>
      </p:sp>
      <p:sp>
        <p:nvSpPr>
          <p:cNvPr id="19" name="TextBox 18"/>
          <p:cNvSpPr txBox="1"/>
          <p:nvPr/>
        </p:nvSpPr>
        <p:spPr>
          <a:xfrm>
            <a:off x="777240" y="5138928"/>
            <a:ext cx="10607040" cy="1005840"/>
          </a:xfrm>
          <a:prstGeom prst="rect">
            <a:avLst/>
          </a:prstGeom>
          <a:noFill/>
        </p:spPr>
        <p:txBody>
          <a:bodyPr wrap="square" lIns="0" rIns="0" tIns="0" bIns="0">
            <a:spAutoFit/>
          </a:bodyPr>
          <a:lstStyle/>
          <a:p>
            <a:pPr marL="201168" indent="-201168">
              <a:spcAft>
                <a:spcPts val="400"/>
              </a:spcAft>
              <a:buChar char="•"/>
            </a:pPr>
            <a:r>
              <a:rPr sz="1200">
                <a:solidFill>
                  <a:srgbClr val="1B2430"/>
                </a:solidFill>
                <a:latin typeface="Calibri"/>
              </a:rPr>
              <a:t>Design document: Agentic FPGA System Design Architecture v1.2 (RadiantAI documents folder)</a:t>
            </a:r>
          </a:p>
          <a:p>
            <a:pPr marL="201168" indent="-201168">
              <a:spcAft>
                <a:spcPts val="400"/>
              </a:spcAft>
              <a:buChar char="•"/>
            </a:pPr>
            <a:r>
              <a:rPr sz="1200">
                <a:solidFill>
                  <a:srgbClr val="1B2430"/>
                </a:solidFill>
                <a:latin typeface="Calibri"/>
              </a:rPr>
              <a:t>Repositories: cortex-a2c (arch2code and the skills), cortex-kb (the knowledge base), cortex-mcp (lattice-cortex), cortex-bridge (the Radiant server), lattice-prompt (the release bundle, v0.2.0)</a:t>
            </a:r>
          </a:p>
          <a:p>
            <a:pPr marL="201168" indent="-201168">
              <a:spcAft>
                <a:spcPts val="400"/>
              </a:spcAft>
              <a:buChar char="•"/>
            </a:pPr>
            <a:r>
              <a:rPr sz="1200">
                <a:solidFill>
                  <a:srgbClr val="1B2430"/>
                </a:solidFill>
                <a:latin typeface="Calibri"/>
              </a:rPr>
              <a:t>Questions and pull-request review: the FPGA design tools team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Appendix A: tool reference</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23</a:t>
            </a:r>
          </a:p>
        </p:txBody>
      </p:sp>
      <p:graphicFrame>
        <p:nvGraphicFramePr>
          <p:cNvPr id="5" name="Table 4"/>
          <p:cNvGraphicFramePr>
            <a:graphicFrameLocks noGrp="1"/>
          </p:cNvGraphicFramePr>
          <p:nvPr/>
        </p:nvGraphicFramePr>
        <p:xfrm>
          <a:off x="548640" y="1234440"/>
          <a:ext cx="11064240" cy="4023360"/>
        </p:xfrm>
        <a:graphic>
          <a:graphicData uri="http://schemas.openxmlformats.org/drawingml/2006/table">
            <a:tbl>
              <a:tblPr firstRow="1" bandRow="1">
                <a:tableStyleId>{5C22544A-7EE6-4342-B048-85BDC9FD1C3A}</a:tableStyleId>
              </a:tblPr>
              <a:tblGrid>
                <a:gridCol w="2377440"/>
                <a:gridCol w="8686800"/>
              </a:tblGrid>
              <a:tr h="365760">
                <a:tc>
                  <a:txBody>
                    <a:bodyPr/>
                    <a:lstStyle/>
                    <a:p>
                      <a:r>
                        <a:rPr sz="1050" b="1">
                          <a:solidFill>
                            <a:srgbClr val="FFFFFF"/>
                          </a:solidFill>
                          <a:latin typeface="Calibri"/>
                        </a:rPr>
                        <a:t>Server</a:t>
                      </a:r>
                    </a:p>
                  </a:txBody>
                  <a:tcPr marL="73152" marR="73152" marT="45720" marB="45720">
                    <a:solidFill>
                      <a:srgbClr val="1C7293"/>
                    </a:solidFill>
                  </a:tcPr>
                </a:tc>
                <a:tc>
                  <a:txBody>
                    <a:bodyPr/>
                    <a:lstStyle/>
                    <a:p>
                      <a:r>
                        <a:rPr sz="1050" b="1">
                          <a:solidFill>
                            <a:srgbClr val="FFFFFF"/>
                          </a:solidFill>
                          <a:latin typeface="Calibri"/>
                        </a:rPr>
                        <a:t>Tools</a:t>
                      </a:r>
                    </a:p>
                  </a:txBody>
                  <a:tcPr marL="73152" marR="73152" marT="45720" marB="45720">
                    <a:solidFill>
                      <a:srgbClr val="1C7293"/>
                    </a:solidFill>
                  </a:tcPr>
                </a:tc>
              </a:tr>
              <a:tr h="731520">
                <a:tc>
                  <a:txBody>
                    <a:bodyPr/>
                    <a:lstStyle/>
                    <a:p>
                      <a:r>
                        <a:rPr sz="1050" b="1">
                          <a:solidFill>
                            <a:srgbClr val="1B2430"/>
                          </a:solidFill>
                          <a:latin typeface="Calibri"/>
                        </a:rPr>
                        <a:t>cortex-kb, read-only</a:t>
                      </a:r>
                    </a:p>
                  </a:txBody>
                  <a:tcPr marL="73152" marR="73152" marT="45720" marB="45720">
                    <a:solidFill>
                      <a:srgbClr val="EEF3F6"/>
                    </a:solidFill>
                  </a:tcPr>
                </a:tc>
                <a:tc>
                  <a:txBody>
                    <a:bodyPr/>
                    <a:lstStyle/>
                    <a:p>
                      <a:r>
                        <a:rPr sz="1050" b="0">
                          <a:solidFill>
                            <a:srgbClr val="1B2430"/>
                          </a:solidFill>
                          <a:latin typeface="Calibri"/>
                        </a:rPr>
                        <a:t>kb_status, kb_find_designs, kb_find_modules, kb_find_patterns, kb_find_ips, kb_find_skills, kb_find_boards, kb_get_entry, kb_get_module, kb_get_hierarchy, kb_get_dependencies, kb_find_instantiations, kb_list_files, kb_read_file, kb_get_flow, kb_get_constraints, kb_get_registers, kb_get_versions, kb_get_skill, kb_get_ip, kb_get_board, kb_check_antipatterns, kb_get_template, kb_device_notes; every reviewed skill as a prompt</a:t>
                      </a:r>
                    </a:p>
                  </a:txBody>
                  <a:tcPr marL="73152" marR="73152" marT="45720" marB="45720">
                    <a:solidFill>
                      <a:srgbClr val="EEF3F6"/>
                    </a:solidFill>
                  </a:tcPr>
                </a:tc>
              </a:tr>
              <a:tr h="731520">
                <a:tc>
                  <a:txBody>
                    <a:bodyPr/>
                    <a:lstStyle/>
                    <a:p>
                      <a:r>
                        <a:rPr sz="1050" b="1">
                          <a:solidFill>
                            <a:srgbClr val="1B2430"/>
                          </a:solidFill>
                          <a:latin typeface="Calibri"/>
                        </a:rPr>
                        <a:t>cortex-kb, authoring (personal session)</a:t>
                      </a:r>
                    </a:p>
                  </a:txBody>
                  <a:tcPr marL="73152" marR="73152" marT="45720" marB="45720">
                    <a:solidFill>
                      <a:srgbClr val="FFFFFF"/>
                    </a:solidFill>
                  </a:tcPr>
                </a:tc>
                <a:tc>
                  <a:txBody>
                    <a:bodyPr/>
                    <a:lstStyle/>
                    <a:p>
                      <a:r>
                        <a:rPr sz="1050" b="0">
                          <a:solidFill>
                            <a:srgbClr val="1B2430"/>
                          </a:solidFill>
                          <a:latin typeface="Calibri"/>
                        </a:rPr>
                        <a:t>kb_author_inspect, kb_author_start, kb_author_get, kb_author_set_fields, kb_author_write_section, kb_author_write_skill, kb_author_add_skill, kb_author_propose_pattern, kb_author_validate, kb_author_export, kb_author_submit, kb_author_package, kb_author_import_package, kb_author_list, kb_author_discard</a:t>
                      </a:r>
                    </a:p>
                  </a:txBody>
                  <a:tcPr marL="73152" marR="73152" marT="45720" marB="45720">
                    <a:solidFill>
                      <a:srgbClr val="FFFFFF"/>
                    </a:solidFill>
                  </a:tcPr>
                </a:tc>
              </a:tr>
              <a:tr h="731520">
                <a:tc>
                  <a:txBody>
                    <a:bodyPr/>
                    <a:lstStyle/>
                    <a:p>
                      <a:r>
                        <a:rPr sz="1050" b="1">
                          <a:solidFill>
                            <a:srgbClr val="1B2430"/>
                          </a:solidFill>
                          <a:latin typeface="Calibri"/>
                        </a:rPr>
                        <a:t>arch2code</a:t>
                      </a:r>
                    </a:p>
                  </a:txBody>
                  <a:tcPr marL="73152" marR="73152" marT="45720" marB="45720">
                    <a:solidFill>
                      <a:srgbClr val="EEF3F6"/>
                    </a:solidFill>
                  </a:tcPr>
                </a:tc>
                <a:tc>
                  <a:txBody>
                    <a:bodyPr/>
                    <a:lstStyle/>
                    <a:p>
                      <a:r>
                        <a:rPr sz="1050" b="0">
                          <a:solidFill>
                            <a:srgbClr val="1B2430"/>
                          </a:solidFill>
                          <a:latin typeface="Calibri"/>
                        </a:rPr>
                        <a:t>list_projects, project_info, build_db, scaffold, generate, migrate, clean, diagram, docgen, soc_manifest (P5), toolchain_detect, questa_detect, questa_compile, questa_lint, model_status, build_model, run_model, run_cosim, regression, reg_access_plan, reg_access_test, check_job, list_jobs, read_log</a:t>
                      </a:r>
                    </a:p>
                  </a:txBody>
                  <a:tcPr marL="73152" marR="73152" marT="45720" marB="45720">
                    <a:solidFill>
                      <a:srgbClr val="EEF3F6"/>
                    </a:solidFill>
                  </a:tcPr>
                </a:tc>
              </a:tr>
              <a:tr h="731520">
                <a:tc>
                  <a:txBody>
                    <a:bodyPr/>
                    <a:lstStyle/>
                    <a:p>
                      <a:r>
                        <a:rPr sz="1050" b="1">
                          <a:solidFill>
                            <a:srgbClr val="1B2430"/>
                          </a:solidFill>
                          <a:latin typeface="Calibri"/>
                        </a:rPr>
                        <a:t>lattice-cortex (160 tools; the ones the flow uses)</a:t>
                      </a:r>
                    </a:p>
                  </a:txBody>
                  <a:tcPr marL="73152" marR="73152" marT="45720" marB="45720">
                    <a:solidFill>
                      <a:srgbClr val="FFFFFF"/>
                    </a:solidFill>
                  </a:tcPr>
                </a:tc>
                <a:tc>
                  <a:txBody>
                    <a:bodyPr/>
                    <a:lstStyle/>
                    <a:p>
                      <a:r>
                        <a:rPr sz="1050" b="0">
                          <a:solidFill>
                            <a:srgbClr val="1B2430"/>
                          </a:solidFill>
                          <a:latin typeface="Calibri"/>
                        </a:rPr>
                        <a:t>lookup_ip, ip_search, ip_get_parameters, ip_get_ports, ip_get_memory_maps, ip_check_compatibility, find_protocol_bridge; parse_sbx, propel_session_new, propel_config_ip, propel_add_component, propel_connect_net, propel_assign_addr_seg, propel_session_validate, propel_execute; propel_replay_manifest and propel_compare_sbx_manifest (0.2.0); validate_topology, validate_build_schema (manifest-aware), validate_timing; decode_sge, firmware_plan, firmware_gen_tests, firmware_run_tests</a:t>
                      </a:r>
                    </a:p>
                  </a:txBody>
                  <a:tcPr marL="73152" marR="73152" marT="45720" marB="45720">
                    <a:solidFill>
                      <a:srgbClr val="FFFFFF"/>
                    </a:solidFill>
                  </a:tcPr>
                </a:tc>
              </a:tr>
              <a:tr h="731520">
                <a:tc>
                  <a:txBody>
                    <a:bodyPr/>
                    <a:lstStyle/>
                    <a:p>
                      <a:r>
                        <a:rPr sz="1050" b="1">
                          <a:solidFill>
                            <a:srgbClr val="1B2430"/>
                          </a:solidFill>
                          <a:latin typeface="Calibri"/>
                        </a:rPr>
                        <a:t>lattice-radiant-mcp (own installer)</a:t>
                      </a:r>
                    </a:p>
                  </a:txBody>
                  <a:tcPr marL="73152" marR="73152" marT="45720" marB="45720">
                    <a:solidFill>
                      <a:srgbClr val="EEF3F6"/>
                    </a:solidFill>
                  </a:tcPr>
                </a:tc>
                <a:tc>
                  <a:txBody>
                    <a:bodyPr/>
                    <a:lstStyle/>
                    <a:p>
                      <a:r>
                        <a:rPr sz="1050" b="0">
                          <a:solidFill>
                            <a:srgbClr val="1B2430"/>
                          </a:solidFill>
                          <a:latin typeface="Calibri"/>
                        </a:rPr>
                        <a:t>Radiant project and flow (prj_create, run_synthesis, run_map, run_par, run_export, run_timing), constraints lint, programming, Reveal tools; see its user guide</a:t>
                      </a:r>
                    </a:p>
                  </a:txBody>
                  <a:tcPr marL="73152" marR="73152" marT="45720" marB="45720">
                    <a:solidFill>
                      <a:srgbClr val="EEF3F6"/>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0F2A3F"/>
                </a:solidFill>
                <a:latin typeface="Cambria"/>
              </a:rPr>
              <a:t>Appendix B: pilot status and roadmap</a:t>
            </a:r>
          </a:p>
        </p:txBody>
      </p:sp>
      <p:sp>
        <p:nvSpPr>
          <p:cNvPr id="3" name="TextBox 2"/>
          <p:cNvSpPr txBox="1"/>
          <p:nvPr/>
        </p:nvSpPr>
        <p:spPr>
          <a:xfrm>
            <a:off x="457200" y="6446520"/>
            <a:ext cx="8229600" cy="274320"/>
          </a:xfrm>
          <a:prstGeom prst="rect">
            <a:avLst/>
          </a:prstGeom>
          <a:noFill/>
        </p:spPr>
        <p:txBody>
          <a:bodyPr wrap="square" lIns="0" rIns="0" tIns="0" bIns="0" anchor="t">
            <a:spAutoFit/>
          </a:bodyPr>
          <a:lstStyle/>
          <a:p>
            <a:pPr algn="l"/>
            <a:r>
              <a:rPr sz="900" b="0" i="0">
                <a:solidFill>
                  <a:srgbClr val="6C8EA4"/>
                </a:solidFill>
                <a:latin typeface="Calibri"/>
              </a:rPr>
              <a:t>Design with the knowledge base and arch2code</a:t>
            </a:r>
          </a:p>
        </p:txBody>
      </p:sp>
      <p:sp>
        <p:nvSpPr>
          <p:cNvPr id="4" name="TextBox 3"/>
          <p:cNvSpPr txBox="1"/>
          <p:nvPr/>
        </p:nvSpPr>
        <p:spPr>
          <a:xfrm>
            <a:off x="11247120" y="6446520"/>
            <a:ext cx="548640" cy="274320"/>
          </a:xfrm>
          <a:prstGeom prst="rect">
            <a:avLst/>
          </a:prstGeom>
          <a:noFill/>
        </p:spPr>
        <p:txBody>
          <a:bodyPr wrap="square" lIns="0" rIns="0" tIns="0" bIns="0" anchor="t">
            <a:spAutoFit/>
          </a:bodyPr>
          <a:lstStyle/>
          <a:p>
            <a:pPr algn="r"/>
            <a:r>
              <a:rPr sz="900" b="0" i="0">
                <a:solidFill>
                  <a:srgbClr val="6C8EA4"/>
                </a:solidFill>
                <a:latin typeface="Calibri"/>
              </a:rPr>
              <a:t>24</a:t>
            </a:r>
          </a:p>
        </p:txBody>
      </p:sp>
      <p:cxnSp>
        <p:nvCxnSpPr>
          <p:cNvPr id="5" name="Connector 4"/>
          <p:cNvCxnSpPr/>
          <p:nvPr/>
        </p:nvCxnSpPr>
        <p:spPr>
          <a:xfrm>
            <a:off x="1691640" y="1920240"/>
            <a:ext cx="868680" cy="0"/>
          </a:xfrm>
          <a:prstGeom prst="line">
            <a:avLst/>
          </a:prstGeom>
          <a:ln w="19050">
            <a:solidFill>
              <a:srgbClr val="6C8EA4"/>
            </a:solidFill>
          </a:ln>
        </p:spPr>
        <p:style>
          <a:lnRef idx="2">
            <a:schemeClr val="accent1"/>
          </a:lnRef>
          <a:fillRef idx="0">
            <a:schemeClr val="accent1"/>
          </a:fillRef>
          <a:effectRef idx="1">
            <a:schemeClr val="accent1"/>
          </a:effectRef>
          <a:fontRef idx="minor">
            <a:schemeClr val="tx1"/>
          </a:fontRef>
        </p:style>
      </p:cxnSp>
      <p:sp>
        <p:nvSpPr>
          <p:cNvPr id="6" name="icon"/>
          <p:cNvSpPr/>
          <p:nvPr/>
        </p:nvSpPr>
        <p:spPr>
          <a:xfrm>
            <a:off x="960120" y="1554480"/>
            <a:ext cx="731520" cy="7315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mbria"/>
              </a:rPr>
              <a:t>P0</a:t>
            </a:r>
          </a:p>
        </p:txBody>
      </p:sp>
      <p:sp>
        <p:nvSpPr>
          <p:cNvPr id="7" name="TextBox 6"/>
          <p:cNvSpPr txBox="1"/>
          <p:nvPr/>
        </p:nvSpPr>
        <p:spPr>
          <a:xfrm>
            <a:off x="548640" y="2468880"/>
            <a:ext cx="1554480" cy="548640"/>
          </a:xfrm>
          <a:prstGeom prst="rect">
            <a:avLst/>
          </a:prstGeom>
          <a:noFill/>
        </p:spPr>
        <p:txBody>
          <a:bodyPr wrap="square" lIns="0" rIns="0" tIns="0" bIns="0" anchor="t">
            <a:spAutoFit/>
          </a:bodyPr>
          <a:lstStyle/>
          <a:p>
            <a:pPr algn="ctr"/>
            <a:r>
              <a:rPr sz="1200" b="1" i="0">
                <a:solidFill>
                  <a:srgbClr val="1B2430"/>
                </a:solidFill>
                <a:latin typeface="Calibri"/>
              </a:rPr>
              <a:t>Environment</a:t>
            </a:r>
          </a:p>
        </p:txBody>
      </p:sp>
      <p:sp>
        <p:nvSpPr>
          <p:cNvPr id="8" name="TextBox 7"/>
          <p:cNvSpPr txBox="1"/>
          <p:nvPr/>
        </p:nvSpPr>
        <p:spPr>
          <a:xfrm>
            <a:off x="548640" y="3017520"/>
            <a:ext cx="1554480" cy="1280160"/>
          </a:xfrm>
          <a:prstGeom prst="rect">
            <a:avLst/>
          </a:prstGeom>
          <a:noFill/>
        </p:spPr>
        <p:txBody>
          <a:bodyPr wrap="square" lIns="0" rIns="0" tIns="0" bIns="0" anchor="t">
            <a:spAutoFit/>
          </a:bodyPr>
          <a:lstStyle/>
          <a:p>
            <a:pPr algn="ctr"/>
            <a:r>
              <a:rPr sz="1050" b="0" i="0">
                <a:solidFill>
                  <a:srgbClr val="1B2430"/>
                </a:solidFill>
                <a:latin typeface="Calibri"/>
              </a:rPr>
              <a:t>done: servers registered, trivial project, readiness and compatibility recorded</a:t>
            </a:r>
          </a:p>
        </p:txBody>
      </p:sp>
      <p:cxnSp>
        <p:nvCxnSpPr>
          <p:cNvPr id="9" name="Connector 8"/>
          <p:cNvCxnSpPr/>
          <p:nvPr/>
        </p:nvCxnSpPr>
        <p:spPr>
          <a:xfrm>
            <a:off x="3291840" y="1920240"/>
            <a:ext cx="868680" cy="0"/>
          </a:xfrm>
          <a:prstGeom prst="line">
            <a:avLst/>
          </a:prstGeom>
          <a:ln w="19050">
            <a:solidFill>
              <a:srgbClr val="6C8EA4"/>
            </a:solidFill>
          </a:ln>
        </p:spPr>
        <p:style>
          <a:lnRef idx="2">
            <a:schemeClr val="accent1"/>
          </a:lnRef>
          <a:fillRef idx="0">
            <a:schemeClr val="accent1"/>
          </a:fillRef>
          <a:effectRef idx="1">
            <a:schemeClr val="accent1"/>
          </a:effectRef>
          <a:fontRef idx="minor">
            <a:schemeClr val="tx1"/>
          </a:fontRef>
        </p:style>
      </p:cxnSp>
      <p:sp>
        <p:nvSpPr>
          <p:cNvPr id="10" name="icon"/>
          <p:cNvSpPr/>
          <p:nvPr/>
        </p:nvSpPr>
        <p:spPr>
          <a:xfrm>
            <a:off x="2560320" y="1554480"/>
            <a:ext cx="731520" cy="7315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mbria"/>
              </a:rPr>
              <a:t>P1</a:t>
            </a:r>
          </a:p>
        </p:txBody>
      </p:sp>
      <p:sp>
        <p:nvSpPr>
          <p:cNvPr id="11" name="TextBox 10"/>
          <p:cNvSpPr txBox="1"/>
          <p:nvPr/>
        </p:nvSpPr>
        <p:spPr>
          <a:xfrm>
            <a:off x="2148840" y="2468880"/>
            <a:ext cx="1554480" cy="548640"/>
          </a:xfrm>
          <a:prstGeom prst="rect">
            <a:avLst/>
          </a:prstGeom>
          <a:noFill/>
        </p:spPr>
        <p:txBody>
          <a:bodyPr wrap="square" lIns="0" rIns="0" tIns="0" bIns="0" anchor="t">
            <a:spAutoFit/>
          </a:bodyPr>
          <a:lstStyle/>
          <a:p>
            <a:pPr algn="ctr"/>
            <a:r>
              <a:rPr sz="1200" b="1" i="0">
                <a:solidFill>
                  <a:srgbClr val="1B2430"/>
                </a:solidFill>
                <a:latin typeface="Calibri"/>
              </a:rPr>
              <a:t>Architecture to model</a:t>
            </a:r>
          </a:p>
        </p:txBody>
      </p:sp>
      <p:sp>
        <p:nvSpPr>
          <p:cNvPr id="12" name="TextBox 11"/>
          <p:cNvSpPr txBox="1"/>
          <p:nvPr/>
        </p:nvSpPr>
        <p:spPr>
          <a:xfrm>
            <a:off x="2148840" y="3017520"/>
            <a:ext cx="1554480" cy="1280160"/>
          </a:xfrm>
          <a:prstGeom prst="rect">
            <a:avLst/>
          </a:prstGeom>
          <a:noFill/>
        </p:spPr>
        <p:txBody>
          <a:bodyPr wrap="square" lIns="0" rIns="0" tIns="0" bIns="0" anchor="t">
            <a:spAutoFit/>
          </a:bodyPr>
          <a:lstStyle/>
          <a:p>
            <a:pPr algn="ctr"/>
            <a:r>
              <a:rPr sz="1050" b="0" i="0">
                <a:solidFill>
                  <a:srgbClr val="1B2430"/>
                </a:solidFill>
                <a:latin typeface="Calibri"/>
              </a:rPr>
              <a:t>generator work done; pilot drafted to Gate 1</a:t>
            </a:r>
          </a:p>
        </p:txBody>
      </p:sp>
      <p:cxnSp>
        <p:nvCxnSpPr>
          <p:cNvPr id="13" name="Connector 12"/>
          <p:cNvCxnSpPr/>
          <p:nvPr/>
        </p:nvCxnSpPr>
        <p:spPr>
          <a:xfrm>
            <a:off x="4892040" y="1920240"/>
            <a:ext cx="868680" cy="0"/>
          </a:xfrm>
          <a:prstGeom prst="line">
            <a:avLst/>
          </a:prstGeom>
          <a:ln w="19050">
            <a:solidFill>
              <a:srgbClr val="6C8EA4"/>
            </a:solidFill>
          </a:ln>
        </p:spPr>
        <p:style>
          <a:lnRef idx="2">
            <a:schemeClr val="accent1"/>
          </a:lnRef>
          <a:fillRef idx="0">
            <a:schemeClr val="accent1"/>
          </a:fillRef>
          <a:effectRef idx="1">
            <a:schemeClr val="accent1"/>
          </a:effectRef>
          <a:fontRef idx="minor">
            <a:schemeClr val="tx1"/>
          </a:fontRef>
        </p:style>
      </p:cxnSp>
      <p:sp>
        <p:nvSpPr>
          <p:cNvPr id="14" name="icon"/>
          <p:cNvSpPr/>
          <p:nvPr/>
        </p:nvSpPr>
        <p:spPr>
          <a:xfrm>
            <a:off x="4160520" y="1554480"/>
            <a:ext cx="731520" cy="731520"/>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mbria"/>
              </a:rPr>
              <a:t>P2</a:t>
            </a:r>
          </a:p>
        </p:txBody>
      </p:sp>
      <p:sp>
        <p:nvSpPr>
          <p:cNvPr id="15" name="TextBox 14"/>
          <p:cNvSpPr txBox="1"/>
          <p:nvPr/>
        </p:nvSpPr>
        <p:spPr>
          <a:xfrm>
            <a:off x="3749039" y="2468880"/>
            <a:ext cx="1554480" cy="548640"/>
          </a:xfrm>
          <a:prstGeom prst="rect">
            <a:avLst/>
          </a:prstGeom>
          <a:noFill/>
        </p:spPr>
        <p:txBody>
          <a:bodyPr wrap="square" lIns="0" rIns="0" tIns="0" bIns="0" anchor="t">
            <a:spAutoFit/>
          </a:bodyPr>
          <a:lstStyle/>
          <a:p>
            <a:pPr algn="ctr"/>
            <a:r>
              <a:rPr sz="1200" b="1" i="0">
                <a:solidFill>
                  <a:srgbClr val="1B2430"/>
                </a:solidFill>
                <a:latin typeface="Calibri"/>
              </a:rPr>
              <a:t>SoC realisation</a:t>
            </a:r>
          </a:p>
        </p:txBody>
      </p:sp>
      <p:sp>
        <p:nvSpPr>
          <p:cNvPr id="16" name="TextBox 15"/>
          <p:cNvSpPr txBox="1"/>
          <p:nvPr/>
        </p:nvSpPr>
        <p:spPr>
          <a:xfrm>
            <a:off x="3749039" y="3017520"/>
            <a:ext cx="1554480" cy="1280160"/>
          </a:xfrm>
          <a:prstGeom prst="rect">
            <a:avLst/>
          </a:prstGeom>
          <a:noFill/>
        </p:spPr>
        <p:txBody>
          <a:bodyPr wrap="square" lIns="0" rIns="0" tIns="0" bIns="0" anchor="t">
            <a:spAutoFit/>
          </a:bodyPr>
          <a:lstStyle/>
          <a:p>
            <a:pPr algn="ctr"/>
            <a:r>
              <a:rPr sz="1050" b="0" i="0">
                <a:solidFill>
                  <a:srgbClr val="1B2430"/>
                </a:solidFill>
                <a:latin typeface="Calibri"/>
              </a:rPr>
              <a:t>tools in place; runs after Gate 2</a:t>
            </a:r>
          </a:p>
        </p:txBody>
      </p:sp>
      <p:cxnSp>
        <p:nvCxnSpPr>
          <p:cNvPr id="17" name="Connector 16"/>
          <p:cNvCxnSpPr/>
          <p:nvPr/>
        </p:nvCxnSpPr>
        <p:spPr>
          <a:xfrm>
            <a:off x="6492240" y="1920240"/>
            <a:ext cx="868680" cy="0"/>
          </a:xfrm>
          <a:prstGeom prst="line">
            <a:avLst/>
          </a:prstGeom>
          <a:ln w="19050">
            <a:solidFill>
              <a:srgbClr val="6C8EA4"/>
            </a:solidFill>
          </a:ln>
        </p:spPr>
        <p:style>
          <a:lnRef idx="2">
            <a:schemeClr val="accent1"/>
          </a:lnRef>
          <a:fillRef idx="0">
            <a:schemeClr val="accent1"/>
          </a:fillRef>
          <a:effectRef idx="1">
            <a:schemeClr val="accent1"/>
          </a:effectRef>
          <a:fontRef idx="minor">
            <a:schemeClr val="tx1"/>
          </a:fontRef>
        </p:style>
      </p:cxnSp>
      <p:sp>
        <p:nvSpPr>
          <p:cNvPr id="18" name="icon"/>
          <p:cNvSpPr/>
          <p:nvPr/>
        </p:nvSpPr>
        <p:spPr>
          <a:xfrm>
            <a:off x="5760720" y="1554480"/>
            <a:ext cx="731520" cy="731520"/>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mbria"/>
              </a:rPr>
              <a:t>P3</a:t>
            </a:r>
          </a:p>
        </p:txBody>
      </p:sp>
      <p:sp>
        <p:nvSpPr>
          <p:cNvPr id="19" name="TextBox 18"/>
          <p:cNvSpPr txBox="1"/>
          <p:nvPr/>
        </p:nvSpPr>
        <p:spPr>
          <a:xfrm>
            <a:off x="5349240" y="2468880"/>
            <a:ext cx="1554480" cy="548640"/>
          </a:xfrm>
          <a:prstGeom prst="rect">
            <a:avLst/>
          </a:prstGeom>
          <a:noFill/>
        </p:spPr>
        <p:txBody>
          <a:bodyPr wrap="square" lIns="0" rIns="0" tIns="0" bIns="0" anchor="t">
            <a:spAutoFit/>
          </a:bodyPr>
          <a:lstStyle/>
          <a:p>
            <a:pPr algn="ctr"/>
            <a:r>
              <a:rPr sz="1200" b="1" i="0">
                <a:solidFill>
                  <a:srgbClr val="1B2430"/>
                </a:solidFill>
                <a:latin typeface="Calibri"/>
              </a:rPr>
              <a:t>Implementation, firmware, bring-up</a:t>
            </a:r>
          </a:p>
        </p:txBody>
      </p:sp>
      <p:sp>
        <p:nvSpPr>
          <p:cNvPr id="20" name="TextBox 19"/>
          <p:cNvSpPr txBox="1"/>
          <p:nvPr/>
        </p:nvSpPr>
        <p:spPr>
          <a:xfrm>
            <a:off x="5349240" y="3017520"/>
            <a:ext cx="1554480" cy="1280160"/>
          </a:xfrm>
          <a:prstGeom prst="rect">
            <a:avLst/>
          </a:prstGeom>
          <a:noFill/>
        </p:spPr>
        <p:txBody>
          <a:bodyPr wrap="square" lIns="0" rIns="0" tIns="0" bIns="0" anchor="t">
            <a:spAutoFit/>
          </a:bodyPr>
          <a:lstStyle/>
          <a:p>
            <a:pPr algn="ctr"/>
            <a:r>
              <a:rPr sz="1050" b="0" i="0">
                <a:solidFill>
                  <a:srgbClr val="1B2430"/>
                </a:solidFill>
                <a:latin typeface="Calibri"/>
              </a:rPr>
              <a:t>tools in place; needs the board and Gate 3</a:t>
            </a:r>
          </a:p>
        </p:txBody>
      </p:sp>
      <p:cxnSp>
        <p:nvCxnSpPr>
          <p:cNvPr id="21" name="Connector 20"/>
          <p:cNvCxnSpPr/>
          <p:nvPr/>
        </p:nvCxnSpPr>
        <p:spPr>
          <a:xfrm>
            <a:off x="8092440" y="1920240"/>
            <a:ext cx="868680" cy="0"/>
          </a:xfrm>
          <a:prstGeom prst="line">
            <a:avLst/>
          </a:prstGeom>
          <a:ln w="19050">
            <a:solidFill>
              <a:srgbClr val="6C8EA4"/>
            </a:solidFill>
          </a:ln>
        </p:spPr>
        <p:style>
          <a:lnRef idx="2">
            <a:schemeClr val="accent1"/>
          </a:lnRef>
          <a:fillRef idx="0">
            <a:schemeClr val="accent1"/>
          </a:fillRef>
          <a:effectRef idx="1">
            <a:schemeClr val="accent1"/>
          </a:effectRef>
          <a:fontRef idx="minor">
            <a:schemeClr val="tx1"/>
          </a:fontRef>
        </p:style>
      </p:cxnSp>
      <p:sp>
        <p:nvSpPr>
          <p:cNvPr id="22" name="icon"/>
          <p:cNvSpPr/>
          <p:nvPr/>
        </p:nvSpPr>
        <p:spPr>
          <a:xfrm>
            <a:off x="7360919" y="1554480"/>
            <a:ext cx="731520" cy="731520"/>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mbria"/>
              </a:rPr>
              <a:t>P4</a:t>
            </a:r>
          </a:p>
        </p:txBody>
      </p:sp>
      <p:sp>
        <p:nvSpPr>
          <p:cNvPr id="23" name="TextBox 22"/>
          <p:cNvSpPr txBox="1"/>
          <p:nvPr/>
        </p:nvSpPr>
        <p:spPr>
          <a:xfrm>
            <a:off x="6949440" y="2468880"/>
            <a:ext cx="1554480" cy="548640"/>
          </a:xfrm>
          <a:prstGeom prst="rect">
            <a:avLst/>
          </a:prstGeom>
          <a:noFill/>
        </p:spPr>
        <p:txBody>
          <a:bodyPr wrap="square" lIns="0" rIns="0" tIns="0" bIns="0" anchor="t">
            <a:spAutoFit/>
          </a:bodyPr>
          <a:lstStyle/>
          <a:p>
            <a:pPr algn="ctr"/>
            <a:r>
              <a:rPr sz="1200" b="1" i="0">
                <a:solidFill>
                  <a:srgbClr val="1B2430"/>
                </a:solidFill>
                <a:latin typeface="Calibri"/>
              </a:rPr>
              <a:t>Capture and acceptance</a:t>
            </a:r>
          </a:p>
        </p:txBody>
      </p:sp>
      <p:sp>
        <p:nvSpPr>
          <p:cNvPr id="24" name="TextBox 23"/>
          <p:cNvSpPr txBox="1"/>
          <p:nvPr/>
        </p:nvSpPr>
        <p:spPr>
          <a:xfrm>
            <a:off x="6949440" y="3017520"/>
            <a:ext cx="1554480" cy="1280160"/>
          </a:xfrm>
          <a:prstGeom prst="rect">
            <a:avLst/>
          </a:prstGeom>
          <a:noFill/>
        </p:spPr>
        <p:txBody>
          <a:bodyPr wrap="square" lIns="0" rIns="0" tIns="0" bIns="0" anchor="t">
            <a:spAutoFit/>
          </a:bodyPr>
          <a:lstStyle/>
          <a:p>
            <a:pPr algn="ctr"/>
            <a:r>
              <a:rPr sz="1050" b="0" i="0">
                <a:solidFill>
                  <a:srgbClr val="1B2430"/>
                </a:solidFill>
                <a:latin typeface="Calibri"/>
              </a:rPr>
              <a:t>task and rubric in place; scored run pending</a:t>
            </a:r>
          </a:p>
        </p:txBody>
      </p:sp>
      <p:cxnSp>
        <p:nvCxnSpPr>
          <p:cNvPr id="25" name="Connector 24"/>
          <p:cNvCxnSpPr/>
          <p:nvPr/>
        </p:nvCxnSpPr>
        <p:spPr>
          <a:xfrm>
            <a:off x="9692640" y="1920240"/>
            <a:ext cx="868680" cy="0"/>
          </a:xfrm>
          <a:prstGeom prst="line">
            <a:avLst/>
          </a:prstGeom>
          <a:ln w="19050">
            <a:solidFill>
              <a:srgbClr val="6C8EA4"/>
            </a:solidFill>
          </a:ln>
        </p:spPr>
        <p:style>
          <a:lnRef idx="2">
            <a:schemeClr val="accent1"/>
          </a:lnRef>
          <a:fillRef idx="0">
            <a:schemeClr val="accent1"/>
          </a:fillRef>
          <a:effectRef idx="1">
            <a:schemeClr val="accent1"/>
          </a:effectRef>
          <a:fontRef idx="minor">
            <a:schemeClr val="tx1"/>
          </a:fontRef>
        </p:style>
      </p:cxnSp>
      <p:sp>
        <p:nvSpPr>
          <p:cNvPr id="26" name="icon"/>
          <p:cNvSpPr/>
          <p:nvPr/>
        </p:nvSpPr>
        <p:spPr>
          <a:xfrm>
            <a:off x="8961119" y="1554480"/>
            <a:ext cx="731520" cy="731520"/>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mbria"/>
              </a:rPr>
              <a:t>P5</a:t>
            </a:r>
          </a:p>
        </p:txBody>
      </p:sp>
      <p:sp>
        <p:nvSpPr>
          <p:cNvPr id="27" name="TextBox 26"/>
          <p:cNvSpPr txBox="1"/>
          <p:nvPr/>
        </p:nvSpPr>
        <p:spPr>
          <a:xfrm>
            <a:off x="8549640" y="2468880"/>
            <a:ext cx="1554480" cy="548640"/>
          </a:xfrm>
          <a:prstGeom prst="rect">
            <a:avLst/>
          </a:prstGeom>
          <a:noFill/>
        </p:spPr>
        <p:txBody>
          <a:bodyPr wrap="square" lIns="0" rIns="0" tIns="0" bIns="0" anchor="t">
            <a:spAutoFit/>
          </a:bodyPr>
          <a:lstStyle/>
          <a:p>
            <a:pPr algn="ctr"/>
            <a:r>
              <a:rPr sz="1200" b="1" i="0">
                <a:solidFill>
                  <a:srgbClr val="1B2430"/>
                </a:solidFill>
                <a:latin typeface="Calibri"/>
              </a:rPr>
              <a:t>Deterministic SoC replay</a:t>
            </a:r>
          </a:p>
        </p:txBody>
      </p:sp>
      <p:sp>
        <p:nvSpPr>
          <p:cNvPr id="28" name="TextBox 27"/>
          <p:cNvSpPr txBox="1"/>
          <p:nvPr/>
        </p:nvSpPr>
        <p:spPr>
          <a:xfrm>
            <a:off x="8549640" y="3017520"/>
            <a:ext cx="1554480" cy="1280160"/>
          </a:xfrm>
          <a:prstGeom prst="rect">
            <a:avLst/>
          </a:prstGeom>
          <a:noFill/>
        </p:spPr>
        <p:txBody>
          <a:bodyPr wrap="square" lIns="0" rIns="0" tIns="0" bIns="0" anchor="t">
            <a:spAutoFit/>
          </a:bodyPr>
          <a:lstStyle/>
          <a:p>
            <a:pPr algn="ctr"/>
            <a:r>
              <a:rPr sz="1050" b="0" i="0">
                <a:solidFill>
                  <a:srgbClr val="1B2430"/>
                </a:solidFill>
                <a:latin typeface="Calibri"/>
              </a:rPr>
              <a:t>tools done: soc_manifest, replay and compare (0.2.0); live replay after Gate 2</a:t>
            </a:r>
          </a:p>
        </p:txBody>
      </p:sp>
      <p:sp>
        <p:nvSpPr>
          <p:cNvPr id="29" name="icon"/>
          <p:cNvSpPr/>
          <p:nvPr/>
        </p:nvSpPr>
        <p:spPr>
          <a:xfrm>
            <a:off x="10561319" y="1554480"/>
            <a:ext cx="731520" cy="731520"/>
          </a:xfrm>
          <a:prstGeom prst="ellipse">
            <a:avLst/>
          </a:prstGeom>
          <a:solidFill>
            <a:srgbClr val="6C8EA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a:solidFill>
                  <a:srgbClr val="FFFFFF"/>
                </a:solidFill>
                <a:latin typeface="Cambria"/>
              </a:rPr>
              <a:t>P6</a:t>
            </a:r>
          </a:p>
        </p:txBody>
      </p:sp>
      <p:sp>
        <p:nvSpPr>
          <p:cNvPr id="30" name="TextBox 29"/>
          <p:cNvSpPr txBox="1"/>
          <p:nvPr/>
        </p:nvSpPr>
        <p:spPr>
          <a:xfrm>
            <a:off x="10149840" y="2468880"/>
            <a:ext cx="1554480" cy="548640"/>
          </a:xfrm>
          <a:prstGeom prst="rect">
            <a:avLst/>
          </a:prstGeom>
          <a:noFill/>
        </p:spPr>
        <p:txBody>
          <a:bodyPr wrap="square" lIns="0" rIns="0" tIns="0" bIns="0" anchor="t">
            <a:spAutoFit/>
          </a:bodyPr>
          <a:lstStyle/>
          <a:p>
            <a:pPr algn="ctr"/>
            <a:r>
              <a:rPr sz="1200" b="1" i="0">
                <a:solidFill>
                  <a:srgbClr val="1B2430"/>
                </a:solidFill>
                <a:latin typeface="Calibri"/>
              </a:rPr>
              <a:t>Generalisation</a:t>
            </a:r>
          </a:p>
        </p:txBody>
      </p:sp>
      <p:sp>
        <p:nvSpPr>
          <p:cNvPr id="31" name="TextBox 30"/>
          <p:cNvSpPr txBox="1"/>
          <p:nvPr/>
        </p:nvSpPr>
        <p:spPr>
          <a:xfrm>
            <a:off x="10149840" y="3017520"/>
            <a:ext cx="1554480" cy="1280160"/>
          </a:xfrm>
          <a:prstGeom prst="rect">
            <a:avLst/>
          </a:prstGeom>
          <a:noFill/>
        </p:spPr>
        <p:txBody>
          <a:bodyPr wrap="square" lIns="0" rIns="0" tIns="0" bIns="0" anchor="t">
            <a:spAutoFit/>
          </a:bodyPr>
          <a:lstStyle/>
          <a:p>
            <a:pPr algn="ctr"/>
            <a:r>
              <a:rPr sz="1050" b="0" i="0">
                <a:solidFill>
                  <a:srgbClr val="1B2430"/>
                </a:solidFill>
                <a:latin typeface="Calibri"/>
              </a:rPr>
              <a:t>device-agnostic design on a second family</a:t>
            </a:r>
          </a:p>
        </p:txBody>
      </p:sp>
      <p:sp>
        <p:nvSpPr>
          <p:cNvPr id="32" name="card"/>
          <p:cNvSpPr/>
          <p:nvPr/>
        </p:nvSpPr>
        <p:spPr>
          <a:xfrm>
            <a:off x="548640" y="4480560"/>
            <a:ext cx="11064240" cy="137160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7240" y="4617720"/>
            <a:ext cx="10607040" cy="731520"/>
          </a:xfrm>
          <a:prstGeom prst="rect">
            <a:avLst/>
          </a:prstGeom>
          <a:noFill/>
        </p:spPr>
        <p:txBody>
          <a:bodyPr wrap="square" lIns="0" rIns="0" tIns="0" bIns="0" anchor="t">
            <a:spAutoFit/>
          </a:bodyPr>
          <a:lstStyle/>
          <a:p>
            <a:pPr algn="l"/>
            <a:r>
              <a:rPr sz="1200" b="0" i="0">
                <a:solidFill>
                  <a:srgbClr val="1B2430"/>
                </a:solidFill>
                <a:latin typeface="Calibri"/>
              </a:rPr>
              <a:t>Open items for maintainers (recorded in the pilot's decisions): merge of the cortex-mcp flow_integration branch (pull request 150), cortex-mcp README and skill refresh, the evaluation board's JTAG facts, the LSF gateway registration, the Radiant server's timing-closure packages outside the bundle.</a:t>
            </a:r>
          </a:p>
        </p:txBody>
      </p:sp>
      <p:sp>
        <p:nvSpPr>
          <p:cNvPr id="34" name="TextBox 33"/>
          <p:cNvSpPr txBox="1"/>
          <p:nvPr/>
        </p:nvSpPr>
        <p:spPr>
          <a:xfrm>
            <a:off x="777240" y="5394960"/>
            <a:ext cx="10607040" cy="365760"/>
          </a:xfrm>
          <a:prstGeom prst="rect">
            <a:avLst/>
          </a:prstGeom>
          <a:noFill/>
        </p:spPr>
        <p:txBody>
          <a:bodyPr wrap="square" lIns="0" rIns="0" tIns="0" bIns="0" anchor="t">
            <a:spAutoFit/>
          </a:bodyPr>
          <a:lstStyle/>
          <a:p>
            <a:pPr algn="l"/>
            <a:r>
              <a:rPr sz="1100" b="0" i="1">
                <a:solidFill>
                  <a:srgbClr val="6C8EA4"/>
                </a:solidFill>
                <a:latin typeface="Calibri"/>
              </a:rPr>
              <a:t>Legend: green done, amber in progress, grey planned.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